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presentation.xml" ContentType="application/vnd.openxmlformats-officedocument.presentationml.presentation.main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4.xml" ContentType="application/vnd.openxmlformats-officedocument.presentationml.slide+xml"/>
  <Override PartName="/ppt/slides/slide7.xml" ContentType="application/vnd.openxmlformats-officedocument.presentationml.slide+xml"/>
  <Override PartName="/ppt/slides/slide25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mover o slide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pt-B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 para editar o formato de notas</a:t>
            </a:r>
            <a:endParaRPr lang="pt-B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AACD2F3C-B105-47FE-83E3-26E2D7634AD9}" type="slidenum">
              <a:rPr lang="pt-B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pt-B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F0BACCE-4735-40CC-B638-B46C366879B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8135485-8DBF-40FE-A64E-251047D4352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F455A1A-7020-46C7-A455-6F8B982A982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C0C9BAB-7895-4190-B920-7AAA1571B67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9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9561ACD-E886-470B-B554-915AD489F88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FFA4C5E-8FED-4F33-92CF-E1749787347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971C3A9-25E7-43A4-A8C6-320671CB9AE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2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98AC9FE-D2BD-4715-A3CF-0E8A3039DAC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714D90B-41DB-40E9-A735-F6E5DDB7671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47D6BE1-6AB5-4B95-9DC0-1CC75569183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CFE7087-EE6E-465A-AC14-097D16A6485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97D4860-A8FD-4AFD-93A7-22FD7BE332E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3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3B214AA-B190-490C-8A43-0AECD0256BE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069E863-8804-4FAB-A41F-FEFE1EAF659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9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78A1EB9-9AEC-486B-83BE-B06BAF48A3F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59158BE-2518-401E-88D0-586CFCCD78B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5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22EDEFC-719B-4566-B80C-304705D0ADA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36A8DD2-601C-47CF-B587-CAFD06EAC6D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17FF793-F1A9-4793-821F-E36268C1784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833F5E4-56B3-4F50-91B9-1FEF0E2CB32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3CFD330-5EF5-475D-A815-667C7C0B680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E9ACC00-E177-4825-92D2-05AE928223D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6F404EF-9170-40B7-9A95-BCCDDB0F072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7CF7EF7-B19B-418A-8F1C-DB1E67B9CD6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244A415-6D85-4B96-AC71-C3EEC9F49AB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35D074E-83EE-4439-9CEE-D5FBBFA156E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EAF09F1-3C5F-440F-B18E-7AEC3EC97C8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5D61F93-36AA-4CC1-AD5E-33454993DFA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AC9C437-CC9C-4AD2-8461-1F6AF87F253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4F3F035-26A8-493B-9038-3B0F78ACD8B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2C06AB9-8DAC-402F-9994-C361D53DD94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A464699-FBAE-4B30-801D-FAF9F0ADFAA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&lt;número&gt;</a:t>
            </a:fld>
            <a:endParaRPr lang="pt-B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 formato do texto do título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para editar o formato de texto dos tópicos</a:t>
            </a:r>
            <a:endParaRPr lang="pt-BR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2.º nível de tópicos</a:t>
            </a:r>
            <a:endParaRPr lang="pt-BR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3.º nível de tópicos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4.º nível de tópicos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5.º nível de tópicos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6.º nível de tópicos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7.º nível de tópicos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182520" cy="514332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182880" y="4023360"/>
            <a:ext cx="8960760" cy="1096920"/>
          </a:xfrm>
          <a:prstGeom prst="rect">
            <a:avLst/>
          </a:prstGeom>
          <a:solidFill>
            <a:srgbClr val="15253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Shape 2"/>
          <p:cNvSpPr/>
          <p:nvPr/>
        </p:nvSpPr>
        <p:spPr>
          <a:xfrm>
            <a:off x="6858000" y="914400"/>
            <a:ext cx="2102760" cy="2377080"/>
          </a:xfrm>
          <a:prstGeom prst="rect">
            <a:avLst/>
          </a:prstGeom>
          <a:solidFill>
            <a:srgbClr val="15253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7315200" y="640080"/>
            <a:ext cx="1828440" cy="914040"/>
          </a:xfrm>
          <a:prstGeom prst="rect">
            <a:avLst/>
          </a:prstGeom>
          <a:solidFill>
            <a:srgbClr val="0D9488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4"/>
          <p:cNvSpPr/>
          <p:nvPr/>
        </p:nvSpPr>
        <p:spPr>
          <a:xfrm>
            <a:off x="457200" y="457200"/>
            <a:ext cx="6400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D9488"/>
                </a:solidFill>
                <a:effectLst/>
                <a:uFillTx/>
                <a:latin typeface="Calibri"/>
                <a:ea typeface="Calibri"/>
              </a:rPr>
              <a:t>Engenharia de Software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457200" y="1005840"/>
            <a:ext cx="621756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1F5F9"/>
                </a:solidFill>
                <a:effectLst/>
                <a:uFillTx/>
                <a:latin typeface="Trebuchet MS"/>
                <a:ea typeface="Trebuchet MS"/>
              </a:rPr>
              <a:t>Extreme Programming</a:t>
            </a:r>
            <a:endParaRPr lang="pt-BR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1F5F9"/>
                </a:solidFill>
                <a:effectLst/>
                <a:uFillTx/>
                <a:latin typeface="Trebuchet MS"/>
                <a:ea typeface="Trebuchet MS"/>
              </a:rPr>
              <a:t>Git &amp; Versionamento</a:t>
            </a:r>
            <a:endParaRPr lang="pt-BR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200" b="1" u="none" strike="noStrike">
                <a:solidFill>
                  <a:srgbClr val="F1F5F9"/>
                </a:solidFill>
                <a:effectLst/>
                <a:uFillTx/>
                <a:latin typeface="Trebuchet MS"/>
                <a:ea typeface="Trebuchet MS"/>
              </a:rPr>
              <a:t>Engenharia de Requisitos</a:t>
            </a:r>
            <a:endParaRPr lang="pt-BR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6"/>
          <p:cNvSpPr/>
          <p:nvPr/>
        </p:nvSpPr>
        <p:spPr>
          <a:xfrm>
            <a:off x="457200" y="3520440"/>
            <a:ext cx="640044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14B8A6"/>
                </a:solidFill>
                <a:effectLst/>
                <a:uFillTx/>
                <a:latin typeface="Calibri"/>
                <a:ea typeface="Calibri"/>
              </a:rPr>
              <a:t>XP · TDD · CRC · Git · Histórias de Usuário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7"/>
          <p:cNvSpPr/>
          <p:nvPr/>
        </p:nvSpPr>
        <p:spPr>
          <a:xfrm>
            <a:off x="457200" y="4480560"/>
            <a:ext cx="54860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IFES – Cachoeiro de Itapemirim  |  2026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0"/>
          <p:cNvSpPr/>
          <p:nvPr/>
        </p:nvSpPr>
        <p:spPr>
          <a:xfrm>
            <a:off x="0" y="0"/>
            <a:ext cx="9143640" cy="7272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Shape 1"/>
          <p:cNvSpPr/>
          <p:nvPr/>
        </p:nvSpPr>
        <p:spPr>
          <a:xfrm>
            <a:off x="0" y="73080"/>
            <a:ext cx="9143640" cy="685440"/>
          </a:xfrm>
          <a:prstGeom prst="rect">
            <a:avLst/>
          </a:prstGeom>
          <a:solidFill>
            <a:srgbClr val="15253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2"/>
          <p:cNvSpPr/>
          <p:nvPr/>
        </p:nvSpPr>
        <p:spPr>
          <a:xfrm>
            <a:off x="320040" y="73080"/>
            <a:ext cx="85035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4B8A6"/>
                </a:solidFill>
                <a:effectLst/>
                <a:uFillTx/>
                <a:latin typeface="Trebuchet MS"/>
                <a:ea typeface="Trebuchet MS"/>
              </a:rPr>
              <a:t>Agenda da Aula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3"/>
          <p:cNvSpPr/>
          <p:nvPr/>
        </p:nvSpPr>
        <p:spPr>
          <a:xfrm>
            <a:off x="365760" y="914400"/>
            <a:ext cx="8412120" cy="393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01  Revisão do Scrum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02  O Framework XP — Visão Geral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03  XP: Planejamento &amp; Histórias de Usuário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04  XP: Projeto — KISS e Cartões CRC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05  XP: Codificação — TDD e Programação em Pares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06  XP: Testes de Unidade e Aceitação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07  Versionamento com Git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08  Engenharia de Requisitos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09  Projeto Prático — Catálogo Comercial Local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0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15253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Shape 1"/>
          <p:cNvSpPr/>
          <p:nvPr/>
        </p:nvSpPr>
        <p:spPr>
          <a:xfrm>
            <a:off x="0" y="0"/>
            <a:ext cx="9143640" cy="10944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2"/>
          <p:cNvSpPr/>
          <p:nvPr/>
        </p:nvSpPr>
        <p:spPr>
          <a:xfrm>
            <a:off x="0" y="5029200"/>
            <a:ext cx="9143640" cy="10944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3"/>
          <p:cNvSpPr/>
          <p:nvPr/>
        </p:nvSpPr>
        <p:spPr>
          <a:xfrm>
            <a:off x="457200" y="1645920"/>
            <a:ext cx="82292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F1F5F9"/>
                </a:solidFill>
                <a:effectLst/>
                <a:uFillTx/>
                <a:latin typeface="Trebuchet MS"/>
                <a:ea typeface="Trebuchet MS"/>
              </a:rPr>
              <a:t>01  Revisão do Scrum</a:t>
            </a:r>
            <a:endParaRPr lang="pt-BR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hape 0"/>
          <p:cNvSpPr/>
          <p:nvPr/>
        </p:nvSpPr>
        <p:spPr>
          <a:xfrm>
            <a:off x="0" y="0"/>
            <a:ext cx="9143640" cy="7272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1"/>
          <p:cNvSpPr/>
          <p:nvPr/>
        </p:nvSpPr>
        <p:spPr>
          <a:xfrm>
            <a:off x="0" y="73080"/>
            <a:ext cx="9143640" cy="685440"/>
          </a:xfrm>
          <a:prstGeom prst="rect">
            <a:avLst/>
          </a:prstGeom>
          <a:solidFill>
            <a:srgbClr val="15253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2"/>
          <p:cNvSpPr/>
          <p:nvPr/>
        </p:nvSpPr>
        <p:spPr>
          <a:xfrm>
            <a:off x="320040" y="73080"/>
            <a:ext cx="85035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4B8A6"/>
                </a:solidFill>
                <a:effectLst/>
                <a:uFillTx/>
                <a:latin typeface="Trebuchet MS"/>
                <a:ea typeface="Trebuchet MS"/>
              </a:rPr>
              <a:t>Revisão Rápida — Scrum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3"/>
          <p:cNvSpPr/>
          <p:nvPr/>
        </p:nvSpPr>
        <p:spPr>
          <a:xfrm>
            <a:off x="4526280" y="914400"/>
            <a:ext cx="54360" cy="393156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4"/>
          <p:cNvSpPr/>
          <p:nvPr/>
        </p:nvSpPr>
        <p:spPr>
          <a:xfrm>
            <a:off x="320040" y="914400"/>
            <a:ext cx="40230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D9488"/>
                </a:solidFill>
                <a:effectLst/>
                <a:uFillTx/>
                <a:latin typeface="Trebuchet MS"/>
                <a:ea typeface="Trebuchet MS"/>
              </a:rPr>
              <a:t>Pilares Principais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5"/>
          <p:cNvSpPr/>
          <p:nvPr/>
        </p:nvSpPr>
        <p:spPr>
          <a:xfrm>
            <a:off x="4754880" y="914400"/>
            <a:ext cx="40230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D9488"/>
                </a:solidFill>
                <a:effectLst/>
                <a:uFillTx/>
                <a:latin typeface="Trebuchet MS"/>
                <a:ea typeface="Trebuchet MS"/>
              </a:rPr>
              <a:t>Métricas e Qualidade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6"/>
          <p:cNvSpPr/>
          <p:nvPr/>
        </p:nvSpPr>
        <p:spPr>
          <a:xfrm>
            <a:off x="320040" y="1298520"/>
            <a:ext cx="4023000" cy="366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Framework ágil baseado em sprints (1–4 semanas)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Papéis: Product Owner, Scrum Master, Dev Team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Artefatos: Product Backlog, Sprint Backlog, Incremento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Cerimônias: Planning, Daily, Review, Retrospectiva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Entrega incremental e contínua de valor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7"/>
          <p:cNvSpPr/>
          <p:nvPr/>
        </p:nvSpPr>
        <p:spPr>
          <a:xfrm>
            <a:off x="4754880" y="1298520"/>
            <a:ext cx="4114440" cy="366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Velocidade medida em Story Points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Backlog priorizado pelo Product Owner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Definition of Done garante qualidade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Transparência, Inspeção e Adaptação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Burndown chart monitora progresso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8"/>
          <p:cNvSpPr/>
          <p:nvPr/>
        </p:nvSpPr>
        <p:spPr>
          <a:xfrm>
            <a:off x="365760" y="4160520"/>
            <a:ext cx="8412120" cy="776880"/>
          </a:xfrm>
          <a:prstGeom prst="rect">
            <a:avLst/>
          </a:prstGeom>
          <a:solidFill>
            <a:srgbClr val="1C2D1F"/>
          </a:solidFill>
          <a:ln w="19050">
            <a:solidFill>
              <a:srgbClr val="F9731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9"/>
          <p:cNvSpPr/>
          <p:nvPr/>
        </p:nvSpPr>
        <p:spPr>
          <a:xfrm>
            <a:off x="502920" y="4187880"/>
            <a:ext cx="813780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F97316"/>
                </a:solidFill>
                <a:effectLst/>
                <a:uFillTx/>
                <a:latin typeface="Calibri"/>
                <a:ea typeface="Calibri"/>
              </a:rPr>
              <a:t>💬 Discussão: </a:t>
            </a:r>
            <a:r>
              <a:rPr lang="en-US" sz="125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Em qual aspecto do Scrum vocês tiveram mais dificuldade ao estudar na aula passada?</a:t>
            </a:r>
            <a:endParaRPr lang="pt-BR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hape 0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15253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Shape 1"/>
          <p:cNvSpPr/>
          <p:nvPr/>
        </p:nvSpPr>
        <p:spPr>
          <a:xfrm>
            <a:off x="0" y="0"/>
            <a:ext cx="9143640" cy="10944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2"/>
          <p:cNvSpPr/>
          <p:nvPr/>
        </p:nvSpPr>
        <p:spPr>
          <a:xfrm>
            <a:off x="0" y="5029200"/>
            <a:ext cx="9143640" cy="10944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3"/>
          <p:cNvSpPr/>
          <p:nvPr/>
        </p:nvSpPr>
        <p:spPr>
          <a:xfrm>
            <a:off x="457200" y="1645920"/>
            <a:ext cx="82292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F1F5F9"/>
                </a:solidFill>
                <a:effectLst/>
                <a:uFillTx/>
                <a:latin typeface="Trebuchet MS"/>
                <a:ea typeface="Trebuchet MS"/>
              </a:rPr>
              <a:t>02  Extreme Programming (XP)</a:t>
            </a:r>
            <a:endParaRPr lang="pt-BR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Shape 0"/>
          <p:cNvSpPr/>
          <p:nvPr/>
        </p:nvSpPr>
        <p:spPr>
          <a:xfrm>
            <a:off x="0" y="0"/>
            <a:ext cx="9143640" cy="7272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Shape 1"/>
          <p:cNvSpPr/>
          <p:nvPr/>
        </p:nvSpPr>
        <p:spPr>
          <a:xfrm>
            <a:off x="0" y="73080"/>
            <a:ext cx="9143640" cy="685440"/>
          </a:xfrm>
          <a:prstGeom prst="rect">
            <a:avLst/>
          </a:prstGeom>
          <a:solidFill>
            <a:srgbClr val="15253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2"/>
          <p:cNvSpPr/>
          <p:nvPr/>
        </p:nvSpPr>
        <p:spPr>
          <a:xfrm>
            <a:off x="320040" y="73080"/>
            <a:ext cx="85035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4B8A6"/>
                </a:solidFill>
                <a:effectLst/>
                <a:uFillTx/>
                <a:latin typeface="Trebuchet MS"/>
                <a:ea typeface="Trebuchet MS"/>
              </a:rPr>
              <a:t>XP — Objetivo.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3"/>
          <p:cNvSpPr/>
          <p:nvPr/>
        </p:nvSpPr>
        <p:spPr>
          <a:xfrm>
            <a:off x="365760" y="914400"/>
            <a:ext cx="8412120" cy="393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FFBF00"/>
                </a:solidFill>
                <a:effectLst/>
                <a:uFillTx/>
                <a:latin typeface="Calibri"/>
                <a:ea typeface="Calibri"/>
              </a:rPr>
              <a:t>Levar ao extremo um conjunto de práticas que são ditas como boas na engenharia de software.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</a:pPr>
            <a:endParaRPr lang="pt-BR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</a:pPr>
            <a:r>
              <a:rPr lang="en-US" sz="2400" b="1" u="none" strike="noStrike">
                <a:solidFill>
                  <a:srgbClr val="158466"/>
                </a:solidFill>
                <a:effectLst/>
                <a:uFillTx/>
                <a:latin typeface="Calibri"/>
                <a:ea typeface="Calibri"/>
              </a:rPr>
              <a:t>O que é dito pelo xp ?</a:t>
            </a:r>
            <a:endParaRPr lang="pt-BR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Já que testar é bom, que todos testem o tempo todo;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Já que revisão é bom, então que se revise o tempo todo;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Se projetar é bom, então refatorar o tempo todo;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Se teste de integração é bom, então que se integre o tempo todo;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Se simplicidade é bom, desenvolva uma solução não apenas que funcione, mas que seja a mais simples possível;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Se interações curtas é bom, então mantenha-as realmente curtas.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"/>
          <p:cNvSpPr/>
          <p:nvPr/>
        </p:nvSpPr>
        <p:spPr>
          <a:xfrm>
            <a:off x="8100000" y="180360"/>
            <a:ext cx="900000" cy="359640"/>
          </a:xfrm>
          <a:prstGeom prst="roundRect">
            <a:avLst>
              <a:gd name="adj" fmla="val 16667"/>
            </a:avLst>
          </a:prstGeom>
          <a:solidFill>
            <a:srgbClr val="D4EA6B"/>
          </a:solidFill>
          <a:ln w="0">
            <a:solidFill>
              <a:srgbClr val="F6F9D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/>
            <a:r>
              <a:rPr lang="pt-BR" sz="1800" b="1" u="none" strike="noStrike">
                <a:solidFill>
                  <a:srgbClr val="158466"/>
                </a:solidFill>
                <a:effectLst/>
                <a:uFillTx/>
                <a:latin typeface="Arial"/>
              </a:rPr>
              <a:t>Novo</a:t>
            </a:r>
            <a:endParaRPr lang="pt-BR" sz="1800" b="1" u="none" strike="noStrike">
              <a:solidFill>
                <a:srgbClr val="158466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Shape 24"/>
          <p:cNvSpPr/>
          <p:nvPr/>
        </p:nvSpPr>
        <p:spPr>
          <a:xfrm>
            <a:off x="0" y="0"/>
            <a:ext cx="9143640" cy="7272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" name="Shape 25"/>
          <p:cNvSpPr/>
          <p:nvPr/>
        </p:nvSpPr>
        <p:spPr>
          <a:xfrm>
            <a:off x="0" y="73080"/>
            <a:ext cx="9143640" cy="685440"/>
          </a:xfrm>
          <a:prstGeom prst="rect">
            <a:avLst/>
          </a:prstGeom>
          <a:solidFill>
            <a:srgbClr val="15253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Text 29"/>
          <p:cNvSpPr/>
          <p:nvPr/>
        </p:nvSpPr>
        <p:spPr>
          <a:xfrm>
            <a:off x="320040" y="73080"/>
            <a:ext cx="85035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4B8A6"/>
                </a:solidFill>
                <a:effectLst/>
                <a:uFillTx/>
                <a:latin typeface="Trebuchet MS"/>
                <a:ea typeface="Trebuchet MS"/>
              </a:rPr>
              <a:t>XP — Valores e Principios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30"/>
          <p:cNvSpPr/>
          <p:nvPr/>
        </p:nvSpPr>
        <p:spPr>
          <a:xfrm>
            <a:off x="365760" y="914400"/>
            <a:ext cx="8412120" cy="393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spcAft>
                <a:spcPts val="400"/>
              </a:spcAft>
            </a:pPr>
            <a:r>
              <a:rPr lang="en-US" sz="1400" b="0" u="none" strike="noStrike">
                <a:solidFill>
                  <a:srgbClr val="FFBF00"/>
                </a:solidFill>
                <a:effectLst/>
                <a:uFillTx/>
                <a:latin typeface="Calibri"/>
                <a:ea typeface="Calibri"/>
              </a:rPr>
              <a:t>Valores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 lvl="1" indent="-216000" defTabSz="914400">
              <a:lnSpc>
                <a:spcPct val="100000"/>
              </a:lnSpc>
              <a:spcAft>
                <a:spcPts val="400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Comunicação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 lvl="1" indent="-216000" defTabSz="914400">
              <a:lnSpc>
                <a:spcPct val="100000"/>
              </a:lnSpc>
              <a:spcAft>
                <a:spcPts val="400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Simplicidade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 lvl="1" indent="-216000" defTabSz="914400">
              <a:lnSpc>
                <a:spcPct val="100000"/>
              </a:lnSpc>
              <a:spcAft>
                <a:spcPts val="400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Feedback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 lvl="1" indent="-216000" defTabSz="914400">
              <a:lnSpc>
                <a:spcPct val="100000"/>
              </a:lnSpc>
              <a:spcAft>
                <a:spcPts val="400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Coragem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457200" lvl="1" indent="-216000" defTabSz="914400">
              <a:lnSpc>
                <a:spcPct val="100000"/>
              </a:lnSpc>
              <a:spcAft>
                <a:spcPts val="400"/>
              </a:spcAft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Respeito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00"/>
              </a:spcAft>
            </a:pPr>
            <a:r>
              <a:rPr lang="en-US" sz="1400" b="0" u="none" strike="noStrike">
                <a:solidFill>
                  <a:srgbClr val="FFBF00"/>
                </a:solidFill>
                <a:effectLst/>
                <a:uFillTx/>
                <a:latin typeface="Calibri"/>
                <a:ea typeface="Calibri"/>
              </a:rPr>
              <a:t>Princípios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Feedback rápido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Presumir simplicidade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Mudanças incrementais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Abraçar mudanças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Trabalho de alta qualiade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"/>
          <p:cNvSpPr/>
          <p:nvPr/>
        </p:nvSpPr>
        <p:spPr>
          <a:xfrm>
            <a:off x="8100000" y="180720"/>
            <a:ext cx="900000" cy="359640"/>
          </a:xfrm>
          <a:prstGeom prst="roundRect">
            <a:avLst>
              <a:gd name="adj" fmla="val 16667"/>
            </a:avLst>
          </a:prstGeom>
          <a:solidFill>
            <a:srgbClr val="D4EA6B"/>
          </a:solidFill>
          <a:ln w="0">
            <a:solidFill>
              <a:srgbClr val="F6F9D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/>
            <a:r>
              <a:rPr lang="pt-BR" sz="1800" b="1" u="none" strike="noStrike">
                <a:solidFill>
                  <a:srgbClr val="158466"/>
                </a:solidFill>
                <a:effectLst/>
                <a:uFillTx/>
                <a:latin typeface="Arial"/>
              </a:rPr>
              <a:t>Novo</a:t>
            </a:r>
            <a:endParaRPr lang="pt-BR" sz="1800" b="1" u="none" strike="noStrike">
              <a:solidFill>
                <a:srgbClr val="158466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Shape 14"/>
          <p:cNvSpPr/>
          <p:nvPr/>
        </p:nvSpPr>
        <p:spPr>
          <a:xfrm>
            <a:off x="0" y="0"/>
            <a:ext cx="9143640" cy="7272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" name="Shape 19"/>
          <p:cNvSpPr/>
          <p:nvPr/>
        </p:nvSpPr>
        <p:spPr>
          <a:xfrm>
            <a:off x="0" y="73080"/>
            <a:ext cx="9143640" cy="685440"/>
          </a:xfrm>
          <a:prstGeom prst="rect">
            <a:avLst/>
          </a:prstGeom>
          <a:solidFill>
            <a:srgbClr val="15253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1"/>
          <p:cNvSpPr/>
          <p:nvPr/>
        </p:nvSpPr>
        <p:spPr>
          <a:xfrm>
            <a:off x="320040" y="73080"/>
            <a:ext cx="85035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4B8A6"/>
                </a:solidFill>
                <a:effectLst/>
                <a:uFillTx/>
                <a:latin typeface="Trebuchet MS"/>
                <a:ea typeface="Trebuchet MS"/>
              </a:rPr>
              <a:t>XP — O que é?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27"/>
          <p:cNvSpPr/>
          <p:nvPr/>
        </p:nvSpPr>
        <p:spPr>
          <a:xfrm>
            <a:off x="365760" y="914400"/>
            <a:ext cx="8412120" cy="393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Uma das abordagens mais utilizadas no desenvolvimento ágil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Conjunto de regras e práticas organizadas em 4 atividades: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685800" lvl="1" indent="-343080" defTabSz="914400">
              <a:lnSpc>
                <a:spcPct val="100000"/>
              </a:lnSpc>
              <a:spcAft>
                <a:spcPts val="400"/>
              </a:spcAft>
              <a:buClr>
                <a:srgbClr val="94A3B8"/>
              </a:buClr>
              <a:buFont typeface="Wingdings 3" charset="2"/>
              <a:buChar char=""/>
            </a:pPr>
            <a:r>
              <a:rPr lang="en-US" sz="13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Planejamento  →  definir o que será feito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685800" lvl="1" indent="-343080" defTabSz="914400">
              <a:lnSpc>
                <a:spcPct val="100000"/>
              </a:lnSpc>
              <a:spcAft>
                <a:spcPts val="400"/>
              </a:spcAft>
              <a:buClr>
                <a:srgbClr val="94A3B8"/>
              </a:buClr>
              <a:buFont typeface="Wingdings 3" charset="2"/>
              <a:buChar char=""/>
            </a:pPr>
            <a:r>
              <a:rPr lang="en-US" sz="13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Projeto  →  como será estruturado o código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685800" lvl="1" indent="-343080" defTabSz="914400">
              <a:lnSpc>
                <a:spcPct val="100000"/>
              </a:lnSpc>
              <a:spcAft>
                <a:spcPts val="400"/>
              </a:spcAft>
              <a:buClr>
                <a:srgbClr val="94A3B8"/>
              </a:buClr>
              <a:buFont typeface="Wingdings 3" charset="2"/>
              <a:buChar char=""/>
            </a:pPr>
            <a:r>
              <a:rPr lang="en-US" sz="13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Codificação  →  escrever o software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685800" lvl="1" indent="-343080" defTabSz="914400">
              <a:lnSpc>
                <a:spcPct val="100000"/>
              </a:lnSpc>
              <a:spcAft>
                <a:spcPts val="400"/>
              </a:spcAft>
              <a:buClr>
                <a:srgbClr val="94A3B8"/>
              </a:buClr>
              <a:buFont typeface="Wingdings 3" charset="2"/>
              <a:buChar char=""/>
            </a:pPr>
            <a:r>
              <a:rPr lang="en-US" sz="13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Testes  →  garantir que tudo funciona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Forte foco em qualidade, colaboração e feedback rápido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Muito indicado para equipes pequenas e requisitos voláteis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Shape 0"/>
          <p:cNvSpPr/>
          <p:nvPr/>
        </p:nvSpPr>
        <p:spPr>
          <a:xfrm>
            <a:off x="0" y="0"/>
            <a:ext cx="9143640" cy="7272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1"/>
          <p:cNvSpPr/>
          <p:nvPr/>
        </p:nvSpPr>
        <p:spPr>
          <a:xfrm>
            <a:off x="0" y="73080"/>
            <a:ext cx="9143640" cy="685440"/>
          </a:xfrm>
          <a:prstGeom prst="rect">
            <a:avLst/>
          </a:prstGeom>
          <a:solidFill>
            <a:srgbClr val="15253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2"/>
          <p:cNvSpPr/>
          <p:nvPr/>
        </p:nvSpPr>
        <p:spPr>
          <a:xfrm>
            <a:off x="320040" y="73080"/>
            <a:ext cx="85035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4B8A6"/>
                </a:solidFill>
                <a:effectLst/>
                <a:uFillTx/>
                <a:latin typeface="Trebuchet MS"/>
                <a:ea typeface="Trebuchet MS"/>
              </a:rPr>
              <a:t>XP — Planejamento (Jogo do Planejamento)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3"/>
          <p:cNvSpPr/>
          <p:nvPr/>
        </p:nvSpPr>
        <p:spPr>
          <a:xfrm>
            <a:off x="365760" y="914400"/>
            <a:ext cx="8412120" cy="393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spcBef>
                <a:spcPts val="799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400" b="1" u="none" strike="noStrike">
                <a:solidFill>
                  <a:srgbClr val="FCD34D"/>
                </a:solidFill>
                <a:effectLst/>
                <a:uFillTx/>
                <a:latin typeface="Calibri"/>
                <a:ea typeface="Calibri"/>
              </a:rPr>
              <a:t>Ouvir → Criar → Avaliar → Decidir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  <a:tabLst>
                <a:tab pos="0" algn="l"/>
              </a:tabLst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Começa com o cliente contando suas necessidades (ouvir)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  <a:tabLst>
                <a:tab pos="0" algn="l"/>
              </a:tabLst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Cliente escreve Histórias de Usuário e atribui prioridade/valor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  <a:tabLst>
                <a:tab pos="0" algn="l"/>
              </a:tabLst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Equipe XP avalia cada história e estima o custo em semanas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  <a:tabLst>
                <a:tab pos="0" algn="l"/>
              </a:tabLst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Juntos, cliente e equipe agrupam histórias para o próximo incremento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799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400" b="1" u="none" strike="noStrike">
                <a:solidFill>
                  <a:srgbClr val="FCD34D"/>
                </a:solidFill>
                <a:effectLst/>
                <a:uFillTx/>
                <a:latin typeface="Calibri"/>
                <a:ea typeface="Calibri"/>
              </a:rPr>
              <a:t>Ordenação das histórias para o incremento: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685800" lvl="1" indent="-343080" defTabSz="914400">
              <a:lnSpc>
                <a:spcPct val="100000"/>
              </a:lnSpc>
              <a:spcAft>
                <a:spcPts val="400"/>
              </a:spcAft>
              <a:buClr>
                <a:srgbClr val="94A3B8"/>
              </a:buClr>
              <a:buFont typeface="Wingdings 3" charset="2"/>
              <a:buChar char=""/>
              <a:tabLst>
                <a:tab pos="0" algn="l"/>
              </a:tabLst>
            </a:pPr>
            <a:r>
              <a:rPr lang="en-US" sz="13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(1) Implementar todas imediatamente (prazo curto)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685800" lvl="1" indent="-343080" defTabSz="914400">
              <a:lnSpc>
                <a:spcPct val="100000"/>
              </a:lnSpc>
              <a:spcAft>
                <a:spcPts val="400"/>
              </a:spcAft>
              <a:buClr>
                <a:srgbClr val="94A3B8"/>
              </a:buClr>
              <a:buFont typeface="Wingdings 3" charset="2"/>
              <a:buChar char=""/>
              <a:tabLst>
                <a:tab pos="0" algn="l"/>
              </a:tabLst>
            </a:pPr>
            <a:r>
              <a:rPr lang="en-US" sz="13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(2) Histórias de maior valor entram primeiro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685800" lvl="1" indent="-343080" defTabSz="914400">
              <a:lnSpc>
                <a:spcPct val="100000"/>
              </a:lnSpc>
              <a:spcAft>
                <a:spcPts val="400"/>
              </a:spcAft>
              <a:buClr>
                <a:srgbClr val="94A3B8"/>
              </a:buClr>
              <a:buFont typeface="Wingdings 3" charset="2"/>
              <a:buChar char=""/>
              <a:tabLst>
                <a:tab pos="0" algn="l"/>
              </a:tabLst>
            </a:pPr>
            <a:r>
              <a:rPr lang="en-US" sz="13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(3) Histórias de maior risco entram primeiro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  <a:tabLst>
                <a:tab pos="0" algn="l"/>
              </a:tabLst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Após a 1ª versão: calcula-se a Velocidade do Projeto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685800" lvl="1" indent="-343080" defTabSz="914400">
              <a:lnSpc>
                <a:spcPct val="100000"/>
              </a:lnSpc>
              <a:spcAft>
                <a:spcPts val="400"/>
              </a:spcAft>
              <a:buClr>
                <a:srgbClr val="94A3B8"/>
              </a:buClr>
              <a:buFont typeface="Wingdings 3" charset="2"/>
              <a:buChar char=""/>
              <a:tabLst>
                <a:tab pos="0" algn="l"/>
              </a:tabLst>
            </a:pPr>
            <a:r>
              <a:rPr lang="en-US" sz="13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Velocidade = nº de histórias implementadas na versão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Shape 0"/>
          <p:cNvSpPr/>
          <p:nvPr/>
        </p:nvSpPr>
        <p:spPr>
          <a:xfrm>
            <a:off x="0" y="0"/>
            <a:ext cx="9143640" cy="7272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Shape 1"/>
          <p:cNvSpPr/>
          <p:nvPr/>
        </p:nvSpPr>
        <p:spPr>
          <a:xfrm>
            <a:off x="0" y="73080"/>
            <a:ext cx="9143640" cy="685440"/>
          </a:xfrm>
          <a:prstGeom prst="rect">
            <a:avLst/>
          </a:prstGeom>
          <a:solidFill>
            <a:srgbClr val="15253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2"/>
          <p:cNvSpPr/>
          <p:nvPr/>
        </p:nvSpPr>
        <p:spPr>
          <a:xfrm>
            <a:off x="320040" y="73080"/>
            <a:ext cx="85035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4B8A6"/>
                </a:solidFill>
                <a:effectLst/>
                <a:uFillTx/>
                <a:latin typeface="Trebuchet MS"/>
                <a:ea typeface="Trebuchet MS"/>
              </a:rPr>
              <a:t>XP — Exemplo: Objetivo de Versão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Shape 3"/>
          <p:cNvSpPr/>
          <p:nvPr/>
        </p:nvSpPr>
        <p:spPr>
          <a:xfrm>
            <a:off x="365760" y="914400"/>
            <a:ext cx="8412120" cy="594000"/>
          </a:xfrm>
          <a:prstGeom prst="rect">
            <a:avLst/>
          </a:prstGeom>
          <a:solidFill>
            <a:srgbClr val="152535"/>
          </a:solidFill>
          <a:ln w="19050">
            <a:solidFill>
              <a:srgbClr val="0D9488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4"/>
          <p:cNvSpPr/>
          <p:nvPr/>
        </p:nvSpPr>
        <p:spPr>
          <a:xfrm>
            <a:off x="502920" y="914400"/>
            <a:ext cx="822924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CD34D"/>
                </a:solidFill>
                <a:effectLst/>
                <a:uFillTx/>
                <a:latin typeface="Calibri"/>
                <a:ea typeface="Calibri"/>
              </a:rPr>
              <a:t>🎯  Objetivo da Versão: "Lançar o Módulo de Pagamento"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5"/>
          <p:cNvSpPr/>
          <p:nvPr/>
        </p:nvSpPr>
        <p:spPr>
          <a:xfrm>
            <a:off x="365760" y="1691640"/>
            <a:ext cx="4023000" cy="2011320"/>
          </a:xfrm>
          <a:prstGeom prst="rect">
            <a:avLst/>
          </a:prstGeom>
          <a:solidFill>
            <a:srgbClr val="0D2420"/>
          </a:solidFill>
          <a:ln w="12700">
            <a:solidFill>
              <a:srgbClr val="14B8A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6"/>
          <p:cNvSpPr/>
          <p:nvPr/>
        </p:nvSpPr>
        <p:spPr>
          <a:xfrm>
            <a:off x="502920" y="1719000"/>
            <a:ext cx="37486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4B8A6"/>
                </a:solidFill>
                <a:effectLst/>
                <a:uFillTx/>
                <a:latin typeface="Calibri"/>
                <a:ea typeface="Calibri"/>
              </a:rPr>
              <a:t>✅  ENTRAM nessa versão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Text 7"/>
          <p:cNvSpPr/>
          <p:nvPr/>
        </p:nvSpPr>
        <p:spPr>
          <a:xfrm>
            <a:off x="548640" y="2176200"/>
            <a:ext cx="3748680" cy="14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4B8A6"/>
                </a:solidFill>
                <a:effectLst/>
                <a:uFillTx/>
                <a:latin typeface="Calibri"/>
                <a:ea typeface="Calibri"/>
              </a:rPr>
              <a:t>✔  Criar carrinho de compras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4B8A6"/>
                </a:solidFill>
                <a:effectLst/>
                <a:uFillTx/>
                <a:latin typeface="Calibri"/>
                <a:ea typeface="Calibri"/>
              </a:rPr>
              <a:t>✔  Integrar API do PayPal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4B8A6"/>
                </a:solidFill>
                <a:effectLst/>
                <a:uFillTx/>
                <a:latin typeface="Calibri"/>
                <a:ea typeface="Calibri"/>
              </a:rPr>
              <a:t>✔  Gerar comprovante por e-mail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Shape 8"/>
          <p:cNvSpPr/>
          <p:nvPr/>
        </p:nvSpPr>
        <p:spPr>
          <a:xfrm>
            <a:off x="4754880" y="1691640"/>
            <a:ext cx="4023000" cy="2011320"/>
          </a:xfrm>
          <a:prstGeom prst="rect">
            <a:avLst/>
          </a:prstGeom>
          <a:solidFill>
            <a:srgbClr val="2D1010"/>
          </a:solidFill>
          <a:ln w="127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9"/>
          <p:cNvSpPr/>
          <p:nvPr/>
        </p:nvSpPr>
        <p:spPr>
          <a:xfrm>
            <a:off x="4892040" y="1719000"/>
            <a:ext cx="37486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❌  FICAM DE FORA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10"/>
          <p:cNvSpPr/>
          <p:nvPr/>
        </p:nvSpPr>
        <p:spPr>
          <a:xfrm>
            <a:off x="4892040" y="2176200"/>
            <a:ext cx="3657240" cy="141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✘  Mudar cor do perfil do usuário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EF4444"/>
                </a:solidFill>
                <a:effectLst/>
                <a:uFillTx/>
                <a:latin typeface="Calibri"/>
                <a:ea typeface="Calibri"/>
              </a:rPr>
              <a:t>      (não contribui para o objetivo atual)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11"/>
          <p:cNvSpPr/>
          <p:nvPr/>
        </p:nvSpPr>
        <p:spPr>
          <a:xfrm>
            <a:off x="365760" y="4160520"/>
            <a:ext cx="8412120" cy="776880"/>
          </a:xfrm>
          <a:prstGeom prst="rect">
            <a:avLst/>
          </a:prstGeom>
          <a:solidFill>
            <a:srgbClr val="1C2D1F"/>
          </a:solidFill>
          <a:ln w="19050">
            <a:solidFill>
              <a:srgbClr val="F9731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12"/>
          <p:cNvSpPr/>
          <p:nvPr/>
        </p:nvSpPr>
        <p:spPr>
          <a:xfrm>
            <a:off x="502920" y="4187880"/>
            <a:ext cx="813780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F97316"/>
                </a:solidFill>
                <a:effectLst/>
                <a:uFillTx/>
                <a:latin typeface="Calibri"/>
                <a:ea typeface="Calibri"/>
              </a:rPr>
              <a:t>💬 Discussão: </a:t>
            </a:r>
            <a:r>
              <a:rPr lang="en-US" sz="125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Se vocês fossem o cliente do módulo de pagamento, que outra história adicionariam? Ela entraria nessa versão?</a:t>
            </a:r>
            <a:endParaRPr lang="pt-BR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Shape 0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15253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1"/>
          <p:cNvSpPr/>
          <p:nvPr/>
        </p:nvSpPr>
        <p:spPr>
          <a:xfrm>
            <a:off x="0" y="0"/>
            <a:ext cx="9143640" cy="10944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2"/>
          <p:cNvSpPr/>
          <p:nvPr/>
        </p:nvSpPr>
        <p:spPr>
          <a:xfrm>
            <a:off x="0" y="5029200"/>
            <a:ext cx="9143640" cy="10944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3"/>
          <p:cNvSpPr/>
          <p:nvPr/>
        </p:nvSpPr>
        <p:spPr>
          <a:xfrm>
            <a:off x="457200" y="1645920"/>
            <a:ext cx="82292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F1F5F9"/>
                </a:solidFill>
                <a:effectLst/>
                <a:uFillTx/>
                <a:latin typeface="Trebuchet MS"/>
                <a:ea typeface="Trebuchet MS"/>
              </a:rPr>
              <a:t>03  XP — Projeto: KISS e Cartões CRC</a:t>
            </a:r>
            <a:endParaRPr lang="pt-BR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0"/>
          <p:cNvSpPr/>
          <p:nvPr/>
        </p:nvSpPr>
        <p:spPr>
          <a:xfrm>
            <a:off x="0" y="0"/>
            <a:ext cx="9143640" cy="7272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1"/>
          <p:cNvSpPr/>
          <p:nvPr/>
        </p:nvSpPr>
        <p:spPr>
          <a:xfrm>
            <a:off x="0" y="73080"/>
            <a:ext cx="9143640" cy="685440"/>
          </a:xfrm>
          <a:prstGeom prst="rect">
            <a:avLst/>
          </a:prstGeom>
          <a:solidFill>
            <a:srgbClr val="15253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2"/>
          <p:cNvSpPr/>
          <p:nvPr/>
        </p:nvSpPr>
        <p:spPr>
          <a:xfrm>
            <a:off x="320040" y="73080"/>
            <a:ext cx="85035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4B8A6"/>
                </a:solidFill>
                <a:effectLst/>
                <a:uFillTx/>
                <a:latin typeface="Trebuchet MS"/>
                <a:ea typeface="Trebuchet MS"/>
              </a:rPr>
              <a:t>XP — Projeto: Princípio KISS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3"/>
          <p:cNvSpPr/>
          <p:nvPr/>
        </p:nvSpPr>
        <p:spPr>
          <a:xfrm>
            <a:off x="365760" y="914400"/>
            <a:ext cx="8412120" cy="393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KISS = Keep It Simple, Stupid! (Mantenha simples, não complique)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O projeto segue estritamente o que é necessário agora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Funcionalidades extras especulativas são desestimuladas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799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400" b="1" u="none" strike="noStrike">
                <a:solidFill>
                  <a:srgbClr val="FCD34D"/>
                </a:solidFill>
                <a:effectLst/>
                <a:uFillTx/>
                <a:latin typeface="Calibri"/>
                <a:ea typeface="Calibri"/>
              </a:rPr>
              <a:t>Por que isso importa?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685800" lvl="1" indent="-343080" defTabSz="914400">
              <a:lnSpc>
                <a:spcPct val="100000"/>
              </a:lnSpc>
              <a:spcAft>
                <a:spcPts val="400"/>
              </a:spcAft>
              <a:buClr>
                <a:srgbClr val="94A3B8"/>
              </a:buClr>
              <a:buFont typeface="Wingdings 3" charset="2"/>
              <a:buChar char=""/>
              <a:tabLst>
                <a:tab pos="0" algn="l"/>
              </a:tabLst>
            </a:pPr>
            <a:r>
              <a:rPr lang="en-US" sz="13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Código simples é mais fácil de testar e manter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685800" lvl="1" indent="-343080" defTabSz="914400">
              <a:lnSpc>
                <a:spcPct val="100000"/>
              </a:lnSpc>
              <a:spcAft>
                <a:spcPts val="400"/>
              </a:spcAft>
              <a:buClr>
                <a:srgbClr val="94A3B8"/>
              </a:buClr>
              <a:buFont typeface="Wingdings 3" charset="2"/>
              <a:buChar char=""/>
              <a:tabLst>
                <a:tab pos="0" algn="l"/>
              </a:tabLst>
            </a:pPr>
            <a:r>
              <a:rPr lang="en-US" sz="13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Evita desperdício de esforço com o que nunca será usado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685800" lvl="1" indent="-343080" defTabSz="914400">
              <a:lnSpc>
                <a:spcPct val="100000"/>
              </a:lnSpc>
              <a:spcAft>
                <a:spcPts val="400"/>
              </a:spcAft>
              <a:buClr>
                <a:srgbClr val="94A3B8"/>
              </a:buClr>
              <a:buFont typeface="Wingdings 3" charset="2"/>
              <a:buChar char=""/>
              <a:tabLst>
                <a:tab pos="0" algn="l"/>
              </a:tabLst>
            </a:pPr>
            <a:r>
              <a:rPr lang="en-US" sz="13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Facilita a refatoração contínua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799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400" b="1" u="none" strike="noStrike">
                <a:solidFill>
                  <a:srgbClr val="FCD34D"/>
                </a:solidFill>
                <a:effectLst/>
                <a:uFillTx/>
                <a:latin typeface="Calibri"/>
                <a:ea typeface="Calibri"/>
              </a:rPr>
              <a:t>Projeto é iterativo: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685800" lvl="1" indent="-343080" defTabSz="914400">
              <a:lnSpc>
                <a:spcPct val="100000"/>
              </a:lnSpc>
              <a:spcAft>
                <a:spcPts val="400"/>
              </a:spcAft>
              <a:buClr>
                <a:srgbClr val="94A3B8"/>
              </a:buClr>
              <a:buFont typeface="Wingdings 3" charset="2"/>
              <a:buChar char=""/>
              <a:tabLst>
                <a:tab pos="0" algn="l"/>
              </a:tabLst>
            </a:pPr>
            <a:r>
              <a:rPr lang="en-US" sz="13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Ocorre antes E depois da codificação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685800" lvl="1" indent="-343080" defTabSz="914400">
              <a:lnSpc>
                <a:spcPct val="100000"/>
              </a:lnSpc>
              <a:spcAft>
                <a:spcPts val="400"/>
              </a:spcAft>
              <a:buClr>
                <a:srgbClr val="94A3B8"/>
              </a:buClr>
              <a:buFont typeface="Wingdings 3" charset="2"/>
              <a:buChar char=""/>
              <a:tabLst>
                <a:tab pos="0" algn="l"/>
              </a:tabLst>
            </a:pPr>
            <a:r>
              <a:rPr lang="en-US" sz="13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O desenvolvimento guia o projeto — adapta conforme se descobre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685800" lvl="1" indent="-343080" defTabSz="914400">
              <a:lnSpc>
                <a:spcPct val="100000"/>
              </a:lnSpc>
              <a:spcAft>
                <a:spcPts val="400"/>
              </a:spcAft>
              <a:buClr>
                <a:srgbClr val="94A3B8"/>
              </a:buClr>
              <a:buFont typeface="Wingdings 3" charset="2"/>
              <a:buChar char=""/>
              <a:tabLst>
                <a:tab pos="0" algn="l"/>
              </a:tabLst>
            </a:pPr>
            <a:r>
              <a:rPr lang="en-US" sz="13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Melhoria constante via refatoração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Shape 0"/>
          <p:cNvSpPr/>
          <p:nvPr/>
        </p:nvSpPr>
        <p:spPr>
          <a:xfrm>
            <a:off x="0" y="0"/>
            <a:ext cx="9143640" cy="7272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Shape 1"/>
          <p:cNvSpPr/>
          <p:nvPr/>
        </p:nvSpPr>
        <p:spPr>
          <a:xfrm>
            <a:off x="0" y="73080"/>
            <a:ext cx="9143640" cy="685440"/>
          </a:xfrm>
          <a:prstGeom prst="rect">
            <a:avLst/>
          </a:prstGeom>
          <a:solidFill>
            <a:srgbClr val="15253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2"/>
          <p:cNvSpPr/>
          <p:nvPr/>
        </p:nvSpPr>
        <p:spPr>
          <a:xfrm>
            <a:off x="320040" y="73080"/>
            <a:ext cx="85035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14B8A6"/>
                </a:solidFill>
                <a:effectLst/>
                <a:uFillTx/>
                <a:latin typeface="Trebuchet MS"/>
                <a:ea typeface="Trebuchet MS"/>
              </a:rPr>
              <a:t>XP — Cartões CRC (Classe–Responsabilidade–Colaborador)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3"/>
          <p:cNvSpPr/>
          <p:nvPr/>
        </p:nvSpPr>
        <p:spPr>
          <a:xfrm>
            <a:off x="365760" y="914400"/>
            <a:ext cx="4023000" cy="393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r>
              <a:rPr lang="en-US" sz="1400" b="1" u="none" strike="noStrike">
                <a:solidFill>
                  <a:srgbClr val="FCD34D"/>
                </a:solidFill>
                <a:effectLst/>
                <a:uFillTx/>
                <a:latin typeface="Calibri"/>
                <a:ea typeface="Calibri"/>
              </a:rPr>
              <a:t>Único artefato de projeto do XP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Identifica e organiza as classes OO relevantes para o incremento atual.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4B8A6"/>
                </a:solidFill>
                <a:effectLst/>
                <a:uFillTx/>
                <a:latin typeface="Calibri"/>
                <a:ea typeface="Calibri"/>
              </a:rPr>
              <a:t>Cada cartão contém: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• Nome da Classe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• Responsabilidades (o que ela faz)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• Colaboradores (outras classes com que interage)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97316"/>
                </a:solidFill>
                <a:effectLst/>
                <a:uFillTx/>
                <a:latin typeface="Calibri"/>
                <a:ea typeface="Calibri"/>
              </a:rPr>
              <a:t>Problemas difíceis →</a:t>
            </a: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 crie um protótipo funcional rápido para testar a ideia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4"/>
          <p:cNvSpPr/>
          <p:nvPr/>
        </p:nvSpPr>
        <p:spPr>
          <a:xfrm>
            <a:off x="4663440" y="1005840"/>
            <a:ext cx="4114440" cy="3474360"/>
          </a:xfrm>
          <a:prstGeom prst="rect">
            <a:avLst/>
          </a:prstGeom>
          <a:solidFill>
            <a:srgbClr val="FFFDE7"/>
          </a:solidFill>
          <a:ln w="19050">
            <a:solidFill>
              <a:srgbClr val="CCC084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5"/>
          <p:cNvSpPr/>
          <p:nvPr/>
        </p:nvSpPr>
        <p:spPr>
          <a:xfrm>
            <a:off x="4663440" y="1005840"/>
            <a:ext cx="4114440" cy="50256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6"/>
          <p:cNvSpPr/>
          <p:nvPr/>
        </p:nvSpPr>
        <p:spPr>
          <a:xfrm>
            <a:off x="4754880" y="1005840"/>
            <a:ext cx="3931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1F5F9"/>
                </a:solidFill>
                <a:effectLst/>
                <a:uFillTx/>
                <a:latin typeface="Trebuchet MS"/>
                <a:ea typeface="Trebuchet MS"/>
              </a:rPr>
              <a:t>Carrinho</a:t>
            </a:r>
            <a:endParaRPr lang="pt-B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7"/>
          <p:cNvSpPr/>
          <p:nvPr/>
        </p:nvSpPr>
        <p:spPr>
          <a:xfrm>
            <a:off x="4663440" y="1508760"/>
            <a:ext cx="54360" cy="2971440"/>
          </a:xfrm>
          <a:prstGeom prst="rect">
            <a:avLst/>
          </a:prstGeom>
          <a:solidFill>
            <a:srgbClr val="CCC08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Shape 8"/>
          <p:cNvSpPr/>
          <p:nvPr/>
        </p:nvSpPr>
        <p:spPr>
          <a:xfrm>
            <a:off x="6720840" y="1508760"/>
            <a:ext cx="54360" cy="2971440"/>
          </a:xfrm>
          <a:prstGeom prst="rect">
            <a:avLst/>
          </a:prstGeom>
          <a:solidFill>
            <a:srgbClr val="CCC08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9"/>
          <p:cNvSpPr/>
          <p:nvPr/>
        </p:nvSpPr>
        <p:spPr>
          <a:xfrm>
            <a:off x="4754880" y="1536120"/>
            <a:ext cx="18284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555500"/>
                </a:solidFill>
                <a:effectLst/>
                <a:uFillTx/>
                <a:latin typeface="Calibri"/>
                <a:ea typeface="Calibri"/>
              </a:rPr>
              <a:t>Responsabilidades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10"/>
          <p:cNvSpPr/>
          <p:nvPr/>
        </p:nvSpPr>
        <p:spPr>
          <a:xfrm>
            <a:off x="6812280" y="1536120"/>
            <a:ext cx="191988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555500"/>
                </a:solidFill>
                <a:effectLst/>
                <a:uFillTx/>
                <a:latin typeface="Calibri"/>
                <a:ea typeface="Calibri"/>
              </a:rPr>
              <a:t>Colaboradores</a:t>
            </a:r>
            <a:endParaRPr lang="pt-B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11"/>
          <p:cNvSpPr/>
          <p:nvPr/>
        </p:nvSpPr>
        <p:spPr>
          <a:xfrm>
            <a:off x="4736520" y="1938600"/>
            <a:ext cx="191988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r>
              <a:rPr lang="en-US" sz="1200" b="0" u="none" strike="noStrike">
                <a:solidFill>
                  <a:srgbClr val="333300"/>
                </a:solidFill>
                <a:effectLst/>
                <a:uFillTx/>
                <a:latin typeface="Calibri"/>
                <a:ea typeface="Calibri"/>
              </a:rPr>
              <a:t>• Guardar itens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333300"/>
                </a:solidFill>
                <a:effectLst/>
                <a:uFillTx/>
                <a:latin typeface="Calibri"/>
                <a:ea typeface="Calibri"/>
              </a:rPr>
              <a:t>• Calcular total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333300"/>
                </a:solidFill>
                <a:effectLst/>
                <a:uFillTx/>
                <a:latin typeface="Calibri"/>
                <a:ea typeface="Calibri"/>
              </a:rPr>
              <a:t>• Aplicar desconto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12"/>
          <p:cNvSpPr/>
          <p:nvPr/>
        </p:nvSpPr>
        <p:spPr>
          <a:xfrm>
            <a:off x="6812280" y="1938600"/>
            <a:ext cx="191988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r>
              <a:rPr lang="en-US" sz="1200" b="0" u="none" strike="noStrike">
                <a:solidFill>
                  <a:srgbClr val="333300"/>
                </a:solidFill>
                <a:effectLst/>
                <a:uFillTx/>
                <a:latin typeface="Calibri"/>
                <a:ea typeface="Calibri"/>
              </a:rPr>
              <a:t>• Produto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333300"/>
                </a:solidFill>
                <a:effectLst/>
                <a:uFillTx/>
                <a:latin typeface="Calibri"/>
                <a:ea typeface="Calibri"/>
              </a:rPr>
              <a:t>• Pagamento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333300"/>
                </a:solidFill>
                <a:effectLst/>
                <a:uFillTx/>
                <a:latin typeface="Calibri"/>
                <a:ea typeface="Calibri"/>
              </a:rPr>
              <a:t>• Usuario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Shape 0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15253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Shape 1"/>
          <p:cNvSpPr/>
          <p:nvPr/>
        </p:nvSpPr>
        <p:spPr>
          <a:xfrm>
            <a:off x="0" y="0"/>
            <a:ext cx="9143640" cy="10944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Shape 2"/>
          <p:cNvSpPr/>
          <p:nvPr/>
        </p:nvSpPr>
        <p:spPr>
          <a:xfrm>
            <a:off x="0" y="5029200"/>
            <a:ext cx="9143640" cy="10944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3"/>
          <p:cNvSpPr/>
          <p:nvPr/>
        </p:nvSpPr>
        <p:spPr>
          <a:xfrm>
            <a:off x="457200" y="1645920"/>
            <a:ext cx="82292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F1F5F9"/>
                </a:solidFill>
                <a:effectLst/>
                <a:uFillTx/>
                <a:latin typeface="Trebuchet MS"/>
                <a:ea typeface="Trebuchet MS"/>
              </a:rPr>
              <a:t>04  XP — Codificação: TDD e Pares</a:t>
            </a:r>
            <a:endParaRPr lang="pt-BR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Shape 0"/>
          <p:cNvSpPr/>
          <p:nvPr/>
        </p:nvSpPr>
        <p:spPr>
          <a:xfrm>
            <a:off x="0" y="0"/>
            <a:ext cx="9143640" cy="7272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Shape 1"/>
          <p:cNvSpPr/>
          <p:nvPr/>
        </p:nvSpPr>
        <p:spPr>
          <a:xfrm>
            <a:off x="0" y="73080"/>
            <a:ext cx="9143640" cy="685440"/>
          </a:xfrm>
          <a:prstGeom prst="rect">
            <a:avLst/>
          </a:prstGeom>
          <a:solidFill>
            <a:srgbClr val="15253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2"/>
          <p:cNvSpPr/>
          <p:nvPr/>
        </p:nvSpPr>
        <p:spPr>
          <a:xfrm>
            <a:off x="320040" y="73080"/>
            <a:ext cx="85035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4B8A6"/>
                </a:solidFill>
                <a:effectLst/>
                <a:uFillTx/>
                <a:latin typeface="Trebuchet MS"/>
                <a:ea typeface="Trebuchet MS"/>
              </a:rPr>
              <a:t>XP — Codificação: TDD (Test-Driven Development)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3"/>
          <p:cNvSpPr/>
          <p:nvPr/>
        </p:nvSpPr>
        <p:spPr>
          <a:xfrm>
            <a:off x="365760" y="914400"/>
            <a:ext cx="8412120" cy="393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Antes de codificar, a equipe escreve os testes de unidade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Por que testar primeiro?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685800" lvl="1" indent="-343080" defTabSz="914400">
              <a:lnSpc>
                <a:spcPct val="100000"/>
              </a:lnSpc>
              <a:spcAft>
                <a:spcPts val="400"/>
              </a:spcAft>
              <a:buClr>
                <a:srgbClr val="94A3B8"/>
              </a:buClr>
              <a:buFont typeface="Wingdings 3" charset="2"/>
              <a:buChar char=""/>
            </a:pPr>
            <a:r>
              <a:rPr lang="en-US" sz="13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O dev sabe exatamente o que o código precisa fazer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685800" lvl="1" indent="-343080" defTabSz="914400">
              <a:lnSpc>
                <a:spcPct val="100000"/>
              </a:lnSpc>
              <a:spcAft>
                <a:spcPts val="400"/>
              </a:spcAft>
              <a:buClr>
                <a:srgbClr val="94A3B8"/>
              </a:buClr>
              <a:buFont typeface="Wingdings 3" charset="2"/>
              <a:buChar char=""/>
            </a:pPr>
            <a:r>
              <a:rPr lang="en-US" sz="13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Elimina funcionalidades desnecessárias (KISS aplicado aqui!)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685800" lvl="1" indent="-343080" defTabSz="914400">
              <a:lnSpc>
                <a:spcPct val="100000"/>
              </a:lnSpc>
              <a:spcAft>
                <a:spcPts val="400"/>
              </a:spcAft>
              <a:buClr>
                <a:srgbClr val="94A3B8"/>
              </a:buClr>
              <a:buFont typeface="Wingdings 3" charset="2"/>
              <a:buChar char=""/>
            </a:pPr>
            <a:r>
              <a:rPr lang="en-US" sz="13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Código nasce sempre testável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799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400" b="1" u="none" strike="noStrike">
                <a:solidFill>
                  <a:srgbClr val="FCD34D"/>
                </a:solidFill>
                <a:effectLst/>
                <a:uFillTx/>
                <a:latin typeface="Calibri"/>
                <a:ea typeface="Calibri"/>
              </a:rPr>
              <a:t>O ciclo TDD — 3 passos rápidos: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685800" lvl="1" indent="-343080" defTabSz="914400">
              <a:lnSpc>
                <a:spcPct val="100000"/>
              </a:lnSpc>
              <a:spcAft>
                <a:spcPts val="400"/>
              </a:spcAft>
              <a:buClr>
                <a:srgbClr val="94A3B8"/>
              </a:buClr>
              <a:buFont typeface="Wingdings 3" charset="2"/>
              <a:buChar char=""/>
              <a:tabLst>
                <a:tab pos="0" algn="l"/>
              </a:tabLst>
            </a:pPr>
            <a:r>
              <a:rPr lang="en-US" sz="13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🔴  Red   → Escreve o teste que FALHA (ainda sem código)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685800" lvl="1" indent="-343080" defTabSz="914400">
              <a:lnSpc>
                <a:spcPct val="100000"/>
              </a:lnSpc>
              <a:spcAft>
                <a:spcPts val="400"/>
              </a:spcAft>
              <a:buClr>
                <a:srgbClr val="94A3B8"/>
              </a:buClr>
              <a:buFont typeface="Wingdings 3" charset="2"/>
              <a:buChar char=""/>
              <a:tabLst>
                <a:tab pos="0" algn="l"/>
              </a:tabLst>
            </a:pPr>
            <a:r>
              <a:rPr lang="en-US" sz="13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🟢  Green → Escreve o código MÍNIMO para passar no teste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685800" lvl="1" indent="-343080" defTabSz="914400">
              <a:lnSpc>
                <a:spcPct val="100000"/>
              </a:lnSpc>
              <a:spcAft>
                <a:spcPts val="400"/>
              </a:spcAft>
              <a:buClr>
                <a:srgbClr val="94A3B8"/>
              </a:buClr>
              <a:buFont typeface="Wingdings 3" charset="2"/>
              <a:buChar char=""/>
              <a:tabLst>
                <a:tab pos="0" algn="l"/>
              </a:tabLst>
            </a:pPr>
            <a:r>
              <a:rPr lang="en-US" sz="13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🔵  Refactor → Melhora o código sem quebrar o teste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  <a:tabLst>
                <a:tab pos="0" algn="l"/>
              </a:tabLst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Cada ciclo dura poucos minutos — repete para cada funcionalidade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4"/>
          <p:cNvSpPr/>
          <p:nvPr/>
        </p:nvSpPr>
        <p:spPr>
          <a:xfrm>
            <a:off x="365760" y="4160520"/>
            <a:ext cx="8412120" cy="776880"/>
          </a:xfrm>
          <a:prstGeom prst="rect">
            <a:avLst/>
          </a:prstGeom>
          <a:solidFill>
            <a:srgbClr val="1C2D1F"/>
          </a:solidFill>
          <a:ln w="19050">
            <a:solidFill>
              <a:srgbClr val="F9731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5"/>
          <p:cNvSpPr/>
          <p:nvPr/>
        </p:nvSpPr>
        <p:spPr>
          <a:xfrm>
            <a:off x="502920" y="4187880"/>
            <a:ext cx="813780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F97316"/>
                </a:solidFill>
                <a:effectLst/>
                <a:uFillTx/>
                <a:latin typeface="Calibri"/>
                <a:ea typeface="Calibri"/>
              </a:rPr>
              <a:t>💬 Discussão: </a:t>
            </a:r>
            <a:r>
              <a:rPr lang="en-US" sz="125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Por que escrever o teste antes garante que o teste realmente testa algo? O que acontece se você escreve o código antes?</a:t>
            </a:r>
            <a:endParaRPr lang="pt-BR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Shape 0"/>
          <p:cNvSpPr/>
          <p:nvPr/>
        </p:nvSpPr>
        <p:spPr>
          <a:xfrm>
            <a:off x="0" y="0"/>
            <a:ext cx="9143640" cy="7272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Shape 1"/>
          <p:cNvSpPr/>
          <p:nvPr/>
        </p:nvSpPr>
        <p:spPr>
          <a:xfrm>
            <a:off x="0" y="73080"/>
            <a:ext cx="9143640" cy="685440"/>
          </a:xfrm>
          <a:prstGeom prst="rect">
            <a:avLst/>
          </a:prstGeom>
          <a:solidFill>
            <a:srgbClr val="15253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2"/>
          <p:cNvSpPr/>
          <p:nvPr/>
        </p:nvSpPr>
        <p:spPr>
          <a:xfrm>
            <a:off x="320040" y="73080"/>
            <a:ext cx="85035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4B8A6"/>
                </a:solidFill>
                <a:effectLst/>
                <a:uFillTx/>
                <a:latin typeface="Trebuchet MS"/>
                <a:ea typeface="Trebuchet MS"/>
              </a:rPr>
              <a:t>TDD na Prática — Exemplo em Java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Shape 3"/>
          <p:cNvSpPr/>
          <p:nvPr/>
        </p:nvSpPr>
        <p:spPr>
          <a:xfrm>
            <a:off x="365760" y="914400"/>
            <a:ext cx="5028840" cy="3931560"/>
          </a:xfrm>
          <a:prstGeom prst="rect">
            <a:avLst/>
          </a:prstGeom>
          <a:solidFill>
            <a:srgbClr val="0A0F14"/>
          </a:solidFill>
          <a:ln w="12700">
            <a:solidFill>
              <a:srgbClr val="0D9488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4"/>
          <p:cNvSpPr/>
          <p:nvPr/>
        </p:nvSpPr>
        <p:spPr>
          <a:xfrm>
            <a:off x="502920" y="1005840"/>
            <a:ext cx="4754520" cy="374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94A3B8"/>
                </a:solidFill>
                <a:effectLst/>
                <a:uFillTx/>
                <a:latin typeface="Courier New"/>
                <a:ea typeface="Courier New"/>
              </a:rPr>
              <a:t>// PASSO 1 — Red: escrever o teste</a:t>
            </a: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94A3B8"/>
                </a:solidFill>
                <a:effectLst/>
                <a:uFillTx/>
                <a:latin typeface="Courier New"/>
                <a:ea typeface="Courier New"/>
              </a:rPr>
              <a:t>// A função não existe ainda → teste FALHA</a:t>
            </a: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4B8A6"/>
                </a:solidFill>
                <a:effectLst/>
                <a:uFillTx/>
                <a:latin typeface="Courier New"/>
                <a:ea typeface="Courier New"/>
              </a:rPr>
              <a:t>public void testCalculaDesconto() {</a:t>
            </a: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FCD34D"/>
                </a:solidFill>
                <a:effectLst/>
                <a:uFillTx/>
                <a:latin typeface="Courier New"/>
                <a:ea typeface="Courier New"/>
              </a:rPr>
              <a:t>    assertEquals(90,</a:t>
            </a: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4B8A6"/>
                </a:solidFill>
                <a:effectLst/>
                <a:uFillTx/>
                <a:latin typeface="Courier New"/>
                <a:ea typeface="Courier New"/>
              </a:rPr>
              <a:t>        calculaDesconto(100, 10));</a:t>
            </a: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4B8A6"/>
                </a:solidFill>
                <a:effectLst/>
                <a:uFillTx/>
                <a:latin typeface="Courier New"/>
                <a:ea typeface="Courier New"/>
              </a:rPr>
              <a:t>    // 10% de desconto sobre R$100</a:t>
            </a: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4B8A6"/>
                </a:solidFill>
                <a:effectLst/>
                <a:uFillTx/>
                <a:latin typeface="Courier New"/>
                <a:ea typeface="Courier New"/>
              </a:rPr>
              <a:t>}</a:t>
            </a: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94A3B8"/>
                </a:solidFill>
                <a:effectLst/>
                <a:uFillTx/>
                <a:latin typeface="Courier New"/>
                <a:ea typeface="Courier New"/>
              </a:rPr>
              <a:t>// PASSO 2 — Green: código mínimo</a:t>
            </a: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4B8A6"/>
                </a:solidFill>
                <a:effectLst/>
                <a:uFillTx/>
                <a:latin typeface="Courier New"/>
                <a:ea typeface="Courier New"/>
              </a:rPr>
              <a:t>public double calculaDesconto(</a:t>
            </a: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4B8A6"/>
                </a:solidFill>
                <a:effectLst/>
                <a:uFillTx/>
                <a:latin typeface="Courier New"/>
                <a:ea typeface="Courier New"/>
              </a:rPr>
              <a:t>        double preco, double percentual) {</a:t>
            </a: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FCD34D"/>
                </a:solidFill>
                <a:effectLst/>
                <a:uFillTx/>
                <a:latin typeface="Courier New"/>
                <a:ea typeface="Courier New"/>
              </a:rPr>
              <a:t>    return preco - (preco * percentual / 100);</a:t>
            </a: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4B8A6"/>
                </a:solidFill>
                <a:effectLst/>
                <a:uFillTx/>
                <a:latin typeface="Courier New"/>
                <a:ea typeface="Courier New"/>
              </a:rPr>
              <a:t>}</a:t>
            </a: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94A3B8"/>
                </a:solidFill>
                <a:effectLst/>
                <a:uFillTx/>
                <a:latin typeface="Courier New"/>
                <a:ea typeface="Courier New"/>
              </a:rPr>
              <a:t>// PASSO 3 — Refactor: melhorar</a:t>
            </a: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94A3B8"/>
                </a:solidFill>
                <a:effectLst/>
                <a:uFillTx/>
                <a:latin typeface="Courier New"/>
                <a:ea typeface="Courier New"/>
              </a:rPr>
              <a:t>// Adicione validação de valores negativos</a:t>
            </a: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94A3B8"/>
                </a:solidFill>
                <a:effectLst/>
                <a:uFillTx/>
                <a:latin typeface="Courier New"/>
                <a:ea typeface="Courier New"/>
              </a:rPr>
              <a:t>// apenas se a história exigir (KISS!)</a:t>
            </a: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5"/>
          <p:cNvSpPr/>
          <p:nvPr/>
        </p:nvSpPr>
        <p:spPr>
          <a:xfrm>
            <a:off x="5577840" y="1005840"/>
            <a:ext cx="3291480" cy="384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spcBef>
                <a:spcPts val="799"/>
              </a:spcBef>
              <a:spcAft>
                <a:spcPts val="499"/>
              </a:spcAft>
              <a:tabLst>
                <a:tab pos="0" algn="l"/>
              </a:tabLst>
            </a:pPr>
            <a:r>
              <a:rPr lang="en-US" sz="1300" b="1" u="none" strike="noStrike">
                <a:solidFill>
                  <a:srgbClr val="FCD34D"/>
                </a:solidFill>
                <a:effectLst/>
                <a:uFillTx/>
                <a:latin typeface="Calibri"/>
                <a:ea typeface="Calibri"/>
              </a:rPr>
              <a:t>Red 🔴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Teste falha pois a função não existe ainda. Confirma que ele realmente detecta a ausência.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799"/>
              </a:spcBef>
              <a:spcAft>
                <a:spcPts val="499"/>
              </a:spcAft>
              <a:tabLst>
                <a:tab pos="0" algn="l"/>
              </a:tabLst>
            </a:pPr>
            <a:r>
              <a:rPr lang="en-US" sz="1300" b="1" u="none" strike="noStrike">
                <a:solidFill>
                  <a:srgbClr val="FCD34D"/>
                </a:solidFill>
                <a:effectLst/>
                <a:uFillTx/>
                <a:latin typeface="Calibri"/>
                <a:ea typeface="Calibri"/>
              </a:rPr>
              <a:t>Green 🟢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Código mais simples possível para passar. Sem inventar extras.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799"/>
              </a:spcBef>
              <a:spcAft>
                <a:spcPts val="499"/>
              </a:spcAft>
              <a:tabLst>
                <a:tab pos="0" algn="l"/>
              </a:tabLst>
            </a:pPr>
            <a:r>
              <a:rPr lang="en-US" sz="1300" b="1" u="none" strike="noStrike">
                <a:solidFill>
                  <a:srgbClr val="FCD34D"/>
                </a:solidFill>
                <a:effectLst/>
                <a:uFillTx/>
                <a:latin typeface="Calibri"/>
                <a:ea typeface="Calibri"/>
              </a:rPr>
              <a:t>Refactor 🔵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99"/>
              </a:spcAft>
              <a:buClr>
                <a:srgbClr val="F1F5F9"/>
              </a:buClr>
              <a:buFont typeface="Symbol" charset="2"/>
              <a:buChar char=""/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Melhora sem medo: se algo quebrar, os testes avisam imediatamente.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Shape 0"/>
          <p:cNvSpPr/>
          <p:nvPr/>
        </p:nvSpPr>
        <p:spPr>
          <a:xfrm>
            <a:off x="0" y="0"/>
            <a:ext cx="9143640" cy="7272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Shape 1"/>
          <p:cNvSpPr/>
          <p:nvPr/>
        </p:nvSpPr>
        <p:spPr>
          <a:xfrm>
            <a:off x="0" y="73080"/>
            <a:ext cx="9143640" cy="685440"/>
          </a:xfrm>
          <a:prstGeom prst="rect">
            <a:avLst/>
          </a:prstGeom>
          <a:solidFill>
            <a:srgbClr val="15253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2"/>
          <p:cNvSpPr/>
          <p:nvPr/>
        </p:nvSpPr>
        <p:spPr>
          <a:xfrm>
            <a:off x="320040" y="73080"/>
            <a:ext cx="85035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4B8A6"/>
                </a:solidFill>
                <a:effectLst/>
                <a:uFillTx/>
                <a:latin typeface="Trebuchet MS"/>
                <a:ea typeface="Trebuchet MS"/>
              </a:rPr>
              <a:t>XP — Programação em Pares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3"/>
          <p:cNvSpPr/>
          <p:nvPr/>
        </p:nvSpPr>
        <p:spPr>
          <a:xfrm>
            <a:off x="4526280" y="914400"/>
            <a:ext cx="54360" cy="393156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4"/>
          <p:cNvSpPr/>
          <p:nvPr/>
        </p:nvSpPr>
        <p:spPr>
          <a:xfrm>
            <a:off x="320040" y="914400"/>
            <a:ext cx="40230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D9488"/>
                </a:solidFill>
                <a:effectLst/>
                <a:uFillTx/>
                <a:latin typeface="Trebuchet MS"/>
                <a:ea typeface="Trebuchet MS"/>
              </a:rPr>
              <a:t>Como funciona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5"/>
          <p:cNvSpPr/>
          <p:nvPr/>
        </p:nvSpPr>
        <p:spPr>
          <a:xfrm>
            <a:off x="4754880" y="914400"/>
            <a:ext cx="40230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D9488"/>
                </a:solidFill>
                <a:effectLst/>
                <a:uFillTx/>
                <a:latin typeface="Trebuchet MS"/>
                <a:ea typeface="Trebuchet MS"/>
              </a:rPr>
              <a:t>Dicas Práticas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6"/>
          <p:cNvSpPr/>
          <p:nvPr/>
        </p:nvSpPr>
        <p:spPr>
          <a:xfrm>
            <a:off x="320040" y="1298520"/>
            <a:ext cx="4023000" cy="366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Duas pessoas, uma mesma estação de trabalho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Um programa (driver), o outro revisa (navigator)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Papéis alternam frequentemente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300" b="1" u="none" strike="noStrike">
                <a:solidFill>
                  <a:srgbClr val="FCD34D"/>
                </a:solidFill>
                <a:effectLst/>
                <a:uFillTx/>
                <a:latin typeface="Calibri"/>
                <a:ea typeface="Calibri"/>
              </a:rPr>
              <a:t>Benefícios: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Solução de problemas em tempo real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Revisão de código acontece enquanto se cria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Conhecimento compartilhado — sem 'silos'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Menos bugs chegam até os testes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7"/>
          <p:cNvSpPr/>
          <p:nvPr/>
        </p:nvSpPr>
        <p:spPr>
          <a:xfrm>
            <a:off x="4754880" y="1298520"/>
            <a:ext cx="4114440" cy="366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Pode parecer lento, mas entrega mais qualidade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Dois desenvolvedores = menos retrabalho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Funciona melhor com TDD (um escreve teste, outro código)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300" b="1" u="none" strike="noStrike">
                <a:solidFill>
                  <a:srgbClr val="FCD34D"/>
                </a:solidFill>
                <a:effectLst/>
                <a:uFillTx/>
                <a:latin typeface="Calibri"/>
                <a:ea typeface="Calibri"/>
              </a:rPr>
              <a:t>Na prática: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Driver → foca no código linha a linha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Navigator → pensa no design, nos testes, no contexto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Troca a cada 15–30 minutos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Exige comunicação constante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8"/>
          <p:cNvSpPr/>
          <p:nvPr/>
        </p:nvSpPr>
        <p:spPr>
          <a:xfrm>
            <a:off x="365760" y="4160520"/>
            <a:ext cx="8412120" cy="776880"/>
          </a:xfrm>
          <a:prstGeom prst="rect">
            <a:avLst/>
          </a:prstGeom>
          <a:solidFill>
            <a:srgbClr val="1C2D1F"/>
          </a:solidFill>
          <a:ln w="19050">
            <a:solidFill>
              <a:srgbClr val="F9731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9"/>
          <p:cNvSpPr/>
          <p:nvPr/>
        </p:nvSpPr>
        <p:spPr>
          <a:xfrm>
            <a:off x="502920" y="4187880"/>
            <a:ext cx="813780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F97316"/>
                </a:solidFill>
                <a:effectLst/>
                <a:uFillTx/>
                <a:latin typeface="Calibri"/>
                <a:ea typeface="Calibri"/>
              </a:rPr>
              <a:t>💬 Discussão: </a:t>
            </a:r>
            <a:r>
              <a:rPr lang="en-US" sz="125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Vocês já trabalharam em dupla num código? O que funcionou bem? O que foi difícil?</a:t>
            </a:r>
            <a:endParaRPr lang="pt-BR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Shape 0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15253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Shape 1"/>
          <p:cNvSpPr/>
          <p:nvPr/>
        </p:nvSpPr>
        <p:spPr>
          <a:xfrm>
            <a:off x="0" y="0"/>
            <a:ext cx="9143640" cy="10944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Shape 2"/>
          <p:cNvSpPr/>
          <p:nvPr/>
        </p:nvSpPr>
        <p:spPr>
          <a:xfrm>
            <a:off x="0" y="5029200"/>
            <a:ext cx="9143640" cy="10944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3"/>
          <p:cNvSpPr/>
          <p:nvPr/>
        </p:nvSpPr>
        <p:spPr>
          <a:xfrm>
            <a:off x="457200" y="1645920"/>
            <a:ext cx="82292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F1F5F9"/>
                </a:solidFill>
                <a:effectLst/>
                <a:uFillTx/>
                <a:latin typeface="Trebuchet MS"/>
                <a:ea typeface="Trebuchet MS"/>
              </a:rPr>
              <a:t>05  XP — Testes</a:t>
            </a:r>
            <a:endParaRPr lang="pt-BR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Shape 0"/>
          <p:cNvSpPr/>
          <p:nvPr/>
        </p:nvSpPr>
        <p:spPr>
          <a:xfrm>
            <a:off x="0" y="0"/>
            <a:ext cx="9143640" cy="7272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Shape 1"/>
          <p:cNvSpPr/>
          <p:nvPr/>
        </p:nvSpPr>
        <p:spPr>
          <a:xfrm>
            <a:off x="0" y="73080"/>
            <a:ext cx="9143640" cy="685440"/>
          </a:xfrm>
          <a:prstGeom prst="rect">
            <a:avLst/>
          </a:prstGeom>
          <a:solidFill>
            <a:srgbClr val="15253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2"/>
          <p:cNvSpPr/>
          <p:nvPr/>
        </p:nvSpPr>
        <p:spPr>
          <a:xfrm>
            <a:off x="320040" y="73080"/>
            <a:ext cx="85035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4B8A6"/>
                </a:solidFill>
                <a:effectLst/>
                <a:uFillTx/>
                <a:latin typeface="Trebuchet MS"/>
                <a:ea typeface="Trebuchet MS"/>
              </a:rPr>
              <a:t>XP — Testes de Unidade e de Aceitação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Shape 3"/>
          <p:cNvSpPr/>
          <p:nvPr/>
        </p:nvSpPr>
        <p:spPr>
          <a:xfrm>
            <a:off x="4526280" y="914400"/>
            <a:ext cx="54360" cy="393156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4"/>
          <p:cNvSpPr/>
          <p:nvPr/>
        </p:nvSpPr>
        <p:spPr>
          <a:xfrm>
            <a:off x="320040" y="914400"/>
            <a:ext cx="40230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D9488"/>
                </a:solidFill>
                <a:effectLst/>
                <a:uFillTx/>
                <a:latin typeface="Trebuchet MS"/>
                <a:ea typeface="Trebuchet MS"/>
              </a:rPr>
              <a:t>Técnico (dev)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 5"/>
          <p:cNvSpPr/>
          <p:nvPr/>
        </p:nvSpPr>
        <p:spPr>
          <a:xfrm>
            <a:off x="4754880" y="914400"/>
            <a:ext cx="40230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D9488"/>
                </a:solidFill>
                <a:effectLst/>
                <a:uFillTx/>
                <a:latin typeface="Trebuchet MS"/>
                <a:ea typeface="Trebuchet MS"/>
              </a:rPr>
              <a:t>Negócio (cliente)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6"/>
          <p:cNvSpPr/>
          <p:nvPr/>
        </p:nvSpPr>
        <p:spPr>
          <a:xfrm>
            <a:off x="320040" y="1298520"/>
            <a:ext cx="4023000" cy="366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300" b="1" u="none" strike="noStrike">
                <a:solidFill>
                  <a:srgbClr val="FCD34D"/>
                </a:solidFill>
                <a:effectLst/>
                <a:uFillTx/>
                <a:latin typeface="Calibri"/>
                <a:ea typeface="Calibri"/>
              </a:rPr>
              <a:t>Testes de Unidade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Automatizados — rodam com um comando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Escritos antes do código (TDD)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Testam métodos e classes isoladamente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Executados a cada modificação (refatoração)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300" b="1" u="none" strike="noStrike">
                <a:solidFill>
                  <a:srgbClr val="FCD34D"/>
                </a:solidFill>
                <a:effectLst/>
                <a:uFillTx/>
                <a:latin typeface="Calibri"/>
                <a:ea typeface="Calibri"/>
              </a:rPr>
              <a:t>Regressão: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Quando um teste que passava começa a falhar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XP detecta em minutos, não dias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7"/>
          <p:cNvSpPr/>
          <p:nvPr/>
        </p:nvSpPr>
        <p:spPr>
          <a:xfrm>
            <a:off x="4754880" y="1298520"/>
            <a:ext cx="4114440" cy="366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300" b="1" u="none" strike="noStrike">
                <a:solidFill>
                  <a:srgbClr val="FCD34D"/>
                </a:solidFill>
                <a:effectLst/>
                <a:uFillTx/>
                <a:latin typeface="Calibri"/>
                <a:ea typeface="Calibri"/>
              </a:rPr>
              <a:t>Testes de Aceitação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Especificados pelo cliente / Product Owner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Verificam o sistema da perspectiva do usuário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Descrevem o comportamento esperado de uma história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Automatizados sempre que possível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300" b="1" u="none" strike="noStrike">
                <a:solidFill>
                  <a:srgbClr val="FCD34D"/>
                </a:solidFill>
                <a:effectLst/>
                <a:uFillTx/>
                <a:latin typeface="Calibri"/>
                <a:ea typeface="Calibri"/>
              </a:rPr>
              <a:t>Exemplo: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"Ao clicar em 'Cadastrar' com dados válidos,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 o sistema exibe mensagem de sucesso"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Shape 0"/>
          <p:cNvSpPr/>
          <p:nvPr/>
        </p:nvSpPr>
        <p:spPr>
          <a:xfrm>
            <a:off x="0" y="0"/>
            <a:ext cx="9143640" cy="7272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Shape 1"/>
          <p:cNvSpPr/>
          <p:nvPr/>
        </p:nvSpPr>
        <p:spPr>
          <a:xfrm>
            <a:off x="0" y="73080"/>
            <a:ext cx="9143640" cy="685440"/>
          </a:xfrm>
          <a:prstGeom prst="rect">
            <a:avLst/>
          </a:prstGeom>
          <a:solidFill>
            <a:srgbClr val="15253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2"/>
          <p:cNvSpPr/>
          <p:nvPr/>
        </p:nvSpPr>
        <p:spPr>
          <a:xfrm>
            <a:off x="320040" y="73080"/>
            <a:ext cx="85035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4B8A6"/>
                </a:solidFill>
                <a:effectLst/>
                <a:uFillTx/>
                <a:latin typeface="Trebuchet MS"/>
                <a:ea typeface="Trebuchet MS"/>
              </a:rPr>
              <a:t>XP — Fluxo Completo de um Incremento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Shape 3"/>
          <p:cNvSpPr/>
          <p:nvPr/>
        </p:nvSpPr>
        <p:spPr>
          <a:xfrm>
            <a:off x="365760" y="1554480"/>
            <a:ext cx="1416960" cy="1554120"/>
          </a:xfrm>
          <a:prstGeom prst="rect">
            <a:avLst/>
          </a:prstGeom>
          <a:solidFill>
            <a:srgbClr val="0D9488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4"/>
          <p:cNvSpPr/>
          <p:nvPr/>
        </p:nvSpPr>
        <p:spPr>
          <a:xfrm>
            <a:off x="365760" y="1627560"/>
            <a:ext cx="14169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1F5F9"/>
                </a:solidFill>
                <a:effectLst/>
                <a:uFillTx/>
                <a:latin typeface="Trebuchet MS"/>
                <a:ea typeface="Trebuchet MS"/>
              </a:rPr>
              <a:t>1</a:t>
            </a:r>
            <a:endParaRPr lang="pt-BR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5"/>
          <p:cNvSpPr/>
          <p:nvPr/>
        </p:nvSpPr>
        <p:spPr>
          <a:xfrm>
            <a:off x="365760" y="2103120"/>
            <a:ext cx="14169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CCFBF1"/>
                </a:solidFill>
                <a:effectLst/>
                <a:uFillTx/>
                <a:latin typeface="Calibri"/>
                <a:ea typeface="Calibri"/>
              </a:rPr>
              <a:t>Histórias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CCFBF1"/>
                </a:solidFill>
                <a:effectLst/>
                <a:uFillTx/>
                <a:latin typeface="Calibri"/>
                <a:ea typeface="Calibri"/>
              </a:rPr>
              <a:t>de Usuário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Shape 6"/>
          <p:cNvSpPr/>
          <p:nvPr/>
        </p:nvSpPr>
        <p:spPr>
          <a:xfrm>
            <a:off x="1783080" y="2286000"/>
            <a:ext cx="246600" cy="91080"/>
          </a:xfrm>
          <a:prstGeom prst="rect">
            <a:avLst/>
          </a:prstGeom>
          <a:solidFill>
            <a:srgbClr val="94A3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7"/>
          <p:cNvSpPr/>
          <p:nvPr/>
        </p:nvSpPr>
        <p:spPr>
          <a:xfrm>
            <a:off x="1828800" y="2148840"/>
            <a:ext cx="273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▶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Shape 8"/>
          <p:cNvSpPr/>
          <p:nvPr/>
        </p:nvSpPr>
        <p:spPr>
          <a:xfrm>
            <a:off x="2030040" y="1554480"/>
            <a:ext cx="1416960" cy="1554120"/>
          </a:xfrm>
          <a:prstGeom prst="rect">
            <a:avLst/>
          </a:prstGeom>
          <a:solidFill>
            <a:srgbClr val="0D9488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9"/>
          <p:cNvSpPr/>
          <p:nvPr/>
        </p:nvSpPr>
        <p:spPr>
          <a:xfrm>
            <a:off x="2030040" y="1627560"/>
            <a:ext cx="14169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1F5F9"/>
                </a:solidFill>
                <a:effectLst/>
                <a:uFillTx/>
                <a:latin typeface="Trebuchet MS"/>
                <a:ea typeface="Trebuchet MS"/>
              </a:rPr>
              <a:t>2</a:t>
            </a:r>
            <a:endParaRPr lang="pt-BR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10"/>
          <p:cNvSpPr/>
          <p:nvPr/>
        </p:nvSpPr>
        <p:spPr>
          <a:xfrm>
            <a:off x="2030040" y="2103120"/>
            <a:ext cx="14169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CCFBF1"/>
                </a:solidFill>
                <a:effectLst/>
                <a:uFillTx/>
                <a:latin typeface="Calibri"/>
                <a:ea typeface="Calibri"/>
              </a:rPr>
              <a:t>Testes de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CCFBF1"/>
                </a:solidFill>
                <a:effectLst/>
                <a:uFillTx/>
                <a:latin typeface="Calibri"/>
                <a:ea typeface="Calibri"/>
              </a:rPr>
              <a:t>Aceitação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Shape 11"/>
          <p:cNvSpPr/>
          <p:nvPr/>
        </p:nvSpPr>
        <p:spPr>
          <a:xfrm>
            <a:off x="3447360" y="2286000"/>
            <a:ext cx="246600" cy="91080"/>
          </a:xfrm>
          <a:prstGeom prst="rect">
            <a:avLst/>
          </a:prstGeom>
          <a:solidFill>
            <a:srgbClr val="94A3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12"/>
          <p:cNvSpPr/>
          <p:nvPr/>
        </p:nvSpPr>
        <p:spPr>
          <a:xfrm>
            <a:off x="3493080" y="2148840"/>
            <a:ext cx="273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▶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Shape 13"/>
          <p:cNvSpPr/>
          <p:nvPr/>
        </p:nvSpPr>
        <p:spPr>
          <a:xfrm>
            <a:off x="3694320" y="1554480"/>
            <a:ext cx="1416960" cy="1554120"/>
          </a:xfrm>
          <a:prstGeom prst="rect">
            <a:avLst/>
          </a:prstGeom>
          <a:solidFill>
            <a:srgbClr val="0F766E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14"/>
          <p:cNvSpPr/>
          <p:nvPr/>
        </p:nvSpPr>
        <p:spPr>
          <a:xfrm>
            <a:off x="3694320" y="1627560"/>
            <a:ext cx="14169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1F5F9"/>
                </a:solidFill>
                <a:effectLst/>
                <a:uFillTx/>
                <a:latin typeface="Trebuchet MS"/>
                <a:ea typeface="Trebuchet MS"/>
              </a:rPr>
              <a:t>3</a:t>
            </a:r>
            <a:endParaRPr lang="pt-BR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 15"/>
          <p:cNvSpPr/>
          <p:nvPr/>
        </p:nvSpPr>
        <p:spPr>
          <a:xfrm>
            <a:off x="3694320" y="2103120"/>
            <a:ext cx="14169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CCFBF1"/>
                </a:solidFill>
                <a:effectLst/>
                <a:uFillTx/>
                <a:latin typeface="Calibri"/>
                <a:ea typeface="Calibri"/>
              </a:rPr>
              <a:t>Testes de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CCFBF1"/>
                </a:solidFill>
                <a:effectLst/>
                <a:uFillTx/>
                <a:latin typeface="Calibri"/>
                <a:ea typeface="Calibri"/>
              </a:rPr>
              <a:t>Unidade (TDD)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Shape 16"/>
          <p:cNvSpPr/>
          <p:nvPr/>
        </p:nvSpPr>
        <p:spPr>
          <a:xfrm>
            <a:off x="5111640" y="2286000"/>
            <a:ext cx="246600" cy="91080"/>
          </a:xfrm>
          <a:prstGeom prst="rect">
            <a:avLst/>
          </a:prstGeom>
          <a:solidFill>
            <a:srgbClr val="94A3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17"/>
          <p:cNvSpPr/>
          <p:nvPr/>
        </p:nvSpPr>
        <p:spPr>
          <a:xfrm>
            <a:off x="5157360" y="2148840"/>
            <a:ext cx="273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▶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Shape 18"/>
          <p:cNvSpPr/>
          <p:nvPr/>
        </p:nvSpPr>
        <p:spPr>
          <a:xfrm>
            <a:off x="5358240" y="1554480"/>
            <a:ext cx="1416960" cy="1554120"/>
          </a:xfrm>
          <a:prstGeom prst="rect">
            <a:avLst/>
          </a:prstGeom>
          <a:solidFill>
            <a:srgbClr val="115E59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19"/>
          <p:cNvSpPr/>
          <p:nvPr/>
        </p:nvSpPr>
        <p:spPr>
          <a:xfrm>
            <a:off x="5358240" y="1627560"/>
            <a:ext cx="14169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1F5F9"/>
                </a:solidFill>
                <a:effectLst/>
                <a:uFillTx/>
                <a:latin typeface="Trebuchet MS"/>
                <a:ea typeface="Trebuchet MS"/>
              </a:rPr>
              <a:t>4</a:t>
            </a:r>
            <a:endParaRPr lang="pt-BR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20"/>
          <p:cNvSpPr/>
          <p:nvPr/>
        </p:nvSpPr>
        <p:spPr>
          <a:xfrm>
            <a:off x="5358240" y="2103120"/>
            <a:ext cx="14169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CCFBF1"/>
                </a:solidFill>
                <a:effectLst/>
                <a:uFillTx/>
                <a:latin typeface="Calibri"/>
                <a:ea typeface="Calibri"/>
              </a:rPr>
              <a:t>Codificação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CCFBF1"/>
                </a:solidFill>
                <a:effectLst/>
                <a:uFillTx/>
                <a:latin typeface="Calibri"/>
                <a:ea typeface="Calibri"/>
              </a:rPr>
              <a:t>em Pares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21"/>
          <p:cNvSpPr/>
          <p:nvPr/>
        </p:nvSpPr>
        <p:spPr>
          <a:xfrm>
            <a:off x="6775560" y="2286000"/>
            <a:ext cx="246600" cy="91080"/>
          </a:xfrm>
          <a:prstGeom prst="rect">
            <a:avLst/>
          </a:prstGeom>
          <a:solidFill>
            <a:srgbClr val="94A3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 22"/>
          <p:cNvSpPr/>
          <p:nvPr/>
        </p:nvSpPr>
        <p:spPr>
          <a:xfrm>
            <a:off x="6821280" y="2148840"/>
            <a:ext cx="273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▶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" name="Shape 23"/>
          <p:cNvSpPr/>
          <p:nvPr/>
        </p:nvSpPr>
        <p:spPr>
          <a:xfrm>
            <a:off x="7022520" y="1554480"/>
            <a:ext cx="1416960" cy="1554120"/>
          </a:xfrm>
          <a:prstGeom prst="rect">
            <a:avLst/>
          </a:prstGeom>
          <a:solidFill>
            <a:srgbClr val="134E4A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24"/>
          <p:cNvSpPr/>
          <p:nvPr/>
        </p:nvSpPr>
        <p:spPr>
          <a:xfrm>
            <a:off x="7022520" y="1627560"/>
            <a:ext cx="14169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1F5F9"/>
                </a:solidFill>
                <a:effectLst/>
                <a:uFillTx/>
                <a:latin typeface="Trebuchet MS"/>
                <a:ea typeface="Trebuchet MS"/>
              </a:rPr>
              <a:t>5</a:t>
            </a:r>
            <a:endParaRPr lang="pt-BR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25"/>
          <p:cNvSpPr/>
          <p:nvPr/>
        </p:nvSpPr>
        <p:spPr>
          <a:xfrm>
            <a:off x="7022520" y="2103120"/>
            <a:ext cx="14169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CCFBF1"/>
                </a:solidFill>
                <a:effectLst/>
                <a:uFillTx/>
                <a:latin typeface="Calibri"/>
                <a:ea typeface="Calibri"/>
              </a:rPr>
              <a:t>Refatoração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CCFBF1"/>
                </a:solidFill>
                <a:effectLst/>
                <a:uFillTx/>
                <a:latin typeface="Calibri"/>
                <a:ea typeface="Calibri"/>
              </a:rPr>
              <a:t>+ Testes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26"/>
          <p:cNvSpPr/>
          <p:nvPr/>
        </p:nvSpPr>
        <p:spPr>
          <a:xfrm>
            <a:off x="365760" y="3337560"/>
            <a:ext cx="84121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i="1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Testes rodam a cada alteração → se algo quebrar, a equipe sabe na hora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27"/>
          <p:cNvSpPr/>
          <p:nvPr/>
        </p:nvSpPr>
        <p:spPr>
          <a:xfrm>
            <a:off x="365760" y="4160520"/>
            <a:ext cx="8412120" cy="776880"/>
          </a:xfrm>
          <a:prstGeom prst="rect">
            <a:avLst/>
          </a:prstGeom>
          <a:solidFill>
            <a:srgbClr val="1C2D1F"/>
          </a:solidFill>
          <a:ln w="19050">
            <a:solidFill>
              <a:srgbClr val="F9731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28"/>
          <p:cNvSpPr/>
          <p:nvPr/>
        </p:nvSpPr>
        <p:spPr>
          <a:xfrm>
            <a:off x="502920" y="4187880"/>
            <a:ext cx="813780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F97316"/>
                </a:solidFill>
                <a:effectLst/>
                <a:uFillTx/>
                <a:latin typeface="Calibri"/>
                <a:ea typeface="Calibri"/>
              </a:rPr>
              <a:t>💬 Discussão: </a:t>
            </a:r>
            <a:r>
              <a:rPr lang="en-US" sz="125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Em qual etapa desse fluxo vocês acham que mais bugs são introduzidos num projeto tradicional (sem XP)?</a:t>
            </a:r>
            <a:endParaRPr lang="pt-BR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Shape 0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15253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Shape 1"/>
          <p:cNvSpPr/>
          <p:nvPr/>
        </p:nvSpPr>
        <p:spPr>
          <a:xfrm>
            <a:off x="0" y="0"/>
            <a:ext cx="9143640" cy="109440"/>
          </a:xfrm>
          <a:prstGeom prst="rect">
            <a:avLst/>
          </a:prstGeom>
          <a:solidFill>
            <a:srgbClr val="F9731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Shape 2"/>
          <p:cNvSpPr/>
          <p:nvPr/>
        </p:nvSpPr>
        <p:spPr>
          <a:xfrm>
            <a:off x="0" y="5029200"/>
            <a:ext cx="9143640" cy="109440"/>
          </a:xfrm>
          <a:prstGeom prst="rect">
            <a:avLst/>
          </a:prstGeom>
          <a:solidFill>
            <a:srgbClr val="F9731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3"/>
          <p:cNvSpPr/>
          <p:nvPr/>
        </p:nvSpPr>
        <p:spPr>
          <a:xfrm>
            <a:off x="457200" y="1645920"/>
            <a:ext cx="82292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F1F5F9"/>
                </a:solidFill>
                <a:effectLst/>
                <a:uFillTx/>
                <a:latin typeface="Trebuchet MS"/>
                <a:ea typeface="Trebuchet MS"/>
              </a:rPr>
              <a:t>06  Versionamento com Git</a:t>
            </a:r>
            <a:endParaRPr lang="pt-BR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Shape 0"/>
          <p:cNvSpPr/>
          <p:nvPr/>
        </p:nvSpPr>
        <p:spPr>
          <a:xfrm>
            <a:off x="0" y="0"/>
            <a:ext cx="9143640" cy="7272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Shape 1"/>
          <p:cNvSpPr/>
          <p:nvPr/>
        </p:nvSpPr>
        <p:spPr>
          <a:xfrm>
            <a:off x="0" y="73080"/>
            <a:ext cx="9143640" cy="685440"/>
          </a:xfrm>
          <a:prstGeom prst="rect">
            <a:avLst/>
          </a:prstGeom>
          <a:solidFill>
            <a:srgbClr val="15253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2"/>
          <p:cNvSpPr/>
          <p:nvPr/>
        </p:nvSpPr>
        <p:spPr>
          <a:xfrm>
            <a:off x="320040" y="73080"/>
            <a:ext cx="85035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4B8A6"/>
                </a:solidFill>
                <a:effectLst/>
                <a:uFillTx/>
                <a:latin typeface="Trebuchet MS"/>
                <a:ea typeface="Trebuchet MS"/>
              </a:rPr>
              <a:t>Git — Por que versionamento é essencial no XP?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3"/>
          <p:cNvSpPr/>
          <p:nvPr/>
        </p:nvSpPr>
        <p:spPr>
          <a:xfrm>
            <a:off x="365760" y="914400"/>
            <a:ext cx="8412120" cy="393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XP exige integração contínua — código precisa ser integrado frequentemente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Programação em Pares e equipes paralelas geram conflitos de código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Refatoração constante exige poder voltar a versões estáveis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799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400" b="1" u="none" strike="noStrike">
                <a:solidFill>
                  <a:srgbClr val="FCD34D"/>
                </a:solidFill>
                <a:effectLst/>
                <a:uFillTx/>
                <a:latin typeface="Calibri"/>
                <a:ea typeface="Calibri"/>
              </a:rPr>
              <a:t>Git resolve tudo isso: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685800" lvl="1" indent="-343080" defTabSz="914400">
              <a:lnSpc>
                <a:spcPct val="100000"/>
              </a:lnSpc>
              <a:spcAft>
                <a:spcPts val="400"/>
              </a:spcAft>
              <a:buClr>
                <a:srgbClr val="94A3B8"/>
              </a:buClr>
              <a:buFont typeface="Wingdings 3" charset="2"/>
              <a:buChar char=""/>
              <a:tabLst>
                <a:tab pos="0" algn="l"/>
              </a:tabLst>
            </a:pPr>
            <a:r>
              <a:rPr lang="en-US" sz="13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Histórico completo de todas as mudanças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685800" lvl="1" indent="-343080" defTabSz="914400">
              <a:lnSpc>
                <a:spcPct val="100000"/>
              </a:lnSpc>
              <a:spcAft>
                <a:spcPts val="400"/>
              </a:spcAft>
              <a:buClr>
                <a:srgbClr val="94A3B8"/>
              </a:buClr>
              <a:buFont typeface="Wingdings 3" charset="2"/>
              <a:buChar char=""/>
              <a:tabLst>
                <a:tab pos="0" algn="l"/>
              </a:tabLst>
            </a:pPr>
            <a:r>
              <a:rPr lang="en-US" sz="13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Múltiplos desenvolvedores trabalhando sem se bloquear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685800" lvl="1" indent="-343080" defTabSz="914400">
              <a:lnSpc>
                <a:spcPct val="100000"/>
              </a:lnSpc>
              <a:spcAft>
                <a:spcPts val="400"/>
              </a:spcAft>
              <a:buClr>
                <a:srgbClr val="94A3B8"/>
              </a:buClr>
              <a:buFont typeface="Wingdings 3" charset="2"/>
              <a:buChar char=""/>
              <a:tabLst>
                <a:tab pos="0" algn="l"/>
              </a:tabLst>
            </a:pPr>
            <a:r>
              <a:rPr lang="en-US" sz="13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Integração contínua: detecta conflitos cedo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685800" lvl="1" indent="-343080" defTabSz="914400">
              <a:lnSpc>
                <a:spcPct val="100000"/>
              </a:lnSpc>
              <a:spcAft>
                <a:spcPts val="400"/>
              </a:spcAft>
              <a:buClr>
                <a:srgbClr val="94A3B8"/>
              </a:buClr>
              <a:buFont typeface="Wingdings 3" charset="2"/>
              <a:buChar char=""/>
              <a:tabLst>
                <a:tab pos="0" algn="l"/>
              </a:tabLst>
            </a:pPr>
            <a:r>
              <a:rPr lang="en-US" sz="13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Rollback: desfaz alterações problemáticas com segurança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  <a:tabLst>
                <a:tab pos="0" algn="l"/>
              </a:tabLst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Git é a cola que mantém o XP funcionando em equipe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Shape 0"/>
          <p:cNvSpPr/>
          <p:nvPr/>
        </p:nvSpPr>
        <p:spPr>
          <a:xfrm>
            <a:off x="0" y="0"/>
            <a:ext cx="9143640" cy="72720"/>
          </a:xfrm>
          <a:prstGeom prst="rect">
            <a:avLst/>
          </a:prstGeom>
          <a:solidFill>
            <a:srgbClr val="F9731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1"/>
          <p:cNvSpPr/>
          <p:nvPr/>
        </p:nvSpPr>
        <p:spPr>
          <a:xfrm>
            <a:off x="0" y="73080"/>
            <a:ext cx="9143640" cy="685440"/>
          </a:xfrm>
          <a:prstGeom prst="rect">
            <a:avLst/>
          </a:prstGeom>
          <a:solidFill>
            <a:srgbClr val="15253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2"/>
          <p:cNvSpPr/>
          <p:nvPr/>
        </p:nvSpPr>
        <p:spPr>
          <a:xfrm>
            <a:off x="320040" y="73080"/>
            <a:ext cx="85035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97316"/>
                </a:solidFill>
                <a:effectLst/>
                <a:uFillTx/>
                <a:latin typeface="Trebuchet MS"/>
                <a:ea typeface="Trebuchet MS"/>
              </a:rPr>
              <a:t>Git — Fluxo Básico de Trabalho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Shape 3"/>
          <p:cNvSpPr/>
          <p:nvPr/>
        </p:nvSpPr>
        <p:spPr>
          <a:xfrm>
            <a:off x="274320" y="1005840"/>
            <a:ext cx="1965600" cy="529920"/>
          </a:xfrm>
          <a:prstGeom prst="rect">
            <a:avLst/>
          </a:prstGeom>
          <a:solidFill>
            <a:srgbClr val="0D9488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 4"/>
          <p:cNvSpPr/>
          <p:nvPr/>
        </p:nvSpPr>
        <p:spPr>
          <a:xfrm>
            <a:off x="274320" y="1005840"/>
            <a:ext cx="196560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1F5F9"/>
                </a:solidFill>
                <a:effectLst/>
                <a:uFillTx/>
                <a:latin typeface="Courier New"/>
                <a:ea typeface="Courier New"/>
              </a:rPr>
              <a:t>git init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" name="Shape 5"/>
          <p:cNvSpPr/>
          <p:nvPr/>
        </p:nvSpPr>
        <p:spPr>
          <a:xfrm>
            <a:off x="2240280" y="1216080"/>
            <a:ext cx="200880" cy="91080"/>
          </a:xfrm>
          <a:prstGeom prst="rect">
            <a:avLst/>
          </a:prstGeom>
          <a:solidFill>
            <a:srgbClr val="94A3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 6"/>
          <p:cNvSpPr/>
          <p:nvPr/>
        </p:nvSpPr>
        <p:spPr>
          <a:xfrm>
            <a:off x="274320" y="1600200"/>
            <a:ext cx="19656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Inicia o repositório local</a:t>
            </a: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Cria a pasta .git com todo o histórico</a:t>
            </a: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 7"/>
          <p:cNvSpPr/>
          <p:nvPr/>
        </p:nvSpPr>
        <p:spPr>
          <a:xfrm>
            <a:off x="2212920" y="1005840"/>
            <a:ext cx="2739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→</a:t>
            </a:r>
            <a:endParaRPr lang="pt-B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" name="Shape 8"/>
          <p:cNvSpPr/>
          <p:nvPr/>
        </p:nvSpPr>
        <p:spPr>
          <a:xfrm>
            <a:off x="2450520" y="1005840"/>
            <a:ext cx="1965600" cy="529920"/>
          </a:xfrm>
          <a:prstGeom prst="rect">
            <a:avLst/>
          </a:prstGeom>
          <a:solidFill>
            <a:srgbClr val="0891B2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 9"/>
          <p:cNvSpPr/>
          <p:nvPr/>
        </p:nvSpPr>
        <p:spPr>
          <a:xfrm>
            <a:off x="2450520" y="1005840"/>
            <a:ext cx="196560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1F5F9"/>
                </a:solidFill>
                <a:effectLst/>
                <a:uFillTx/>
                <a:latin typeface="Courier New"/>
                <a:ea typeface="Courier New"/>
              </a:rPr>
              <a:t>git add .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10"/>
          <p:cNvSpPr/>
          <p:nvPr/>
        </p:nvSpPr>
        <p:spPr>
          <a:xfrm>
            <a:off x="4416480" y="1216080"/>
            <a:ext cx="200880" cy="91080"/>
          </a:xfrm>
          <a:prstGeom prst="rect">
            <a:avLst/>
          </a:prstGeom>
          <a:solidFill>
            <a:srgbClr val="94A3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11"/>
          <p:cNvSpPr/>
          <p:nvPr/>
        </p:nvSpPr>
        <p:spPr>
          <a:xfrm>
            <a:off x="2450520" y="1600200"/>
            <a:ext cx="19656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Prepara os arquivos para o commit</a:t>
            </a: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(Staging Area)</a:t>
            </a: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 12"/>
          <p:cNvSpPr/>
          <p:nvPr/>
        </p:nvSpPr>
        <p:spPr>
          <a:xfrm>
            <a:off x="4389120" y="1005840"/>
            <a:ext cx="2739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→</a:t>
            </a:r>
            <a:endParaRPr lang="pt-B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" name="Shape 13"/>
          <p:cNvSpPr/>
          <p:nvPr/>
        </p:nvSpPr>
        <p:spPr>
          <a:xfrm>
            <a:off x="4626720" y="1005840"/>
            <a:ext cx="1965600" cy="529920"/>
          </a:xfrm>
          <a:prstGeom prst="rect">
            <a:avLst/>
          </a:prstGeom>
          <a:solidFill>
            <a:srgbClr val="7C3AED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14"/>
          <p:cNvSpPr/>
          <p:nvPr/>
        </p:nvSpPr>
        <p:spPr>
          <a:xfrm>
            <a:off x="4626720" y="1005840"/>
            <a:ext cx="196560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1F5F9"/>
                </a:solidFill>
                <a:effectLst/>
                <a:uFillTx/>
                <a:latin typeface="Courier New"/>
                <a:ea typeface="Courier New"/>
              </a:rPr>
              <a:t>git commit -m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Shape 15"/>
          <p:cNvSpPr/>
          <p:nvPr/>
        </p:nvSpPr>
        <p:spPr>
          <a:xfrm>
            <a:off x="6592680" y="1216080"/>
            <a:ext cx="200880" cy="91080"/>
          </a:xfrm>
          <a:prstGeom prst="rect">
            <a:avLst/>
          </a:prstGeom>
          <a:solidFill>
            <a:srgbClr val="94A3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16"/>
          <p:cNvSpPr/>
          <p:nvPr/>
        </p:nvSpPr>
        <p:spPr>
          <a:xfrm>
            <a:off x="4626720" y="1600200"/>
            <a:ext cx="19656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Salva um snapshot no histórico</a:t>
            </a: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com uma mensagem descritiva</a:t>
            </a: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17"/>
          <p:cNvSpPr/>
          <p:nvPr/>
        </p:nvSpPr>
        <p:spPr>
          <a:xfrm>
            <a:off x="6565320" y="1005840"/>
            <a:ext cx="27396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94A3B8"/>
                </a:solidFill>
                <a:effectLst/>
                <a:uFillTx/>
                <a:latin typeface="Calibri"/>
              </a:rPr>
              <a:t>→</a:t>
            </a:r>
            <a:endParaRPr lang="pt-B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Shape 18"/>
          <p:cNvSpPr/>
          <p:nvPr/>
        </p:nvSpPr>
        <p:spPr>
          <a:xfrm>
            <a:off x="6803280" y="1005840"/>
            <a:ext cx="1965600" cy="529920"/>
          </a:xfrm>
          <a:prstGeom prst="rect">
            <a:avLst/>
          </a:prstGeom>
          <a:solidFill>
            <a:srgbClr val="D97706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19"/>
          <p:cNvSpPr/>
          <p:nvPr/>
        </p:nvSpPr>
        <p:spPr>
          <a:xfrm>
            <a:off x="6803280" y="1005840"/>
            <a:ext cx="196560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1F5F9"/>
                </a:solidFill>
                <a:effectLst/>
                <a:uFillTx/>
                <a:latin typeface="Courier New"/>
                <a:ea typeface="Courier New"/>
              </a:rPr>
              <a:t>git push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" name="Shape 20"/>
          <p:cNvSpPr/>
          <p:nvPr/>
        </p:nvSpPr>
        <p:spPr>
          <a:xfrm>
            <a:off x="8769240" y="1216080"/>
            <a:ext cx="200880" cy="91080"/>
          </a:xfrm>
          <a:prstGeom prst="rect">
            <a:avLst/>
          </a:prstGeom>
          <a:solidFill>
            <a:srgbClr val="94A3B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21"/>
          <p:cNvSpPr/>
          <p:nvPr/>
        </p:nvSpPr>
        <p:spPr>
          <a:xfrm>
            <a:off x="6803280" y="1600200"/>
            <a:ext cx="19656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Envia os commits para o servidor</a:t>
            </a: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remoto (GitHub, GitLab...)</a:t>
            </a: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Shape 22"/>
          <p:cNvSpPr/>
          <p:nvPr/>
        </p:nvSpPr>
        <p:spPr>
          <a:xfrm>
            <a:off x="365760" y="2697480"/>
            <a:ext cx="8412120" cy="2148480"/>
          </a:xfrm>
          <a:prstGeom prst="rect">
            <a:avLst/>
          </a:prstGeom>
          <a:solidFill>
            <a:srgbClr val="0A0F14"/>
          </a:solidFill>
          <a:ln w="12700">
            <a:solidFill>
              <a:srgbClr val="F9731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23"/>
          <p:cNvSpPr/>
          <p:nvPr/>
        </p:nvSpPr>
        <p:spPr>
          <a:xfrm>
            <a:off x="548640" y="2788920"/>
            <a:ext cx="8046360" cy="191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r>
              <a:rPr lang="en-US" sz="1200" b="0" u="none" strike="noStrike">
                <a:solidFill>
                  <a:srgbClr val="94A3B8"/>
                </a:solidFill>
                <a:effectLst/>
                <a:uFillTx/>
                <a:latin typeface="Courier New"/>
                <a:ea typeface="Courier New"/>
              </a:rPr>
              <a:t># Exemplo de fluxo completo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4B8A6"/>
                </a:solidFill>
                <a:effectLst/>
                <a:uFillTx/>
                <a:latin typeface="Courier New"/>
                <a:ea typeface="Courier New"/>
              </a:rPr>
              <a:t>git init</a:t>
            </a:r>
            <a:r>
              <a:rPr lang="en-US" sz="1200" b="0" u="none" strike="noStrike">
                <a:solidFill>
                  <a:srgbClr val="94A3B8"/>
                </a:solidFill>
                <a:effectLst/>
                <a:uFillTx/>
                <a:latin typeface="Courier New"/>
                <a:ea typeface="Courier New"/>
              </a:rPr>
              <a:t>                    # 1. Inicializa o projeto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4B8A6"/>
                </a:solidFill>
                <a:effectLst/>
                <a:uFillTx/>
                <a:latin typeface="Courier New"/>
                <a:ea typeface="Courier New"/>
              </a:rPr>
              <a:t>git add Produto.java</a:t>
            </a:r>
            <a:r>
              <a:rPr lang="en-US" sz="1200" b="0" u="none" strike="noStrike">
                <a:solidFill>
                  <a:srgbClr val="94A3B8"/>
                </a:solidFill>
                <a:effectLst/>
                <a:uFillTx/>
                <a:latin typeface="Courier New"/>
                <a:ea typeface="Courier New"/>
              </a:rPr>
              <a:t>      # 2. Adiciona o arquivo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4B8A6"/>
                </a:solidFill>
                <a:effectLst/>
                <a:uFillTx/>
                <a:latin typeface="Courier New"/>
                <a:ea typeface="Courier New"/>
              </a:rPr>
              <a:t>git commit -m </a:t>
            </a:r>
            <a:r>
              <a:rPr lang="en-US" sz="1200" b="0" u="none" strike="noStrike">
                <a:solidFill>
                  <a:srgbClr val="FCD34D"/>
                </a:solidFill>
                <a:effectLst/>
                <a:uFillTx/>
                <a:latin typeface="Courier New"/>
                <a:ea typeface="Courier New"/>
              </a:rPr>
              <a:t>"feat: adiciona classe Produto"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14B8A6"/>
                </a:solidFill>
                <a:effectLst/>
                <a:uFillTx/>
                <a:latin typeface="Courier New"/>
                <a:ea typeface="Courier New"/>
              </a:rPr>
              <a:t>git push origin main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94A3B8"/>
                </a:solidFill>
                <a:effectLst/>
                <a:uFillTx/>
                <a:latin typeface="Courier New"/>
                <a:ea typeface="Courier New"/>
              </a:rPr>
              <a:t>    # 4. Envia para o servidor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Shape 0"/>
          <p:cNvSpPr/>
          <p:nvPr/>
        </p:nvSpPr>
        <p:spPr>
          <a:xfrm>
            <a:off x="0" y="0"/>
            <a:ext cx="9143640" cy="7272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Shape 1"/>
          <p:cNvSpPr/>
          <p:nvPr/>
        </p:nvSpPr>
        <p:spPr>
          <a:xfrm>
            <a:off x="0" y="73080"/>
            <a:ext cx="9143640" cy="685440"/>
          </a:xfrm>
          <a:prstGeom prst="rect">
            <a:avLst/>
          </a:prstGeom>
          <a:solidFill>
            <a:srgbClr val="15253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2"/>
          <p:cNvSpPr/>
          <p:nvPr/>
        </p:nvSpPr>
        <p:spPr>
          <a:xfrm>
            <a:off x="320040" y="73080"/>
            <a:ext cx="85035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4B8A6"/>
                </a:solidFill>
                <a:effectLst/>
                <a:uFillTx/>
                <a:latin typeface="Trebuchet MS"/>
                <a:ea typeface="Trebuchet MS"/>
              </a:rPr>
              <a:t>Git na Prática com XP — Boas Práticas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3"/>
          <p:cNvSpPr/>
          <p:nvPr/>
        </p:nvSpPr>
        <p:spPr>
          <a:xfrm>
            <a:off x="365760" y="914400"/>
            <a:ext cx="8412120" cy="393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spcBef>
                <a:spcPts val="799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400" b="1" u="none" strike="noStrike">
                <a:solidFill>
                  <a:srgbClr val="FCD34D"/>
                </a:solidFill>
                <a:effectLst/>
                <a:uFillTx/>
                <a:latin typeface="Calibri"/>
                <a:ea typeface="Calibri"/>
              </a:rPr>
              <a:t>Mensagens de commit descritivas: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685800" lvl="1" indent="-343080" defTabSz="914400">
              <a:lnSpc>
                <a:spcPct val="100000"/>
              </a:lnSpc>
              <a:spcAft>
                <a:spcPts val="400"/>
              </a:spcAft>
              <a:buClr>
                <a:srgbClr val="94A3B8"/>
              </a:buClr>
              <a:buFont typeface="Wingdings 3" charset="2"/>
              <a:buChar char=""/>
              <a:tabLst>
                <a:tab pos="0" algn="l"/>
              </a:tabLst>
            </a:pPr>
            <a:r>
              <a:rPr lang="en-US" sz="13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feat: adiciona tela de cadastro de produto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685800" lvl="1" indent="-343080" defTabSz="914400">
              <a:lnSpc>
                <a:spcPct val="100000"/>
              </a:lnSpc>
              <a:spcAft>
                <a:spcPts val="400"/>
              </a:spcAft>
              <a:buClr>
                <a:srgbClr val="94A3B8"/>
              </a:buClr>
              <a:buFont typeface="Wingdings 3" charset="2"/>
              <a:buChar char=""/>
              <a:tabLst>
                <a:tab pos="0" algn="l"/>
              </a:tabLst>
            </a:pPr>
            <a:r>
              <a:rPr lang="en-US" sz="13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fix: corrige cálculo de desconto no carrinho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685800" lvl="1" indent="-343080" defTabSz="914400">
              <a:lnSpc>
                <a:spcPct val="100000"/>
              </a:lnSpc>
              <a:spcAft>
                <a:spcPts val="400"/>
              </a:spcAft>
              <a:buClr>
                <a:srgbClr val="94A3B8"/>
              </a:buClr>
              <a:buFont typeface="Wingdings 3" charset="2"/>
              <a:buChar char=""/>
              <a:tabLst>
                <a:tab pos="0" algn="l"/>
              </a:tabLst>
            </a:pPr>
            <a:r>
              <a:rPr lang="en-US" sz="13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test: adiciona testes de unidade para Pagamento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799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400" b="1" u="none" strike="noStrike">
                <a:solidFill>
                  <a:srgbClr val="FCD34D"/>
                </a:solidFill>
                <a:effectLst/>
                <a:uFillTx/>
                <a:latin typeface="Calibri"/>
                <a:ea typeface="Calibri"/>
              </a:rPr>
              <a:t>Integração Contínua no XP: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685800" lvl="1" indent="-343080" defTabSz="914400">
              <a:lnSpc>
                <a:spcPct val="100000"/>
              </a:lnSpc>
              <a:spcAft>
                <a:spcPts val="400"/>
              </a:spcAft>
              <a:buClr>
                <a:srgbClr val="94A3B8"/>
              </a:buClr>
              <a:buFont typeface="Wingdings 3" charset="2"/>
              <a:buChar char=""/>
              <a:tabLst>
                <a:tab pos="0" algn="l"/>
              </a:tabLst>
            </a:pPr>
            <a:r>
              <a:rPr lang="en-US" sz="13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Cada par integra seu código ao menos uma vez por dia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685800" lvl="1" indent="-343080" defTabSz="914400">
              <a:lnSpc>
                <a:spcPct val="100000"/>
              </a:lnSpc>
              <a:spcAft>
                <a:spcPts val="400"/>
              </a:spcAft>
              <a:buClr>
                <a:srgbClr val="94A3B8"/>
              </a:buClr>
              <a:buFont typeface="Wingdings 3" charset="2"/>
              <a:buChar char=""/>
              <a:tabLst>
                <a:tab pos="0" algn="l"/>
              </a:tabLst>
            </a:pPr>
            <a:r>
              <a:rPr lang="en-US" sz="13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Rodar todos os testes antes de cada commit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685800" lvl="1" indent="-343080" defTabSz="914400">
              <a:lnSpc>
                <a:spcPct val="100000"/>
              </a:lnSpc>
              <a:spcAft>
                <a:spcPts val="400"/>
              </a:spcAft>
              <a:buClr>
                <a:srgbClr val="94A3B8"/>
              </a:buClr>
              <a:buFont typeface="Wingdings 3" charset="2"/>
              <a:buChar char=""/>
              <a:tabLst>
                <a:tab pos="0" algn="l"/>
              </a:tabLst>
            </a:pPr>
            <a:r>
              <a:rPr lang="en-US" sz="13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Se os testes falharem → NÃO commitar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799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400" b="1" u="none" strike="noStrike">
                <a:solidFill>
                  <a:srgbClr val="FCD34D"/>
                </a:solidFill>
                <a:effectLst/>
                <a:uFillTx/>
                <a:latin typeface="Calibri"/>
                <a:ea typeface="Calibri"/>
              </a:rPr>
              <a:t>Branches sugeridos: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685800" lvl="1" indent="-343080" defTabSz="914400">
              <a:lnSpc>
                <a:spcPct val="100000"/>
              </a:lnSpc>
              <a:spcAft>
                <a:spcPts val="400"/>
              </a:spcAft>
              <a:buClr>
                <a:srgbClr val="94A3B8"/>
              </a:buClr>
              <a:buFont typeface="Wingdings 3" charset="2"/>
              <a:buChar char=""/>
              <a:tabLst>
                <a:tab pos="0" algn="l"/>
              </a:tabLst>
            </a:pPr>
            <a:r>
              <a:rPr lang="en-US" sz="13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main → versão estável (entregável)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685800" lvl="1" indent="-343080" defTabSz="914400">
              <a:lnSpc>
                <a:spcPct val="100000"/>
              </a:lnSpc>
              <a:spcAft>
                <a:spcPts val="400"/>
              </a:spcAft>
              <a:buClr>
                <a:srgbClr val="94A3B8"/>
              </a:buClr>
              <a:buFont typeface="Wingdings 3" charset="2"/>
              <a:buChar char=""/>
              <a:tabLst>
                <a:tab pos="0" algn="l"/>
              </a:tabLst>
            </a:pPr>
            <a:r>
              <a:rPr lang="en-US" sz="13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develop → integração do trabalho dos pares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685800" lvl="1" indent="-343080" defTabSz="914400">
              <a:lnSpc>
                <a:spcPct val="100000"/>
              </a:lnSpc>
              <a:spcAft>
                <a:spcPts val="400"/>
              </a:spcAft>
              <a:buClr>
                <a:srgbClr val="94A3B8"/>
              </a:buClr>
              <a:buFont typeface="Wingdings 3" charset="2"/>
              <a:buChar char=""/>
              <a:tabLst>
                <a:tab pos="0" algn="l"/>
              </a:tabLst>
            </a:pPr>
            <a:r>
              <a:rPr lang="en-US" sz="13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feature/xxx → cada história de usuário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Shape 4"/>
          <p:cNvSpPr/>
          <p:nvPr/>
        </p:nvSpPr>
        <p:spPr>
          <a:xfrm>
            <a:off x="365760" y="4160520"/>
            <a:ext cx="8412120" cy="776880"/>
          </a:xfrm>
          <a:prstGeom prst="rect">
            <a:avLst/>
          </a:prstGeom>
          <a:solidFill>
            <a:srgbClr val="1C2D1F"/>
          </a:solidFill>
          <a:ln w="19050">
            <a:solidFill>
              <a:srgbClr val="F9731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5"/>
          <p:cNvSpPr/>
          <p:nvPr/>
        </p:nvSpPr>
        <p:spPr>
          <a:xfrm>
            <a:off x="502920" y="4187880"/>
            <a:ext cx="813780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F97316"/>
                </a:solidFill>
                <a:effectLst/>
                <a:uFillTx/>
                <a:latin typeface="Calibri"/>
                <a:ea typeface="Calibri"/>
              </a:rPr>
              <a:t>💬 Discussão: </a:t>
            </a:r>
            <a:r>
              <a:rPr lang="en-US" sz="125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Já perderam código por não usar versionamento? O que aconteceria se dois pares XP editassem o mesmo arquivo ao mesmo tempo sem Git?</a:t>
            </a:r>
            <a:endParaRPr lang="pt-BR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Shape 0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15253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" name="Shape 1"/>
          <p:cNvSpPr/>
          <p:nvPr/>
        </p:nvSpPr>
        <p:spPr>
          <a:xfrm>
            <a:off x="0" y="0"/>
            <a:ext cx="9143640" cy="10944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Shape 2"/>
          <p:cNvSpPr/>
          <p:nvPr/>
        </p:nvSpPr>
        <p:spPr>
          <a:xfrm>
            <a:off x="0" y="5029200"/>
            <a:ext cx="9143640" cy="109440"/>
          </a:xfrm>
          <a:prstGeom prst="rect">
            <a:avLst/>
          </a:prstGeom>
          <a:solidFill>
            <a:srgbClr val="14B8A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3"/>
          <p:cNvSpPr/>
          <p:nvPr/>
        </p:nvSpPr>
        <p:spPr>
          <a:xfrm>
            <a:off x="457200" y="1645920"/>
            <a:ext cx="82292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F1F5F9"/>
                </a:solidFill>
                <a:effectLst/>
                <a:uFillTx/>
                <a:latin typeface="Trebuchet MS"/>
                <a:ea typeface="Trebuchet MS"/>
              </a:rPr>
              <a:t>07  Engenharia de Requisitos</a:t>
            </a:r>
            <a:endParaRPr lang="pt-BR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Shape 0"/>
          <p:cNvSpPr/>
          <p:nvPr/>
        </p:nvSpPr>
        <p:spPr>
          <a:xfrm>
            <a:off x="0" y="0"/>
            <a:ext cx="9143640" cy="7272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" name="Shape 1"/>
          <p:cNvSpPr/>
          <p:nvPr/>
        </p:nvSpPr>
        <p:spPr>
          <a:xfrm>
            <a:off x="0" y="73080"/>
            <a:ext cx="9143640" cy="685440"/>
          </a:xfrm>
          <a:prstGeom prst="rect">
            <a:avLst/>
          </a:prstGeom>
          <a:solidFill>
            <a:srgbClr val="15253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2"/>
          <p:cNvSpPr/>
          <p:nvPr/>
        </p:nvSpPr>
        <p:spPr>
          <a:xfrm>
            <a:off x="320040" y="73080"/>
            <a:ext cx="85035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4B8A6"/>
                </a:solidFill>
                <a:effectLst/>
                <a:uFillTx/>
                <a:latin typeface="Trebuchet MS"/>
                <a:ea typeface="Trebuchet MS"/>
              </a:rPr>
              <a:t>Engenharia de Requisitos — Fundamentos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" name="Shape 3"/>
          <p:cNvSpPr/>
          <p:nvPr/>
        </p:nvSpPr>
        <p:spPr>
          <a:xfrm>
            <a:off x="4526280" y="914400"/>
            <a:ext cx="54360" cy="393156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4"/>
          <p:cNvSpPr/>
          <p:nvPr/>
        </p:nvSpPr>
        <p:spPr>
          <a:xfrm>
            <a:off x="320040" y="914400"/>
            <a:ext cx="40230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D9488"/>
                </a:solidFill>
                <a:effectLst/>
                <a:uFillTx/>
                <a:latin typeface="Trebuchet MS"/>
                <a:ea typeface="Trebuchet MS"/>
              </a:rPr>
              <a:t>Conceitos Básicos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5"/>
          <p:cNvSpPr/>
          <p:nvPr/>
        </p:nvSpPr>
        <p:spPr>
          <a:xfrm>
            <a:off x="4754880" y="914400"/>
            <a:ext cx="402300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0D9488"/>
                </a:solidFill>
                <a:effectLst/>
                <a:uFillTx/>
                <a:latin typeface="Trebuchet MS"/>
                <a:ea typeface="Trebuchet MS"/>
              </a:rPr>
              <a:t>Processo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6"/>
          <p:cNvSpPr/>
          <p:nvPr/>
        </p:nvSpPr>
        <p:spPr>
          <a:xfrm>
            <a:off x="320040" y="1298520"/>
            <a:ext cx="4023000" cy="366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300" b="1" u="none" strike="noStrike">
                <a:solidFill>
                  <a:srgbClr val="FCD34D"/>
                </a:solidFill>
                <a:effectLst/>
                <a:uFillTx/>
                <a:latin typeface="Calibri"/>
                <a:ea typeface="Calibri"/>
              </a:rPr>
              <a:t>O que são Requisitos?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Descrições do que o sistema deve fazer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Definem as condições que o software deve atender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300" b="1" u="none" strike="noStrike">
                <a:solidFill>
                  <a:srgbClr val="FCD34D"/>
                </a:solidFill>
                <a:effectLst/>
                <a:uFillTx/>
                <a:latin typeface="Calibri"/>
                <a:ea typeface="Calibri"/>
              </a:rPr>
              <a:t>Tipos: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Funcionais → O que o sistema faz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  Ex.: O sistema deve calcular o frete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Não-funcionais → Como ele se comporta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  Ex.: O tempo de resposta deve ser &lt; 2s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De domínio → Regras do negócio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  Ex.: Desconto máximo de 30%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7"/>
          <p:cNvSpPr/>
          <p:nvPr/>
        </p:nvSpPr>
        <p:spPr>
          <a:xfrm>
            <a:off x="4754880" y="1298520"/>
            <a:ext cx="4114440" cy="366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spcBef>
                <a:spcPts val="601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300" b="1" u="none" strike="noStrike">
                <a:solidFill>
                  <a:srgbClr val="FCD34D"/>
                </a:solidFill>
                <a:effectLst/>
                <a:uFillTx/>
                <a:latin typeface="Calibri"/>
                <a:ea typeface="Calibri"/>
              </a:rPr>
              <a:t>Por que Engenharia?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Requisitos mal definidos são a principal causa de fracasso em projetos de software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Atividades principais: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  Elicitação → levantar junto ao cliente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  Análise → identificar conflitos e lacunas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  Especificação → documentar formalmente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  Validação → confirmar com o cliente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  Gerenciamento → controlar mudanças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Shape 0"/>
          <p:cNvSpPr/>
          <p:nvPr/>
        </p:nvSpPr>
        <p:spPr>
          <a:xfrm>
            <a:off x="0" y="0"/>
            <a:ext cx="9143640" cy="7272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" name="Shape 1"/>
          <p:cNvSpPr/>
          <p:nvPr/>
        </p:nvSpPr>
        <p:spPr>
          <a:xfrm>
            <a:off x="0" y="73080"/>
            <a:ext cx="9143640" cy="685440"/>
          </a:xfrm>
          <a:prstGeom prst="rect">
            <a:avLst/>
          </a:prstGeom>
          <a:solidFill>
            <a:srgbClr val="15253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 2"/>
          <p:cNvSpPr/>
          <p:nvPr/>
        </p:nvSpPr>
        <p:spPr>
          <a:xfrm>
            <a:off x="320040" y="73080"/>
            <a:ext cx="85035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4B8A6"/>
                </a:solidFill>
                <a:effectLst/>
                <a:uFillTx/>
                <a:latin typeface="Trebuchet MS"/>
                <a:ea typeface="Trebuchet MS"/>
              </a:rPr>
              <a:t>Histórias de Usuário — Requisitos no XP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Shape 3"/>
          <p:cNvSpPr/>
          <p:nvPr/>
        </p:nvSpPr>
        <p:spPr>
          <a:xfrm>
            <a:off x="365760" y="896040"/>
            <a:ext cx="8412120" cy="776880"/>
          </a:xfrm>
          <a:prstGeom prst="rect">
            <a:avLst/>
          </a:prstGeom>
          <a:solidFill>
            <a:srgbClr val="152535"/>
          </a:solidFill>
          <a:ln w="1905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4"/>
          <p:cNvSpPr/>
          <p:nvPr/>
        </p:nvSpPr>
        <p:spPr>
          <a:xfrm>
            <a:off x="548640" y="914400"/>
            <a:ext cx="80463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CD34D"/>
                </a:solidFill>
                <a:effectLst/>
                <a:uFillTx/>
                <a:latin typeface="Calibri"/>
                <a:ea typeface="Calibri"/>
              </a:rPr>
              <a:t>Formato padrão: </a:t>
            </a: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"Como [tipo de usuário], eu quero [objetivo], para que [benefício]."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" name="Shape 5"/>
          <p:cNvSpPr/>
          <p:nvPr/>
        </p:nvSpPr>
        <p:spPr>
          <a:xfrm>
            <a:off x="365760" y="1828800"/>
            <a:ext cx="2697120" cy="3062880"/>
          </a:xfrm>
          <a:prstGeom prst="rect">
            <a:avLst/>
          </a:prstGeom>
          <a:solidFill>
            <a:srgbClr val="152535"/>
          </a:solidFill>
          <a:ln w="12700">
            <a:solidFill>
              <a:srgbClr val="0D9488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" name="Shape 6"/>
          <p:cNvSpPr/>
          <p:nvPr/>
        </p:nvSpPr>
        <p:spPr>
          <a:xfrm>
            <a:off x="365760" y="1828800"/>
            <a:ext cx="2697120" cy="36540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" name="Text 7"/>
          <p:cNvSpPr/>
          <p:nvPr/>
        </p:nvSpPr>
        <p:spPr>
          <a:xfrm>
            <a:off x="365760" y="1828800"/>
            <a:ext cx="26971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1F5F9"/>
                </a:solidFill>
                <a:effectLst/>
                <a:uFillTx/>
                <a:latin typeface="Trebuchet MS"/>
                <a:ea typeface="Trebuchet MS"/>
              </a:rPr>
              <a:t>H1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8"/>
          <p:cNvSpPr/>
          <p:nvPr/>
        </p:nvSpPr>
        <p:spPr>
          <a:xfrm>
            <a:off x="457200" y="2240280"/>
            <a:ext cx="25142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r>
              <a:rPr lang="en-US" sz="1200" b="1" u="none" strike="noStrike">
                <a:solidFill>
                  <a:srgbClr val="14B8A6"/>
                </a:solidFill>
                <a:effectLst/>
                <a:uFillTx/>
                <a:latin typeface="Calibri"/>
                <a:ea typeface="Calibri"/>
              </a:rPr>
              <a:t>Como cliente,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eu quero filtrar lojas por categoria,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para que encontrar rapidamente o que preciso.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Shape 9"/>
          <p:cNvSpPr/>
          <p:nvPr/>
        </p:nvSpPr>
        <p:spPr>
          <a:xfrm>
            <a:off x="365760" y="4316040"/>
            <a:ext cx="2697120" cy="484200"/>
          </a:xfrm>
          <a:prstGeom prst="rect">
            <a:avLst/>
          </a:prstGeom>
          <a:solidFill>
            <a:srgbClr val="0D1A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10"/>
          <p:cNvSpPr/>
          <p:nvPr/>
        </p:nvSpPr>
        <p:spPr>
          <a:xfrm>
            <a:off x="438840" y="4334400"/>
            <a:ext cx="255996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Prioridade: Alta   |   Custo: 2 sem</a:t>
            </a:r>
            <a:endParaRPr lang="pt-B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" name="Shape 11"/>
          <p:cNvSpPr/>
          <p:nvPr/>
        </p:nvSpPr>
        <p:spPr>
          <a:xfrm>
            <a:off x="3218760" y="1828800"/>
            <a:ext cx="2697120" cy="3062880"/>
          </a:xfrm>
          <a:prstGeom prst="rect">
            <a:avLst/>
          </a:prstGeom>
          <a:solidFill>
            <a:srgbClr val="152535"/>
          </a:solidFill>
          <a:ln w="12700">
            <a:solidFill>
              <a:srgbClr val="0D9488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1" name="Shape 12"/>
          <p:cNvSpPr/>
          <p:nvPr/>
        </p:nvSpPr>
        <p:spPr>
          <a:xfrm>
            <a:off x="3218760" y="1828800"/>
            <a:ext cx="2697120" cy="36540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 13"/>
          <p:cNvSpPr/>
          <p:nvPr/>
        </p:nvSpPr>
        <p:spPr>
          <a:xfrm>
            <a:off x="3218760" y="1828800"/>
            <a:ext cx="26971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1F5F9"/>
                </a:solidFill>
                <a:effectLst/>
                <a:uFillTx/>
                <a:latin typeface="Trebuchet MS"/>
                <a:ea typeface="Trebuchet MS"/>
              </a:rPr>
              <a:t>H2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" name="Text 14"/>
          <p:cNvSpPr/>
          <p:nvPr/>
        </p:nvSpPr>
        <p:spPr>
          <a:xfrm>
            <a:off x="3310200" y="2240280"/>
            <a:ext cx="25142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r>
              <a:rPr lang="en-US" sz="1200" b="1" u="none" strike="noStrike">
                <a:solidFill>
                  <a:srgbClr val="14B8A6"/>
                </a:solidFill>
                <a:effectLst/>
                <a:uFillTx/>
                <a:latin typeface="Calibri"/>
                <a:ea typeface="Calibri"/>
              </a:rPr>
              <a:t>Como lojista,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eu quero cadastrar meus produtos com foto,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para que minha loja fique visível no catálogo.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" name="Shape 15"/>
          <p:cNvSpPr/>
          <p:nvPr/>
        </p:nvSpPr>
        <p:spPr>
          <a:xfrm>
            <a:off x="3218760" y="4316040"/>
            <a:ext cx="2697120" cy="484200"/>
          </a:xfrm>
          <a:prstGeom prst="rect">
            <a:avLst/>
          </a:prstGeom>
          <a:solidFill>
            <a:srgbClr val="0D1A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 16"/>
          <p:cNvSpPr/>
          <p:nvPr/>
        </p:nvSpPr>
        <p:spPr>
          <a:xfrm>
            <a:off x="3291840" y="4334400"/>
            <a:ext cx="255996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Prioridade: Alta   |   Custo: 3 sem</a:t>
            </a:r>
            <a:endParaRPr lang="pt-B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" name="Shape 17"/>
          <p:cNvSpPr/>
          <p:nvPr/>
        </p:nvSpPr>
        <p:spPr>
          <a:xfrm>
            <a:off x="6071760" y="1828800"/>
            <a:ext cx="2697120" cy="3062880"/>
          </a:xfrm>
          <a:prstGeom prst="rect">
            <a:avLst/>
          </a:prstGeom>
          <a:solidFill>
            <a:srgbClr val="152535"/>
          </a:solidFill>
          <a:ln w="12700">
            <a:solidFill>
              <a:srgbClr val="0D9488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" name="Shape 18"/>
          <p:cNvSpPr/>
          <p:nvPr/>
        </p:nvSpPr>
        <p:spPr>
          <a:xfrm>
            <a:off x="6071760" y="1828800"/>
            <a:ext cx="2697120" cy="36540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8" name="Text 19"/>
          <p:cNvSpPr/>
          <p:nvPr/>
        </p:nvSpPr>
        <p:spPr>
          <a:xfrm>
            <a:off x="6071760" y="1828800"/>
            <a:ext cx="26971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1F5F9"/>
                </a:solidFill>
                <a:effectLst/>
                <a:uFillTx/>
                <a:latin typeface="Trebuchet MS"/>
                <a:ea typeface="Trebuchet MS"/>
              </a:rPr>
              <a:t>H3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20"/>
          <p:cNvSpPr/>
          <p:nvPr/>
        </p:nvSpPr>
        <p:spPr>
          <a:xfrm>
            <a:off x="6163200" y="2240280"/>
            <a:ext cx="25142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r>
              <a:rPr lang="en-US" sz="1200" b="1" u="none" strike="noStrike">
                <a:solidFill>
                  <a:srgbClr val="14B8A6"/>
                </a:solidFill>
                <a:effectLst/>
                <a:uFillTx/>
                <a:latin typeface="Calibri"/>
                <a:ea typeface="Calibri"/>
              </a:rPr>
              <a:t>Como visitante,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eu quero ver o horário de funcionamento,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para que saber se a loja está aberta antes de ir.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" name="Shape 21"/>
          <p:cNvSpPr/>
          <p:nvPr/>
        </p:nvSpPr>
        <p:spPr>
          <a:xfrm>
            <a:off x="6071760" y="4316040"/>
            <a:ext cx="2697120" cy="484200"/>
          </a:xfrm>
          <a:prstGeom prst="rect">
            <a:avLst/>
          </a:prstGeom>
          <a:solidFill>
            <a:srgbClr val="0D1A2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22"/>
          <p:cNvSpPr/>
          <p:nvPr/>
        </p:nvSpPr>
        <p:spPr>
          <a:xfrm>
            <a:off x="6144840" y="4334400"/>
            <a:ext cx="255996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Prioridade: Média   |   Custo: 1 sem</a:t>
            </a:r>
            <a:endParaRPr lang="pt-BR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Shape 0"/>
          <p:cNvSpPr/>
          <p:nvPr/>
        </p:nvSpPr>
        <p:spPr>
          <a:xfrm>
            <a:off x="0" y="0"/>
            <a:ext cx="9143640" cy="7272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" name="Shape 1"/>
          <p:cNvSpPr/>
          <p:nvPr/>
        </p:nvSpPr>
        <p:spPr>
          <a:xfrm>
            <a:off x="0" y="73080"/>
            <a:ext cx="9143640" cy="685440"/>
          </a:xfrm>
          <a:prstGeom prst="rect">
            <a:avLst/>
          </a:prstGeom>
          <a:solidFill>
            <a:srgbClr val="15253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2"/>
          <p:cNvSpPr/>
          <p:nvPr/>
        </p:nvSpPr>
        <p:spPr>
          <a:xfrm>
            <a:off x="320040" y="73080"/>
            <a:ext cx="85035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4B8A6"/>
                </a:solidFill>
                <a:effectLst/>
                <a:uFillTx/>
                <a:latin typeface="Trebuchet MS"/>
                <a:ea typeface="Trebuchet MS"/>
              </a:rPr>
              <a:t>Requisitos Formais vs. Histórias de Usuário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3"/>
          <p:cNvSpPr/>
          <p:nvPr/>
        </p:nvSpPr>
        <p:spPr>
          <a:xfrm>
            <a:off x="365760" y="914400"/>
            <a:ext cx="8412120" cy="393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 defTabSz="914400">
              <a:lnSpc>
                <a:spcPct val="100000"/>
              </a:lnSpc>
              <a:spcBef>
                <a:spcPts val="799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400" b="1" u="none" strike="noStrike">
                <a:solidFill>
                  <a:srgbClr val="FCD34D"/>
                </a:solidFill>
                <a:effectLst/>
                <a:uFillTx/>
                <a:latin typeface="Calibri"/>
                <a:ea typeface="Calibri"/>
              </a:rPr>
              <a:t>Requisito Formal (Engenharia de Requisitos tradicional):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685800" lvl="1" indent="-343080" defTabSz="914400">
              <a:lnSpc>
                <a:spcPct val="100000"/>
              </a:lnSpc>
              <a:spcAft>
                <a:spcPts val="400"/>
              </a:spcAft>
              <a:buClr>
                <a:srgbClr val="94A3B8"/>
              </a:buClr>
              <a:buFont typeface="Wingdings 3" charset="2"/>
              <a:buChar char=""/>
              <a:tabLst>
                <a:tab pos="0" algn="l"/>
              </a:tabLst>
            </a:pPr>
            <a:r>
              <a:rPr lang="en-US" sz="13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RF-03: O sistema deve permitir que usuários autenticados filtrem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685800" lvl="1" indent="-343080" defTabSz="914400">
              <a:lnSpc>
                <a:spcPct val="100000"/>
              </a:lnSpc>
              <a:spcAft>
                <a:spcPts val="400"/>
              </a:spcAft>
              <a:buClr>
                <a:srgbClr val="94A3B8"/>
              </a:buClr>
              <a:buFont typeface="Wingdings 3" charset="2"/>
              <a:buChar char=""/>
              <a:tabLst>
                <a:tab pos="0" algn="l"/>
              </a:tabLst>
            </a:pPr>
            <a:r>
              <a:rPr lang="en-US" sz="13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estabelecimentos por categoria, subcategoria e localização,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685800" lvl="1" indent="-343080" defTabSz="914400">
              <a:lnSpc>
                <a:spcPct val="100000"/>
              </a:lnSpc>
              <a:spcAft>
                <a:spcPts val="400"/>
              </a:spcAft>
              <a:buClr>
                <a:srgbClr val="94A3B8"/>
              </a:buClr>
              <a:buFont typeface="Wingdings 3" charset="2"/>
              <a:buChar char=""/>
              <a:tabLst>
                <a:tab pos="0" algn="l"/>
              </a:tabLst>
            </a:pPr>
            <a:r>
              <a:rPr lang="en-US" sz="13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retornando resultados em até 2 segundos.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799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400" b="1" u="none" strike="noStrike">
                <a:solidFill>
                  <a:srgbClr val="FCD34D"/>
                </a:solidFill>
                <a:effectLst/>
                <a:uFillTx/>
                <a:latin typeface="Calibri"/>
                <a:ea typeface="Calibri"/>
              </a:rPr>
              <a:t>História de Usuário (XP / Ágil):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685800" lvl="1" indent="-343080" defTabSz="914400">
              <a:lnSpc>
                <a:spcPct val="100000"/>
              </a:lnSpc>
              <a:spcAft>
                <a:spcPts val="400"/>
              </a:spcAft>
              <a:buClr>
                <a:srgbClr val="94A3B8"/>
              </a:buClr>
              <a:buFont typeface="Wingdings 3" charset="2"/>
              <a:buChar char=""/>
              <a:tabLst>
                <a:tab pos="0" algn="l"/>
              </a:tabLst>
            </a:pPr>
            <a:r>
              <a:rPr lang="en-US" sz="13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"Como cliente, eu quero filtrar lojas por categoria,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685800" lvl="1" indent="-343080" defTabSz="914400">
              <a:lnSpc>
                <a:spcPct val="100000"/>
              </a:lnSpc>
              <a:spcAft>
                <a:spcPts val="400"/>
              </a:spcAft>
              <a:buClr>
                <a:srgbClr val="94A3B8"/>
              </a:buClr>
              <a:buFont typeface="Wingdings 3" charset="2"/>
              <a:buChar char=""/>
              <a:tabLst>
                <a:tab pos="0" algn="l"/>
              </a:tabLst>
            </a:pPr>
            <a:r>
              <a:rPr lang="en-US" sz="13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para encontrar rapidamente o que preciso."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799"/>
              </a:spcBef>
              <a:spcAft>
                <a:spcPts val="400"/>
              </a:spcAft>
              <a:tabLst>
                <a:tab pos="0" algn="l"/>
              </a:tabLst>
            </a:pPr>
            <a:r>
              <a:rPr lang="en-US" sz="1400" b="1" u="none" strike="noStrike">
                <a:solidFill>
                  <a:srgbClr val="FCD34D"/>
                </a:solidFill>
                <a:effectLst/>
                <a:uFillTx/>
                <a:latin typeface="Calibri"/>
                <a:ea typeface="Calibri"/>
              </a:rPr>
              <a:t>Diferenças principais: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685800" lvl="1" indent="-343080" defTabSz="914400">
              <a:lnSpc>
                <a:spcPct val="100000"/>
              </a:lnSpc>
              <a:spcAft>
                <a:spcPts val="400"/>
              </a:spcAft>
              <a:buClr>
                <a:srgbClr val="94A3B8"/>
              </a:buClr>
              <a:buFont typeface="Wingdings 3" charset="2"/>
              <a:buChar char=""/>
              <a:tabLst>
                <a:tab pos="0" algn="l"/>
              </a:tabLst>
            </a:pPr>
            <a:r>
              <a:rPr lang="en-US" sz="13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Requisito formal → completo, preciso, técnico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685800" lvl="1" indent="-343080" defTabSz="914400">
              <a:lnSpc>
                <a:spcPct val="100000"/>
              </a:lnSpc>
              <a:spcAft>
                <a:spcPts val="400"/>
              </a:spcAft>
              <a:buClr>
                <a:srgbClr val="94A3B8"/>
              </a:buClr>
              <a:buFont typeface="Wingdings 3" charset="2"/>
              <a:buChar char=""/>
              <a:tabLst>
                <a:tab pos="0" algn="l"/>
              </a:tabLst>
            </a:pPr>
            <a:r>
              <a:rPr lang="en-US" sz="13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História de usuário → foco no valor, simples, conversacional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343080" indent="-343080" defTabSz="914400">
              <a:lnSpc>
                <a:spcPct val="100000"/>
              </a:lnSpc>
              <a:spcAft>
                <a:spcPts val="400"/>
              </a:spcAft>
              <a:buClr>
                <a:srgbClr val="F1F5F9"/>
              </a:buClr>
              <a:buFont typeface="Symbol" charset="2"/>
              <a:buChar char=""/>
              <a:tabLst>
                <a:tab pos="0" algn="l"/>
              </a:tabLst>
            </a:pPr>
            <a:r>
              <a:rPr lang="en-US" sz="14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No XP, os requisitos vivem nas histórias — mas a Eng. de Requisitos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685800" lvl="1" indent="-343080" defTabSz="914400">
              <a:lnSpc>
                <a:spcPct val="100000"/>
              </a:lnSpc>
              <a:spcAft>
                <a:spcPts val="400"/>
              </a:spcAft>
              <a:buClr>
                <a:srgbClr val="94A3B8"/>
              </a:buClr>
              <a:buFont typeface="Wingdings 3" charset="2"/>
              <a:buChar char=""/>
              <a:tabLst>
                <a:tab pos="0" algn="l"/>
              </a:tabLst>
            </a:pPr>
            <a:r>
              <a:rPr lang="en-US" sz="13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ajuda a torná-las mais completas e sem ambiguidades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" name="Shape 4"/>
          <p:cNvSpPr/>
          <p:nvPr/>
        </p:nvSpPr>
        <p:spPr>
          <a:xfrm>
            <a:off x="365760" y="4160520"/>
            <a:ext cx="8412120" cy="776880"/>
          </a:xfrm>
          <a:prstGeom prst="rect">
            <a:avLst/>
          </a:prstGeom>
          <a:solidFill>
            <a:srgbClr val="1C2D1F"/>
          </a:solidFill>
          <a:ln w="19050">
            <a:solidFill>
              <a:srgbClr val="F97316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5"/>
          <p:cNvSpPr/>
          <p:nvPr/>
        </p:nvSpPr>
        <p:spPr>
          <a:xfrm>
            <a:off x="502920" y="4187880"/>
            <a:ext cx="8137800" cy="71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F97316"/>
                </a:solidFill>
                <a:effectLst/>
                <a:uFillTx/>
                <a:latin typeface="Calibri"/>
                <a:ea typeface="Calibri"/>
              </a:rPr>
              <a:t>💬 Discussão: </a:t>
            </a:r>
            <a:r>
              <a:rPr lang="en-US" sz="125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Uma história de usuário pode ter requisitos não-funcionais? Como você expressaria "deve ser rápido" de forma mensurável?</a:t>
            </a:r>
            <a:endParaRPr lang="pt-BR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Shape 0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15253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" name="Shape 1"/>
          <p:cNvSpPr/>
          <p:nvPr/>
        </p:nvSpPr>
        <p:spPr>
          <a:xfrm>
            <a:off x="0" y="0"/>
            <a:ext cx="9143640" cy="109440"/>
          </a:xfrm>
          <a:prstGeom prst="rect">
            <a:avLst/>
          </a:prstGeom>
          <a:solidFill>
            <a:srgbClr val="FCD3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Shape 2"/>
          <p:cNvSpPr/>
          <p:nvPr/>
        </p:nvSpPr>
        <p:spPr>
          <a:xfrm>
            <a:off x="0" y="5029200"/>
            <a:ext cx="9143640" cy="109440"/>
          </a:xfrm>
          <a:prstGeom prst="rect">
            <a:avLst/>
          </a:prstGeom>
          <a:solidFill>
            <a:srgbClr val="FCD3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3"/>
          <p:cNvSpPr/>
          <p:nvPr/>
        </p:nvSpPr>
        <p:spPr>
          <a:xfrm>
            <a:off x="457200" y="1645920"/>
            <a:ext cx="822924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F1F5F9"/>
                </a:solidFill>
                <a:effectLst/>
                <a:uFillTx/>
                <a:latin typeface="Trebuchet MS"/>
                <a:ea typeface="Trebuchet MS"/>
              </a:rPr>
              <a:t>08  Projeto Prático</a:t>
            </a:r>
            <a:endParaRPr lang="pt-BR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Shape 0"/>
          <p:cNvSpPr/>
          <p:nvPr/>
        </p:nvSpPr>
        <p:spPr>
          <a:xfrm>
            <a:off x="0" y="0"/>
            <a:ext cx="9143640" cy="72720"/>
          </a:xfrm>
          <a:prstGeom prst="rect">
            <a:avLst/>
          </a:prstGeom>
          <a:solidFill>
            <a:srgbClr val="FCD3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Shape 1"/>
          <p:cNvSpPr/>
          <p:nvPr/>
        </p:nvSpPr>
        <p:spPr>
          <a:xfrm>
            <a:off x="0" y="73080"/>
            <a:ext cx="9143640" cy="685440"/>
          </a:xfrm>
          <a:prstGeom prst="rect">
            <a:avLst/>
          </a:prstGeom>
          <a:solidFill>
            <a:srgbClr val="15253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2"/>
          <p:cNvSpPr/>
          <p:nvPr/>
        </p:nvSpPr>
        <p:spPr>
          <a:xfrm>
            <a:off x="320040" y="73080"/>
            <a:ext cx="85035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CD34D"/>
                </a:solidFill>
                <a:effectLst/>
                <a:uFillTx/>
                <a:latin typeface="Trebuchet MS"/>
                <a:ea typeface="Trebuchet MS"/>
              </a:rPr>
              <a:t>Projeto Prático — Catálogo Comercial Local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" name="Shape 3"/>
          <p:cNvSpPr/>
          <p:nvPr/>
        </p:nvSpPr>
        <p:spPr>
          <a:xfrm>
            <a:off x="365760" y="914400"/>
            <a:ext cx="8412120" cy="959760"/>
          </a:xfrm>
          <a:prstGeom prst="rect">
            <a:avLst/>
          </a:prstGeom>
          <a:solidFill>
            <a:srgbClr val="1C1A00"/>
          </a:solidFill>
          <a:ln w="19050">
            <a:solidFill>
              <a:srgbClr val="FCD34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4"/>
          <p:cNvSpPr/>
          <p:nvPr/>
        </p:nvSpPr>
        <p:spPr>
          <a:xfrm>
            <a:off x="548640" y="941760"/>
            <a:ext cx="80463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CD34D"/>
                </a:solidFill>
                <a:effectLst/>
                <a:uFillTx/>
                <a:latin typeface="Calibri"/>
                <a:ea typeface="Calibri"/>
              </a:rPr>
              <a:t>Contexto: </a:t>
            </a: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Uma startup de Cachoeiro de Itapemirim quer criar um app de Catálogo Comercial Local — similar a um guia de cidades digital. O objetivo é conectar clientes a lojas e serviços da cidade.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5"/>
          <p:cNvSpPr/>
          <p:nvPr/>
        </p:nvSpPr>
        <p:spPr>
          <a:xfrm>
            <a:off x="365760" y="1938600"/>
            <a:ext cx="8412120" cy="30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r>
              <a:rPr lang="en-US" sz="1400" b="1" u="none" strike="noStrike">
                <a:solidFill>
                  <a:srgbClr val="14B8A6"/>
                </a:solidFill>
                <a:effectLst/>
                <a:uFillTx/>
                <a:latin typeface="Calibri"/>
                <a:ea typeface="Calibri"/>
              </a:rPr>
              <a:t>📋  Tarefa (em duplas — 15 minutos):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CD34D"/>
                </a:solidFill>
                <a:effectLst/>
                <a:uFillTx/>
                <a:latin typeface="Calibri"/>
                <a:ea typeface="Calibri"/>
              </a:rPr>
              <a:t>1.  </a:t>
            </a: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Escreva 3 Histórias de Usuário para o sistema. Use o formato padrão.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CD34D"/>
                </a:solidFill>
                <a:effectLst/>
                <a:uFillTx/>
                <a:latin typeface="Calibri"/>
                <a:ea typeface="Calibri"/>
              </a:rPr>
              <a:t>2.  </a:t>
            </a: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Para cada história, atribua: Prioridade (Alta/Média/Baixa) e Custo estimado (1–3 semanas).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CD34D"/>
                </a:solidFill>
                <a:effectLst/>
                <a:uFillTx/>
                <a:latin typeface="Calibri"/>
                <a:ea typeface="Calibri"/>
              </a:rPr>
              <a:t>3.  </a:t>
            </a: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Escolha a história de maior prioridade e escreva 2 Critérios de Aceitação (testes de aceitação).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97316"/>
                </a:solidFill>
                <a:effectLst/>
                <a:uFillTx/>
                <a:latin typeface="Calibri"/>
                <a:ea typeface="Calibri"/>
              </a:rPr>
              <a:t>🔧  Bônus: </a:t>
            </a:r>
            <a:r>
              <a:rPr lang="en-US" sz="12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Crie um Cartão CRC para a principal classe envolvida na história escolhida.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Shape 0"/>
          <p:cNvSpPr/>
          <p:nvPr/>
        </p:nvSpPr>
        <p:spPr>
          <a:xfrm>
            <a:off x="0" y="0"/>
            <a:ext cx="9143640" cy="72720"/>
          </a:xfrm>
          <a:prstGeom prst="rect">
            <a:avLst/>
          </a:prstGeom>
          <a:solidFill>
            <a:srgbClr val="FCD3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28080" rIns="90000" bIns="2808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Shape 1"/>
          <p:cNvSpPr/>
          <p:nvPr/>
        </p:nvSpPr>
        <p:spPr>
          <a:xfrm>
            <a:off x="0" y="73080"/>
            <a:ext cx="9143640" cy="685440"/>
          </a:xfrm>
          <a:prstGeom prst="rect">
            <a:avLst/>
          </a:prstGeom>
          <a:solidFill>
            <a:srgbClr val="15253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2"/>
          <p:cNvSpPr/>
          <p:nvPr/>
        </p:nvSpPr>
        <p:spPr>
          <a:xfrm>
            <a:off x="320040" y="73080"/>
            <a:ext cx="850356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CD34D"/>
                </a:solidFill>
                <a:effectLst/>
                <a:uFillTx/>
                <a:latin typeface="Trebuchet MS"/>
                <a:ea typeface="Trebuchet MS"/>
              </a:rPr>
              <a:t>Template — Cartão de História de Usuário</a:t>
            </a:r>
            <a:endParaRPr lang="pt-BR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" name="Shape 3"/>
          <p:cNvSpPr/>
          <p:nvPr/>
        </p:nvSpPr>
        <p:spPr>
          <a:xfrm>
            <a:off x="457200" y="914400"/>
            <a:ext cx="5028840" cy="3931560"/>
          </a:xfrm>
          <a:prstGeom prst="rect">
            <a:avLst/>
          </a:prstGeom>
          <a:solidFill>
            <a:srgbClr val="FFFDE7"/>
          </a:solidFill>
          <a:ln w="19050">
            <a:solidFill>
              <a:srgbClr val="CCC084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Shape 4"/>
          <p:cNvSpPr/>
          <p:nvPr/>
        </p:nvSpPr>
        <p:spPr>
          <a:xfrm>
            <a:off x="457200" y="914400"/>
            <a:ext cx="5028840" cy="50256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5"/>
          <p:cNvSpPr/>
          <p:nvPr/>
        </p:nvSpPr>
        <p:spPr>
          <a:xfrm>
            <a:off x="548640" y="914400"/>
            <a:ext cx="48459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1F5F9"/>
                </a:solidFill>
                <a:effectLst/>
                <a:uFillTx/>
                <a:latin typeface="Trebuchet MS"/>
                <a:ea typeface="Trebuchet MS"/>
              </a:rPr>
              <a:t>História de Usuário  #___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6"/>
          <p:cNvSpPr/>
          <p:nvPr/>
        </p:nvSpPr>
        <p:spPr>
          <a:xfrm>
            <a:off x="594360" y="1508760"/>
            <a:ext cx="4754520" cy="324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44400"/>
                </a:solidFill>
                <a:effectLst/>
                <a:uFillTx/>
                <a:latin typeface="Calibri"/>
                <a:ea typeface="Calibri"/>
              </a:rPr>
              <a:t>Como ________________________________,</a:t>
            </a: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44400"/>
                </a:solidFill>
                <a:effectLst/>
                <a:uFillTx/>
                <a:latin typeface="Calibri"/>
                <a:ea typeface="Calibri"/>
              </a:rPr>
              <a:t>eu quero ____________________________</a:t>
            </a: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44400"/>
                </a:solidFill>
                <a:effectLst/>
                <a:uFillTx/>
                <a:latin typeface="Calibri"/>
                <a:ea typeface="Calibri"/>
              </a:rPr>
              <a:t>____________________________________,</a:t>
            </a: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44400"/>
                </a:solidFill>
                <a:effectLst/>
                <a:uFillTx/>
                <a:latin typeface="Calibri"/>
                <a:ea typeface="Calibri"/>
              </a:rPr>
              <a:t>para que ____________________________</a:t>
            </a: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44400"/>
                </a:solidFill>
                <a:effectLst/>
                <a:uFillTx/>
                <a:latin typeface="Calibri"/>
                <a:ea typeface="Calibri"/>
              </a:rPr>
              <a:t>____________________________________.</a:t>
            </a: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44400"/>
                </a:solidFill>
                <a:effectLst/>
                <a:uFillTx/>
                <a:latin typeface="Calibri"/>
                <a:ea typeface="Calibri"/>
              </a:rPr>
              <a:t>──────────────────────────────</a:t>
            </a: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44400"/>
                </a:solidFill>
                <a:effectLst/>
                <a:uFillTx/>
                <a:latin typeface="Calibri"/>
                <a:ea typeface="Calibri"/>
              </a:rPr>
              <a:t>Prioridade:  [  ] Alta  [  ] Média  [  ] Baixa</a:t>
            </a: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44400"/>
                </a:solidFill>
                <a:effectLst/>
                <a:uFillTx/>
                <a:latin typeface="Calibri"/>
                <a:ea typeface="Calibri"/>
              </a:rPr>
              <a:t>Custo: _____ semanas</a:t>
            </a: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44400"/>
                </a:solidFill>
                <a:effectLst/>
                <a:uFillTx/>
                <a:latin typeface="Calibri"/>
                <a:ea typeface="Calibri"/>
              </a:rPr>
              <a:t>Critérios de Aceitação:</a:t>
            </a: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44400"/>
                </a:solidFill>
                <a:effectLst/>
                <a:uFillTx/>
                <a:latin typeface="Calibri"/>
                <a:ea typeface="Calibri"/>
              </a:rPr>
              <a:t>1. _________________________________</a:t>
            </a: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444400"/>
                </a:solidFill>
                <a:effectLst/>
                <a:uFillTx/>
                <a:latin typeface="Calibri"/>
                <a:ea typeface="Calibri"/>
              </a:rPr>
              <a:t>2. _________________________________</a:t>
            </a:r>
            <a:endParaRPr lang="pt-BR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 7"/>
          <p:cNvSpPr/>
          <p:nvPr/>
        </p:nvSpPr>
        <p:spPr>
          <a:xfrm>
            <a:off x="5760720" y="960120"/>
            <a:ext cx="3108600" cy="3931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r>
              <a:rPr lang="en-US" sz="1400" b="1" u="none" strike="noStrike">
                <a:solidFill>
                  <a:srgbClr val="14B8A6"/>
                </a:solidFill>
                <a:effectLst/>
                <a:uFillTx/>
                <a:latin typeface="Calibri"/>
                <a:ea typeface="Calibri"/>
              </a:rPr>
              <a:t>Dicas:</a:t>
            </a: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pt-BR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D9488"/>
                </a:solidFill>
                <a:effectLst/>
                <a:uFillTx/>
                <a:latin typeface="Calibri"/>
                <a:ea typeface="Calibri"/>
              </a:rPr>
              <a:t>• </a:t>
            </a: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Tipo de usuário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  ex: cliente, lojista, administrador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D9488"/>
                </a:solidFill>
                <a:effectLst/>
                <a:uFillTx/>
                <a:latin typeface="Calibri"/>
                <a:ea typeface="Calibri"/>
              </a:rPr>
              <a:t>• </a:t>
            </a: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Objetivo claro e específico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  evite "eu quero usar o sistema"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0D9488"/>
                </a:solidFill>
                <a:effectLst/>
                <a:uFillTx/>
                <a:latin typeface="Calibri"/>
                <a:ea typeface="Calibri"/>
              </a:rPr>
              <a:t>• </a:t>
            </a: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Benefício mensurável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  "para que eu economize tempo"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97316"/>
                </a:solidFill>
                <a:effectLst/>
                <a:uFillTx/>
                <a:latin typeface="Calibri"/>
                <a:ea typeface="Calibri"/>
              </a:rPr>
              <a:t>• </a:t>
            </a: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Critério de aceitação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  é o "teste do cliente" — deve ser verificável!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Shape 0"/>
          <p:cNvSpPr/>
          <p:nvPr/>
        </p:nvSpPr>
        <p:spPr>
          <a:xfrm>
            <a:off x="0" y="0"/>
            <a:ext cx="9143640" cy="5143320"/>
          </a:xfrm>
          <a:prstGeom prst="rect">
            <a:avLst/>
          </a:prstGeom>
          <a:solidFill>
            <a:srgbClr val="15253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Shape 1"/>
          <p:cNvSpPr/>
          <p:nvPr/>
        </p:nvSpPr>
        <p:spPr>
          <a:xfrm>
            <a:off x="0" y="0"/>
            <a:ext cx="9143640" cy="12780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" name="Shape 2"/>
          <p:cNvSpPr/>
          <p:nvPr/>
        </p:nvSpPr>
        <p:spPr>
          <a:xfrm>
            <a:off x="0" y="5010840"/>
            <a:ext cx="9143640" cy="12780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 3"/>
          <p:cNvSpPr/>
          <p:nvPr/>
        </p:nvSpPr>
        <p:spPr>
          <a:xfrm>
            <a:off x="457200" y="274320"/>
            <a:ext cx="82292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14B8A6"/>
                </a:solidFill>
                <a:effectLst/>
                <a:uFillTx/>
                <a:latin typeface="Trebuchet MS"/>
                <a:ea typeface="Trebuchet MS"/>
              </a:rPr>
              <a:t>Resumo da Aula</a:t>
            </a:r>
            <a:endParaRPr lang="pt-BR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Shape 4"/>
          <p:cNvSpPr/>
          <p:nvPr/>
        </p:nvSpPr>
        <p:spPr>
          <a:xfrm>
            <a:off x="365760" y="1097280"/>
            <a:ext cx="4023000" cy="776880"/>
          </a:xfrm>
          <a:prstGeom prst="rect">
            <a:avLst/>
          </a:prstGeom>
          <a:solidFill>
            <a:srgbClr val="0D1E2D"/>
          </a:solidFill>
          <a:ln w="12700">
            <a:solidFill>
              <a:srgbClr val="0D9488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5"/>
          <p:cNvSpPr/>
          <p:nvPr/>
        </p:nvSpPr>
        <p:spPr>
          <a:xfrm>
            <a:off x="457200" y="1097280"/>
            <a:ext cx="5482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🔄  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6"/>
          <p:cNvSpPr/>
          <p:nvPr/>
        </p:nvSpPr>
        <p:spPr>
          <a:xfrm>
            <a:off x="914400" y="1097280"/>
            <a:ext cx="33829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4B8A6"/>
                </a:solidFill>
                <a:effectLst/>
                <a:uFillTx/>
                <a:latin typeface="Calibri"/>
                <a:ea typeface="Calibri"/>
              </a:rPr>
              <a:t>Scrum  </a:t>
            </a:r>
            <a:r>
              <a:rPr lang="en-US" sz="13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Revisão de papéis, sprints e cerimônias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" name="Shape 7"/>
          <p:cNvSpPr/>
          <p:nvPr/>
        </p:nvSpPr>
        <p:spPr>
          <a:xfrm>
            <a:off x="4754880" y="1097280"/>
            <a:ext cx="4023000" cy="776880"/>
          </a:xfrm>
          <a:prstGeom prst="rect">
            <a:avLst/>
          </a:prstGeom>
          <a:solidFill>
            <a:srgbClr val="0D1E2D"/>
          </a:solidFill>
          <a:ln w="12700">
            <a:solidFill>
              <a:srgbClr val="0D9488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 8"/>
          <p:cNvSpPr/>
          <p:nvPr/>
        </p:nvSpPr>
        <p:spPr>
          <a:xfrm>
            <a:off x="4846320" y="1097280"/>
            <a:ext cx="5482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⚡  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9"/>
          <p:cNvSpPr/>
          <p:nvPr/>
        </p:nvSpPr>
        <p:spPr>
          <a:xfrm>
            <a:off x="5303520" y="1097280"/>
            <a:ext cx="33829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4B8A6"/>
                </a:solidFill>
                <a:effectLst/>
                <a:uFillTx/>
                <a:latin typeface="Calibri"/>
                <a:ea typeface="Calibri"/>
              </a:rPr>
              <a:t>XP  </a:t>
            </a:r>
            <a:r>
              <a:rPr lang="en-US" sz="13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Planejamento, KISS, CRC, TDD, Pares, Testes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6" name="Shape 10"/>
          <p:cNvSpPr/>
          <p:nvPr/>
        </p:nvSpPr>
        <p:spPr>
          <a:xfrm>
            <a:off x="365760" y="2011680"/>
            <a:ext cx="4023000" cy="776880"/>
          </a:xfrm>
          <a:prstGeom prst="rect">
            <a:avLst/>
          </a:prstGeom>
          <a:solidFill>
            <a:srgbClr val="0D1E2D"/>
          </a:solidFill>
          <a:ln w="12700">
            <a:solidFill>
              <a:srgbClr val="0D9488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11"/>
          <p:cNvSpPr/>
          <p:nvPr/>
        </p:nvSpPr>
        <p:spPr>
          <a:xfrm>
            <a:off x="457200" y="2011680"/>
            <a:ext cx="5482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📝  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12"/>
          <p:cNvSpPr/>
          <p:nvPr/>
        </p:nvSpPr>
        <p:spPr>
          <a:xfrm>
            <a:off x="914400" y="2011680"/>
            <a:ext cx="33829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4B8A6"/>
                </a:solidFill>
                <a:effectLst/>
                <a:uFillTx/>
                <a:latin typeface="Calibri"/>
                <a:ea typeface="Calibri"/>
              </a:rPr>
              <a:t>TDD  </a:t>
            </a:r>
            <a:r>
              <a:rPr lang="en-US" sz="13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Red → Green → Refactor: código testado desde o início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9" name="Shape 13"/>
          <p:cNvSpPr/>
          <p:nvPr/>
        </p:nvSpPr>
        <p:spPr>
          <a:xfrm>
            <a:off x="4754880" y="2011680"/>
            <a:ext cx="4023000" cy="776880"/>
          </a:xfrm>
          <a:prstGeom prst="rect">
            <a:avLst/>
          </a:prstGeom>
          <a:solidFill>
            <a:srgbClr val="0D1E2D"/>
          </a:solidFill>
          <a:ln w="12700">
            <a:solidFill>
              <a:srgbClr val="0D9488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 14"/>
          <p:cNvSpPr/>
          <p:nvPr/>
        </p:nvSpPr>
        <p:spPr>
          <a:xfrm>
            <a:off x="4846320" y="2011680"/>
            <a:ext cx="5482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🌿  </a:t>
            </a:r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 15"/>
          <p:cNvSpPr/>
          <p:nvPr/>
        </p:nvSpPr>
        <p:spPr>
          <a:xfrm>
            <a:off x="5303520" y="2011680"/>
            <a:ext cx="33829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4B8A6"/>
                </a:solidFill>
                <a:effectLst/>
                <a:uFillTx/>
                <a:latin typeface="Calibri"/>
                <a:ea typeface="Calibri"/>
              </a:rPr>
              <a:t>Git  </a:t>
            </a:r>
            <a:r>
              <a:rPr lang="en-US" sz="1300" b="0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init · add · commit · push + integração contínua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Shape 16"/>
          <p:cNvSpPr/>
          <p:nvPr/>
        </p:nvSpPr>
        <p:spPr>
          <a:xfrm>
            <a:off x="2560320" y="2926080"/>
            <a:ext cx="4023000" cy="776880"/>
          </a:xfrm>
          <a:prstGeom prst="rect">
            <a:avLst/>
          </a:prstGeom>
          <a:solidFill>
            <a:srgbClr val="0D1E2D"/>
          </a:solidFill>
          <a:ln w="12700">
            <a:solidFill>
              <a:srgbClr val="0D9488"/>
            </a:solidFill>
            <a:round/>
          </a:ln>
          <a:effectLst>
            <a:outerShdw algn="bl" blurRad="101520" dir="8100000" dist="37674" kx="0" ky="0" rotWithShape="0" sx="100000" sy="100000">
              <a:srgbClr val="000000">
                <a:alpha val="2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17"/>
          <p:cNvSpPr/>
          <p:nvPr/>
        </p:nvSpPr>
        <p:spPr>
          <a:xfrm>
            <a:off x="2651760" y="2926080"/>
            <a:ext cx="384012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F1F5F9"/>
                </a:solidFill>
                <a:effectLst/>
                <a:uFillTx/>
                <a:latin typeface="Calibri"/>
                <a:ea typeface="Calibri"/>
              </a:rPr>
              <a:t>📋  Requisitos  —  Histórias de Usuário conectam negócio e código</a:t>
            </a:r>
            <a:endParaRPr lang="pt-BR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18"/>
          <p:cNvSpPr/>
          <p:nvPr/>
        </p:nvSpPr>
        <p:spPr>
          <a:xfrm>
            <a:off x="457200" y="4526280"/>
            <a:ext cx="8229240" cy="34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i="1" u="none" strike="noStrike">
                <a:solidFill>
                  <a:srgbClr val="94A3B8"/>
                </a:solidFill>
                <a:effectLst/>
                <a:uFillTx/>
                <a:latin typeface="Calibri"/>
                <a:ea typeface="Calibri"/>
              </a:rPr>
              <a:t>Próxima Aula: Modelagem UML · Diagrama de Classes · Casos de Uso</a:t>
            </a:r>
            <a:endParaRPr lang="pt-B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</TotalTime>
  <Application>LibreOffice/26.2.2.2$Windows_X86_64 LibreOffice_project/1f77d10d6938fd34972958f64b2bcfa54f8b1ba5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2026-03-27T05:02:10Z</dcterms:created>
  <dc:creator>Prof. Emanoel</dc:creator>
  <dc:description/>
  <dc:language>pt-BR</dc:language>
  <cp:lastModifiedBy/>
  <dcterms:modified xsi:type="dcterms:W3CDTF">2026-04-02T20:02:32Z</dcterms:modified>
  <cp:revision>2</cp:revision>
  <dc:subject>PptxGenJS Presentation</dc:subject>
  <dc:title>Extreme Programming, Git e Engenharia de Requisitos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30</vt:i4>
  </property>
  <property fmtid="{D5CDD505-2E9C-101B-9397-08002B2CF9AE}" pid="3" name="PresentationFormat">
    <vt:lpwstr>On-screen Show (16:9)</vt:lpwstr>
  </property>
  <property fmtid="{D5CDD505-2E9C-101B-9397-08002B2CF9AE}" pid="4" name="Slides">
    <vt:i4>30</vt:i4>
  </property>
</Properties>
</file>