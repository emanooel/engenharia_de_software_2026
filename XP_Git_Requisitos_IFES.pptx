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ustom.xml" ContentType="application/vnd.openxmlformats-officedocument.custom-propertie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theme/theme1.xml" ContentType="application/vnd.openxmlformats-officedocument.theme+xml"/>
  <Override PartName="/ppt/theme/theme2.xml" ContentType="application/vnd.openxmlformats-officedocument.theme+xml"/>
  <Override PartName="/ppt/presentation.xml" ContentType="application/vnd.openxmlformats-officedocument.presentationml.presentation.main+xml"/>
  <Override PartName="/ppt/slides/slide18.xml" ContentType="application/vnd.openxmlformats-officedocument.presentationml.slide+xml"/>
  <Override PartName="/ppt/slides/slide1.xml" ContentType="application/vnd.openxmlformats-officedocument.presentationml.slide+xml"/>
  <Override PartName="/ppt/slides/slide20.xml" ContentType="application/vnd.openxmlformats-officedocument.presentationml.slide+xml"/>
  <Override PartName="/ppt/slides/slide2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22.xml" ContentType="application/vnd.openxmlformats-officedocument.presentationml.slide+xml"/>
  <Override PartName="/ppt/slides/slide5.xml" ContentType="application/vnd.openxmlformats-officedocument.presentationml.slide+xml"/>
  <Override PartName="/ppt/slides/slide23.xml" ContentType="application/vnd.openxmlformats-officedocument.presentationml.slide+xml"/>
  <Override PartName="/ppt/slides/slide6.xml" ContentType="application/vnd.openxmlformats-officedocument.presentationml.slide+xml"/>
  <Override PartName="/ppt/slides/slide24.xml" ContentType="application/vnd.openxmlformats-officedocument.presentationml.slide+xml"/>
  <Override PartName="/ppt/slides/slide7.xml" ContentType="application/vnd.openxmlformats-officedocument.presentationml.slide+xml"/>
  <Override PartName="/ppt/slides/slide25.xml" ContentType="application/vnd.openxmlformats-officedocument.presentationml.slide+xml"/>
  <Override PartName="/ppt/slides/slide11.xml" ContentType="application/vnd.openxmlformats-officedocument.presentationml.slide+xml"/>
  <Override PartName="/ppt/slides/slide8.xml" ContentType="application/vnd.openxmlformats-officedocument.presentationml.slide+xml"/>
  <Override PartName="/ppt/slides/slide26.xml" ContentType="application/vnd.openxmlformats-officedocument.presentationml.slide+xml"/>
  <Override PartName="/ppt/slides/slide10.xml" ContentType="application/vnd.openxmlformats-officedocument.presentationml.slide+xml"/>
  <Override PartName="/ppt/slides/slide9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9.xml" ContentType="application/vnd.openxmlformats-officedocument.presentationml.slide+xml"/>
  <Override PartName="/ppt/slides/slide27.xml" ContentType="application/vnd.openxmlformats-officedocument.presentationml.slide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slideLayouts/slideLayout1.xml" ContentType="application/vnd.openxmlformats-officedocument.presentationml.slideLayout+xml"/>
  <Override PartName="/ppt/presProps.xml" ContentType="application/vnd.openxmlformats-officedocument.presentationml.presProps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notesMasterIdLst>
    <p:notesMasterId r:id="rId3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  <p:sldId id="274" r:id="rId22"/>
    <p:sldId id="275" r:id="rId23"/>
    <p:sldId id="276" r:id="rId24"/>
    <p:sldId id="277" r:id="rId25"/>
    <p:sldId id="278" r:id="rId26"/>
    <p:sldId id="279" r:id="rId27"/>
    <p:sldId id="280" r:id="rId28"/>
    <p:sldId id="281" r:id="rId29"/>
    <p:sldId id="282" r:id="rId30"/>
  </p:sldIdLst>
  <p:sldSz cx="9144000" cy="5143500"/>
  <p:notesSz cx="5143500" cy="9144000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slide" Target="slides/slide13.xml"/><Relationship Id="rId17" Type="http://schemas.openxmlformats.org/officeDocument/2006/relationships/slide" Target="slides/slide14.xml"/><Relationship Id="rId18" Type="http://schemas.openxmlformats.org/officeDocument/2006/relationships/slide" Target="slides/slide15.xml"/><Relationship Id="rId19" Type="http://schemas.openxmlformats.org/officeDocument/2006/relationships/slide" Target="slides/slide16.xml"/><Relationship Id="rId20" Type="http://schemas.openxmlformats.org/officeDocument/2006/relationships/slide" Target="slides/slide17.xml"/><Relationship Id="rId21" Type="http://schemas.openxmlformats.org/officeDocument/2006/relationships/slide" Target="slides/slide18.xml"/><Relationship Id="rId22" Type="http://schemas.openxmlformats.org/officeDocument/2006/relationships/slide" Target="slides/slide19.xml"/><Relationship Id="rId23" Type="http://schemas.openxmlformats.org/officeDocument/2006/relationships/slide" Target="slides/slide20.xml"/><Relationship Id="rId24" Type="http://schemas.openxmlformats.org/officeDocument/2006/relationships/slide" Target="slides/slide21.xml"/><Relationship Id="rId25" Type="http://schemas.openxmlformats.org/officeDocument/2006/relationships/slide" Target="slides/slide22.xml"/><Relationship Id="rId26" Type="http://schemas.openxmlformats.org/officeDocument/2006/relationships/slide" Target="slides/slide23.xml"/><Relationship Id="rId27" Type="http://schemas.openxmlformats.org/officeDocument/2006/relationships/slide" Target="slides/slide24.xml"/><Relationship Id="rId28" Type="http://schemas.openxmlformats.org/officeDocument/2006/relationships/slide" Target="slides/slide25.xml"/><Relationship Id="rId29" Type="http://schemas.openxmlformats.org/officeDocument/2006/relationships/slide" Target="slides/slide26.xml"/><Relationship Id="rId30" Type="http://schemas.openxmlformats.org/officeDocument/2006/relationships/slide" Target="slides/slide27.xml"/><Relationship Id="rId31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r>
              <a:rPr lang="pt-BR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Clique para mover o slide</a:t>
            </a:r>
            <a:endParaRPr lang="pt-BR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r>
              <a:rPr lang="pt-B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de notas</a:t>
            </a:r>
            <a:endParaRPr lang="pt-B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r>
              <a: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" name="PlaceHolder 4"/>
          <p:cNvSpPr>
            <a:spLocks noGrp="1"/>
          </p:cNvSpPr>
          <p:nvPr>
            <p:ph type="dt" idx="1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buNone/>
              <a:def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r>
              <a: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" name="PlaceHolder 5"/>
          <p:cNvSpPr>
            <a:spLocks noGrp="1"/>
          </p:cNvSpPr>
          <p:nvPr>
            <p:ph type="ftr" idx="2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>
              <a:buNone/>
              <a:def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" name="PlaceHolder 6"/>
          <p:cNvSpPr>
            <a:spLocks noGrp="1"/>
          </p:cNvSpPr>
          <p:nvPr>
            <p:ph type="sldNum" idx="3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r">
              <a:buNone/>
              <a:def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fld id="{2F97FE6F-F155-4F97-966D-5C68D83FB1EF}" type="slidenum">
              <a: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1</a:t>
            </a:fld>
            <a:endParaRPr lang="pt-B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
</Relationships>
</file>

<file path=ppt/notesSlides/_rels/notesSlide2.xml.rels><?xml version="1.0" encoding="UTF-8"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
</Relationships>
</file>

<file path=ppt/notesSlides/_rels/notesSlide3.xml.rels><?xml version="1.0" encoding="UTF-8"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
</Relationships>
</file>

<file path=ppt/notesSlides/_rels/notesSlide4.xml.rels><?xml version="1.0" encoding="UTF-8"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
</Relationships>
</file>

<file path=ppt/notesSlides/_rels/notesSlide5.xml.rels><?xml version="1.0" encoding="UTF-8"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
</Relationships>
</file>

<file path=ppt/notesSlides/_rels/notesSlide6.xml.rels><?xml version="1.0" encoding="UTF-8"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
</Relationships>
</file>

<file path=ppt/notesSlides/_rels/notesSlide7.xml.rels><?xml version="1.0" encoding="UTF-8"?>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
</Relationships>
</file>

<file path=ppt/notesSlides/_rels/notesSlide8.xml.rels><?xml version="1.0" encoding="UTF-8"?>
<Relationships xmlns="http://schemas.openxmlformats.org/package/2006/relationships"><Relationship Id="rId1" Type="http://schemas.openxmlformats.org/officeDocument/2006/relationships/slide" Target="../slides/slide8.xml"/><Relationship Id="rId2" Type="http://schemas.openxmlformats.org/officeDocument/2006/relationships/notesMaster" Target="../notesMasters/notesMaster1.xml"/>
</Relationships>
</file>

<file path=ppt/notesSlides/_rels/notesSlide9.xml.rels><?xml version="1.0" encoding="UTF-8"?>
<Relationships xmlns="http://schemas.openxmlformats.org/package/2006/relationships"><Relationship Id="rId1" Type="http://schemas.openxmlformats.org/officeDocument/2006/relationships/slide" Target="../slides/slide9.xml"/><Relationship Id="rId2" Type="http://schemas.openxmlformats.org/officeDocument/2006/relationships/notesMaster" Target="../notesMasters/notesMaster1.xml"/>
</Relationships>
</file>

<file path=ppt/notesSlides/_rels/notesSlide10.xml.rels><?xml version="1.0" encoding="UTF-8"?>
<Relationships xmlns="http://schemas.openxmlformats.org/package/2006/relationships"><Relationship Id="rId1" Type="http://schemas.openxmlformats.org/officeDocument/2006/relationships/slide" Target="../slides/slide10.xml"/><Relationship Id="rId2" Type="http://schemas.openxmlformats.org/officeDocument/2006/relationships/notesMaster" Target="../notesMasters/notesMaster1.xml"/>
</Relationships>
</file>

<file path=ppt/notesSlides/_rels/notesSlide11.xml.rels><?xml version="1.0" encoding="UTF-8"?>
<Relationships xmlns="http://schemas.openxmlformats.org/package/2006/relationships"><Relationship Id="rId1" Type="http://schemas.openxmlformats.org/officeDocument/2006/relationships/slide" Target="../slides/slide11.xml"/><Relationship Id="rId2" Type="http://schemas.openxmlformats.org/officeDocument/2006/relationships/notesMaster" Target="../notesMasters/notesMaster1.xml"/>
</Relationships>
</file>

<file path=ppt/notesSlides/_rels/notesSlide12.xml.rels><?xml version="1.0" encoding="UTF-8"?>
<Relationships xmlns="http://schemas.openxmlformats.org/package/2006/relationships"><Relationship Id="rId1" Type="http://schemas.openxmlformats.org/officeDocument/2006/relationships/slide" Target="../slides/slide12.xml"/><Relationship Id="rId2" Type="http://schemas.openxmlformats.org/officeDocument/2006/relationships/notesMaster" Target="../notesMasters/notesMaster1.xml"/>
</Relationships>
</file>

<file path=ppt/notesSlides/_rels/notesSlide13.xml.rels><?xml version="1.0" encoding="UTF-8"?>
<Relationships xmlns="http://schemas.openxmlformats.org/package/2006/relationships"><Relationship Id="rId1" Type="http://schemas.openxmlformats.org/officeDocument/2006/relationships/slide" Target="../slides/slide13.xml"/><Relationship Id="rId2" Type="http://schemas.openxmlformats.org/officeDocument/2006/relationships/notesMaster" Target="../notesMasters/notesMaster1.xml"/>
</Relationships>
</file>

<file path=ppt/notesSlides/_rels/notesSlide14.xml.rels><?xml version="1.0" encoding="UTF-8"?>
<Relationships xmlns="http://schemas.openxmlformats.org/package/2006/relationships"><Relationship Id="rId1" Type="http://schemas.openxmlformats.org/officeDocument/2006/relationships/slide" Target="../slides/slide14.xml"/><Relationship Id="rId2" Type="http://schemas.openxmlformats.org/officeDocument/2006/relationships/notesMaster" Target="../notesMasters/notesMaster1.xml"/>
</Relationships>
</file>

<file path=ppt/notesSlides/_rels/notesSlide15.xml.rels><?xml version="1.0" encoding="UTF-8"?>
<Relationships xmlns="http://schemas.openxmlformats.org/package/2006/relationships"><Relationship Id="rId1" Type="http://schemas.openxmlformats.org/officeDocument/2006/relationships/slide" Target="../slides/slide15.xml"/><Relationship Id="rId2" Type="http://schemas.openxmlformats.org/officeDocument/2006/relationships/notesMaster" Target="../notesMasters/notesMaster1.xml"/>
</Relationships>
</file>

<file path=ppt/notesSlides/_rels/notesSlide16.xml.rels><?xml version="1.0" encoding="UTF-8"?>
<Relationships xmlns="http://schemas.openxmlformats.org/package/2006/relationships"><Relationship Id="rId1" Type="http://schemas.openxmlformats.org/officeDocument/2006/relationships/slide" Target="../slides/slide16.xml"/><Relationship Id="rId2" Type="http://schemas.openxmlformats.org/officeDocument/2006/relationships/notesMaster" Target="../notesMasters/notesMaster1.xml"/>
</Relationships>
</file>

<file path=ppt/notesSlides/_rels/notesSlide17.xml.rels><?xml version="1.0" encoding="UTF-8"?>
<Relationships xmlns="http://schemas.openxmlformats.org/package/2006/relationships"><Relationship Id="rId1" Type="http://schemas.openxmlformats.org/officeDocument/2006/relationships/slide" Target="../slides/slide17.xml"/><Relationship Id="rId2" Type="http://schemas.openxmlformats.org/officeDocument/2006/relationships/notesMaster" Target="../notesMasters/notesMaster1.xml"/>
</Relationships>
</file>

<file path=ppt/notesSlides/_rels/notesSlide18.xml.rels><?xml version="1.0" encoding="UTF-8"?>
<Relationships xmlns="http://schemas.openxmlformats.org/package/2006/relationships"><Relationship Id="rId1" Type="http://schemas.openxmlformats.org/officeDocument/2006/relationships/slide" Target="../slides/slide18.xml"/><Relationship Id="rId2" Type="http://schemas.openxmlformats.org/officeDocument/2006/relationships/notesMaster" Target="../notesMasters/notesMaster1.xml"/>
</Relationships>
</file>

<file path=ppt/notesSlides/_rels/notesSlide19.xml.rels><?xml version="1.0" encoding="UTF-8"?>
<Relationships xmlns="http://schemas.openxmlformats.org/package/2006/relationships"><Relationship Id="rId1" Type="http://schemas.openxmlformats.org/officeDocument/2006/relationships/slide" Target="../slides/slide19.xml"/><Relationship Id="rId2" Type="http://schemas.openxmlformats.org/officeDocument/2006/relationships/notesMaster" Target="../notesMasters/notesMaster1.xml"/>
</Relationships>
</file>

<file path=ppt/notesSlides/_rels/notesSlide20.xml.rels><?xml version="1.0" encoding="UTF-8"?>
<Relationships xmlns="http://schemas.openxmlformats.org/package/2006/relationships"><Relationship Id="rId1" Type="http://schemas.openxmlformats.org/officeDocument/2006/relationships/slide" Target="../slides/slide20.xml"/><Relationship Id="rId2" Type="http://schemas.openxmlformats.org/officeDocument/2006/relationships/notesMaster" Target="../notesMasters/notesMaster1.xml"/>
</Relationships>
</file>

<file path=ppt/notesSlides/_rels/notesSlide21.xml.rels><?xml version="1.0" encoding="UTF-8"?>
<Relationships xmlns="http://schemas.openxmlformats.org/package/2006/relationships"><Relationship Id="rId1" Type="http://schemas.openxmlformats.org/officeDocument/2006/relationships/slide" Target="../slides/slide21.xml"/><Relationship Id="rId2" Type="http://schemas.openxmlformats.org/officeDocument/2006/relationships/notesMaster" Target="../notesMasters/notesMaster1.xml"/>
</Relationships>
</file>

<file path=ppt/notesSlides/_rels/notesSlide22.xml.rels><?xml version="1.0" encoding="UTF-8"?>
<Relationships xmlns="http://schemas.openxmlformats.org/package/2006/relationships"><Relationship Id="rId1" Type="http://schemas.openxmlformats.org/officeDocument/2006/relationships/slide" Target="../slides/slide22.xml"/><Relationship Id="rId2" Type="http://schemas.openxmlformats.org/officeDocument/2006/relationships/notesMaster" Target="../notesMasters/notesMaster1.xml"/>
</Relationships>
</file>

<file path=ppt/notesSlides/_rels/notesSlide23.xml.rels><?xml version="1.0" encoding="UTF-8"?>
<Relationships xmlns="http://schemas.openxmlformats.org/package/2006/relationships"><Relationship Id="rId1" Type="http://schemas.openxmlformats.org/officeDocument/2006/relationships/slide" Target="../slides/slide23.xml"/><Relationship Id="rId2" Type="http://schemas.openxmlformats.org/officeDocument/2006/relationships/notesMaster" Target="../notesMasters/notesMaster1.xml"/>
</Relationships>
</file>

<file path=ppt/notesSlides/_rels/notesSlide24.xml.rels><?xml version="1.0" encoding="UTF-8"?>
<Relationships xmlns="http://schemas.openxmlformats.org/package/2006/relationships"><Relationship Id="rId1" Type="http://schemas.openxmlformats.org/officeDocument/2006/relationships/slide" Target="../slides/slide24.xml"/><Relationship Id="rId2" Type="http://schemas.openxmlformats.org/officeDocument/2006/relationships/notesMaster" Target="../notesMasters/notesMaster1.xml"/>
</Relationships>
</file>

<file path=ppt/notesSlides/_rels/notesSlide25.xml.rels><?xml version="1.0" encoding="UTF-8"?>
<Relationships xmlns="http://schemas.openxmlformats.org/package/2006/relationships"><Relationship Id="rId1" Type="http://schemas.openxmlformats.org/officeDocument/2006/relationships/slide" Target="../slides/slide25.xml"/><Relationship Id="rId2" Type="http://schemas.openxmlformats.org/officeDocument/2006/relationships/notesMaster" Target="../notesMasters/notesMaster1.xml"/>
</Relationships>
</file>

<file path=ppt/notesSlides/_rels/notesSlide26.xml.rels><?xml version="1.0" encoding="UTF-8"?>
<Relationships xmlns="http://schemas.openxmlformats.org/package/2006/relationships"><Relationship Id="rId1" Type="http://schemas.openxmlformats.org/officeDocument/2006/relationships/slide" Target="../slides/slide26.xml"/><Relationship Id="rId2" Type="http://schemas.openxmlformats.org/officeDocument/2006/relationships/notesMaster" Target="../notesMasters/notesMaster1.xml"/>
</Relationships>
</file>

<file path=ppt/notesSlides/_rels/notesSlide27.xml.rels><?xml version="1.0" encoding="UTF-8"?>
<Relationships xmlns="http://schemas.openxmlformats.org/package/2006/relationships"><Relationship Id="rId1" Type="http://schemas.openxmlformats.org/officeDocument/2006/relationships/slide" Target="../slides/slide27.xml"/>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3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8" name="PlaceHolder 3"/>
          <p:cNvSpPr>
            <a:spLocks noGrp="1"/>
          </p:cNvSpPr>
          <p:nvPr>
            <p:ph type="sldNum" idx="4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7F0EEE3A-E326-4B7F-850D-89FB06F02ECE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&lt;número&gt;</a:t>
            </a:fld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4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1" name="PlaceHolder 3"/>
          <p:cNvSpPr>
            <a:spLocks noGrp="1"/>
          </p:cNvSpPr>
          <p:nvPr>
            <p:ph type="sldNum" idx="5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91DBF90E-14FB-444F-A9A6-9CAE32617D4C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&lt;número&gt;</a:t>
            </a:fld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4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4" name="PlaceHolder 3"/>
          <p:cNvSpPr>
            <a:spLocks noGrp="1"/>
          </p:cNvSpPr>
          <p:nvPr>
            <p:ph type="sldNum" idx="6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BEBF3CBE-70E8-48EB-8AD0-DE288521C319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&lt;número&gt;</a:t>
            </a:fld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4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7" name="PlaceHolder 3"/>
          <p:cNvSpPr>
            <a:spLocks noGrp="1"/>
          </p:cNvSpPr>
          <p:nvPr>
            <p:ph type="sldNum" idx="7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A2182EDC-452D-49EA-94BF-61474206743A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&lt;número&gt;</a:t>
            </a:fld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4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0" name="PlaceHolder 3"/>
          <p:cNvSpPr>
            <a:spLocks noGrp="1"/>
          </p:cNvSpPr>
          <p:nvPr>
            <p:ph type="sldNum" idx="8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A8080E6C-8BC1-4976-8428-63D1C3AAD95A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&lt;número&gt;</a:t>
            </a:fld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5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3" name="PlaceHolder 3"/>
          <p:cNvSpPr>
            <a:spLocks noGrp="1"/>
          </p:cNvSpPr>
          <p:nvPr>
            <p:ph type="sldNum" idx="9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5F6F2267-DFC2-4E0E-B14B-A77AFD04F572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&lt;número&gt;</a:t>
            </a:fld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5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6" name="PlaceHolder 3"/>
          <p:cNvSpPr>
            <a:spLocks noGrp="1"/>
          </p:cNvSpPr>
          <p:nvPr>
            <p:ph type="sldNum" idx="10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B70B44AB-3875-4E19-9FD3-B3B6B5EFC142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&lt;número&gt;</a:t>
            </a:fld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5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9" name="PlaceHolder 3"/>
          <p:cNvSpPr>
            <a:spLocks noGrp="1"/>
          </p:cNvSpPr>
          <p:nvPr>
            <p:ph type="sldNum" idx="11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A5F6967E-863A-49F2-AA8A-0A124C7EC2A0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&lt;número&gt;</a:t>
            </a:fld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6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2" name="PlaceHolder 3"/>
          <p:cNvSpPr>
            <a:spLocks noGrp="1"/>
          </p:cNvSpPr>
          <p:nvPr>
            <p:ph type="sldNum" idx="12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AEAE3B50-1CB9-4A0B-8C8E-B93C783E64B7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&lt;número&gt;</a:t>
            </a:fld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6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5" name="PlaceHolder 3"/>
          <p:cNvSpPr>
            <a:spLocks noGrp="1"/>
          </p:cNvSpPr>
          <p:nvPr>
            <p:ph type="sldNum" idx="13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28C26634-3EEF-4826-AAD6-18622FF6692B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&lt;número&gt;</a:t>
            </a:fld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6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8" name="PlaceHolder 3"/>
          <p:cNvSpPr>
            <a:spLocks noGrp="1"/>
          </p:cNvSpPr>
          <p:nvPr>
            <p:ph type="sldNum" idx="14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1E8A23E1-1C89-443D-9FD6-0D96B3FD77E0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&lt;número&gt;</a:t>
            </a:fld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7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1" name="PlaceHolder 3"/>
          <p:cNvSpPr>
            <a:spLocks noGrp="1"/>
          </p:cNvSpPr>
          <p:nvPr>
            <p:ph type="sldNum" idx="15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91CE695D-68C0-4D34-BF08-29D914F1BDF0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&lt;número&gt;</a:t>
            </a:fld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7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4" name="PlaceHolder 3"/>
          <p:cNvSpPr>
            <a:spLocks noGrp="1"/>
          </p:cNvSpPr>
          <p:nvPr>
            <p:ph type="sldNum" idx="16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3FB94D1F-BDAE-4BF0-B69E-C558ED4E4CFB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&lt;número&gt;</a:t>
            </a:fld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7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7" name="PlaceHolder 3"/>
          <p:cNvSpPr>
            <a:spLocks noGrp="1"/>
          </p:cNvSpPr>
          <p:nvPr>
            <p:ph type="sldNum" idx="17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5DC3CD02-A136-47CB-AE22-2680E5BCEF33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&lt;número&gt;</a:t>
            </a:fld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7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0" name="PlaceHolder 3"/>
          <p:cNvSpPr>
            <a:spLocks noGrp="1"/>
          </p:cNvSpPr>
          <p:nvPr>
            <p:ph type="sldNum" idx="18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CEDAEF4A-466B-4CF5-9363-9A187902DB2E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&lt;número&gt;</a:t>
            </a:fld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8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3" name="PlaceHolder 3"/>
          <p:cNvSpPr>
            <a:spLocks noGrp="1"/>
          </p:cNvSpPr>
          <p:nvPr>
            <p:ph type="sldNum" idx="19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3BBE2454-0768-4333-BD76-7CB06B328587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&lt;número&gt;</a:t>
            </a:fld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8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6" name="PlaceHolder 3"/>
          <p:cNvSpPr>
            <a:spLocks noGrp="1"/>
          </p:cNvSpPr>
          <p:nvPr>
            <p:ph type="sldNum" idx="20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FA5D8EA9-CC8C-4BE0-A3A4-1C9CF642EA8E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&lt;número&gt;</a:t>
            </a:fld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8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9" name="PlaceHolder 3"/>
          <p:cNvSpPr>
            <a:spLocks noGrp="1"/>
          </p:cNvSpPr>
          <p:nvPr>
            <p:ph type="sldNum" idx="21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EFB061E7-1642-4D77-BA98-931BC779B906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&lt;número&gt;</a:t>
            </a:fld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9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2" name="PlaceHolder 3"/>
          <p:cNvSpPr>
            <a:spLocks noGrp="1"/>
          </p:cNvSpPr>
          <p:nvPr>
            <p:ph type="sldNum" idx="22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2196278E-173D-4A20-88D5-75F33568E10C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&lt;número&gt;</a:t>
            </a:fld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9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5" name="PlaceHolder 3"/>
          <p:cNvSpPr>
            <a:spLocks noGrp="1"/>
          </p:cNvSpPr>
          <p:nvPr>
            <p:ph type="sldNum" idx="23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DDD5B1EA-01FE-468D-BB6C-F6DDC03D306E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&lt;número&gt;</a:t>
            </a:fld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9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8" name="PlaceHolder 3"/>
          <p:cNvSpPr>
            <a:spLocks noGrp="1"/>
          </p:cNvSpPr>
          <p:nvPr>
            <p:ph type="sldNum" idx="24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16DD1847-96B1-43F8-BD75-19E7E0FC25BA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&lt;número&gt;</a:t>
            </a:fld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0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1" name="PlaceHolder 3"/>
          <p:cNvSpPr>
            <a:spLocks noGrp="1"/>
          </p:cNvSpPr>
          <p:nvPr>
            <p:ph type="sldNum" idx="25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677000BD-C85A-4AA8-A671-AC48F6C57B7B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&lt;número&gt;</a:t>
            </a:fld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0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4" name="PlaceHolder 3"/>
          <p:cNvSpPr>
            <a:spLocks noGrp="1"/>
          </p:cNvSpPr>
          <p:nvPr>
            <p:ph type="sldNum" idx="26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D07EBED8-45B9-4EB0-AE0A-B7CADED31C1D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&lt;número&gt;</a:t>
            </a:fld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0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7" name="PlaceHolder 3"/>
          <p:cNvSpPr>
            <a:spLocks noGrp="1"/>
          </p:cNvSpPr>
          <p:nvPr>
            <p:ph type="sldNum" idx="27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D9DBE90B-8734-486E-8354-4E366F7BCE38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&lt;número&gt;</a:t>
            </a:fld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0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0" name="PlaceHolder 3"/>
          <p:cNvSpPr>
            <a:spLocks noGrp="1"/>
          </p:cNvSpPr>
          <p:nvPr>
            <p:ph type="sldNum" idx="28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361E8CE3-B638-4A78-8E59-C6AFC2DF6D7C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&lt;número&gt;</a:t>
            </a:fld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1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3" name="PlaceHolder 3"/>
          <p:cNvSpPr>
            <a:spLocks noGrp="1"/>
          </p:cNvSpPr>
          <p:nvPr>
            <p:ph type="sldNum" idx="29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A7B7E98F-DD6D-45B5-B5C6-25CCC342A415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&lt;número&gt;</a:t>
            </a:fld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1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6" name="PlaceHolder 3"/>
          <p:cNvSpPr>
            <a:spLocks noGrp="1"/>
          </p:cNvSpPr>
          <p:nvPr>
            <p:ph type="sldNum" idx="30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9416FBB2-20B6-4D87-A167-67B066017200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&lt;número&gt;</a:t>
            </a:fld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lang="pt-BR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Clique para editar o formato do texto do título</a:t>
            </a:r>
            <a:endParaRPr lang="pt-BR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Clique para editar o formato de texto dos tópicos</a:t>
            </a:r>
            <a:endParaRPr lang="pt-BR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pt-BR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2.º nível de tópicos</a:t>
            </a:r>
            <a:endParaRPr lang="pt-BR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3.º nível de tópicos</a:t>
            </a:r>
            <a:endParaRPr lang="pt-BR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pt-BR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4.º nível de tópicos</a:t>
            </a:r>
            <a:endParaRPr lang="pt-BR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5.º nível de tópicos</a:t>
            </a:r>
            <a:endParaRPr lang="pt-BR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6.º nível de tópicos</a:t>
            </a:r>
            <a:endParaRPr lang="pt-BR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7.º nível de tópicos</a:t>
            </a:r>
            <a:endParaRPr lang="pt-BR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
</Relationships>
</file>

<file path=ppt/slides/_rels/slide1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
</Relationships>
</file>

<file path=ppt/slides/_rels/slide1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
</Relationships>
</file>

<file path=ppt/slides/_rels/slide1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
</Relationships>
</file>

<file path=ppt/slides/_rels/slide1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
</Relationships>
</file>

<file path=ppt/slides/_rels/slide2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
</Relationships>
</file>

<file path=ppt/slides/_rels/slide2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
</Relationships>
</file>

<file path=ppt/slides/_rels/slide2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
</Relationships>
</file>

<file path=ppt/slides/_rels/slide2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
</Relationships>
</file>

<file path=ppt/slides/_rels/slide2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
</Relationships>
</file>

<file path=ppt/slides/_rels/slide2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
</Relationships>
</file>

<file path=ppt/slides/_rels/slide2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
</Relationships>
</file>

<file path=ppt/slides/_rels/slide2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f19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hape 0"/>
          <p:cNvSpPr/>
          <p:nvPr/>
        </p:nvSpPr>
        <p:spPr>
          <a:xfrm>
            <a:off x="0" y="0"/>
            <a:ext cx="182520" cy="5143320"/>
          </a:xfrm>
          <a:prstGeom prst="rect">
            <a:avLst/>
          </a:prstGeom>
          <a:solidFill>
            <a:srgbClr val="0d948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" name="Shape 1"/>
          <p:cNvSpPr/>
          <p:nvPr/>
        </p:nvSpPr>
        <p:spPr>
          <a:xfrm>
            <a:off x="182880" y="4023360"/>
            <a:ext cx="8960760" cy="1096920"/>
          </a:xfrm>
          <a:prstGeom prst="rect">
            <a:avLst/>
          </a:prstGeom>
          <a:solidFill>
            <a:srgbClr val="152535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" name="Shape 2"/>
          <p:cNvSpPr/>
          <p:nvPr/>
        </p:nvSpPr>
        <p:spPr>
          <a:xfrm>
            <a:off x="6858000" y="914400"/>
            <a:ext cx="2102760" cy="2377080"/>
          </a:xfrm>
          <a:prstGeom prst="rect">
            <a:avLst/>
          </a:prstGeom>
          <a:solidFill>
            <a:srgbClr val="152535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" name="Shape 3"/>
          <p:cNvSpPr/>
          <p:nvPr/>
        </p:nvSpPr>
        <p:spPr>
          <a:xfrm>
            <a:off x="7315200" y="640080"/>
            <a:ext cx="1828440" cy="914040"/>
          </a:xfrm>
          <a:prstGeom prst="rect">
            <a:avLst/>
          </a:prstGeom>
          <a:solidFill>
            <a:srgbClr val="0d9488"/>
          </a:solidFill>
          <a:ln w="0">
            <a:noFill/>
          </a:ln>
          <a:effectLst>
            <a:outerShdw algn="bl" blurRad="101520" dir="8100000" dist="37674" kx="0" ky="0" rotWithShape="0" sx="100000" sy="100000">
              <a:srgbClr val="000000">
                <a:alpha val="2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" name="Text 4"/>
          <p:cNvSpPr/>
          <p:nvPr/>
        </p:nvSpPr>
        <p:spPr>
          <a:xfrm>
            <a:off x="457200" y="457200"/>
            <a:ext cx="64004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400" b="1" u="none" strike="noStrike">
                <a:solidFill>
                  <a:srgbClr val="0d9488"/>
                </a:solidFill>
                <a:effectLst/>
                <a:uFillTx/>
                <a:latin typeface="Calibri"/>
                <a:ea typeface="Calibri"/>
              </a:rPr>
              <a:t>Engenharia de Software</a:t>
            </a:r>
            <a:endParaRPr lang="pt-BR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" name="Text 5"/>
          <p:cNvSpPr/>
          <p:nvPr/>
        </p:nvSpPr>
        <p:spPr>
          <a:xfrm>
            <a:off x="457200" y="1005840"/>
            <a:ext cx="6217560" cy="2377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3200" b="1" u="none" strike="noStrike">
                <a:solidFill>
                  <a:srgbClr val="f1f5f9"/>
                </a:solidFill>
                <a:effectLst/>
                <a:uFillTx/>
                <a:latin typeface="Trebuchet MS"/>
                <a:ea typeface="Trebuchet MS"/>
              </a:rPr>
              <a:t>Extreme Programming</a:t>
            </a:r>
            <a:endParaRPr lang="pt-BR" sz="3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3200" b="1" u="none" strike="noStrike">
                <a:solidFill>
                  <a:srgbClr val="f1f5f9"/>
                </a:solidFill>
                <a:effectLst/>
                <a:uFillTx/>
                <a:latin typeface="Trebuchet MS"/>
                <a:ea typeface="Trebuchet MS"/>
              </a:rPr>
              <a:t>Git &amp; Versionamento</a:t>
            </a:r>
            <a:endParaRPr lang="pt-BR" sz="3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3200" b="1" u="none" strike="noStrike">
                <a:solidFill>
                  <a:srgbClr val="f1f5f9"/>
                </a:solidFill>
                <a:effectLst/>
                <a:uFillTx/>
                <a:latin typeface="Trebuchet MS"/>
                <a:ea typeface="Trebuchet MS"/>
              </a:rPr>
              <a:t>Engenharia de Requisitos</a:t>
            </a:r>
            <a:endParaRPr lang="pt-BR" sz="3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" name="Text 6"/>
          <p:cNvSpPr/>
          <p:nvPr/>
        </p:nvSpPr>
        <p:spPr>
          <a:xfrm>
            <a:off x="457200" y="3520440"/>
            <a:ext cx="640044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400" b="0" u="none" strike="noStrike">
                <a:solidFill>
                  <a:srgbClr val="14b8a6"/>
                </a:solidFill>
                <a:effectLst/>
                <a:uFillTx/>
                <a:latin typeface="Calibri"/>
                <a:ea typeface="Calibri"/>
              </a:rPr>
              <a:t>XP · TDD · CRC · Git · Histórias de Usuário</a:t>
            </a:r>
            <a:endParaRPr lang="pt-BR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" name="Text 7"/>
          <p:cNvSpPr/>
          <p:nvPr/>
        </p:nvSpPr>
        <p:spPr>
          <a:xfrm>
            <a:off x="457200" y="4480560"/>
            <a:ext cx="54860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100" b="0" u="none" strike="noStrike">
                <a:solidFill>
                  <a:srgbClr val="94a3b8"/>
                </a:solidFill>
                <a:effectLst/>
                <a:uFillTx/>
                <a:latin typeface="Calibri"/>
                <a:ea typeface="Calibri"/>
              </a:rPr>
              <a:t>IFES – Cachoeiro de Itapemirim  |  2026</a:t>
            </a:r>
            <a:endParaRPr lang="pt-BR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f19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Shape 0"/>
          <p:cNvSpPr/>
          <p:nvPr/>
        </p:nvSpPr>
        <p:spPr>
          <a:xfrm>
            <a:off x="0" y="0"/>
            <a:ext cx="9143640" cy="72720"/>
          </a:xfrm>
          <a:prstGeom prst="rect">
            <a:avLst/>
          </a:prstGeom>
          <a:solidFill>
            <a:srgbClr val="0d948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28080" bIns="28080" anchor="t">
            <a:noAutofit/>
          </a:bodyPr>
          <a:p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" name="Shape 1"/>
          <p:cNvSpPr/>
          <p:nvPr/>
        </p:nvSpPr>
        <p:spPr>
          <a:xfrm>
            <a:off x="0" y="73080"/>
            <a:ext cx="9143640" cy="685440"/>
          </a:xfrm>
          <a:prstGeom prst="rect">
            <a:avLst/>
          </a:prstGeom>
          <a:solidFill>
            <a:srgbClr val="152535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" name="Text 2"/>
          <p:cNvSpPr/>
          <p:nvPr/>
        </p:nvSpPr>
        <p:spPr>
          <a:xfrm>
            <a:off x="320040" y="73080"/>
            <a:ext cx="850356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2000" b="1" u="none" strike="noStrike">
                <a:solidFill>
                  <a:srgbClr val="14b8a6"/>
                </a:solidFill>
                <a:effectLst/>
                <a:uFillTx/>
                <a:latin typeface="Trebuchet MS"/>
                <a:ea typeface="Trebuchet MS"/>
              </a:rPr>
              <a:t>Agenda da Aula</a:t>
            </a:r>
            <a:endParaRPr lang="pt-BR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" name="Text 3"/>
          <p:cNvSpPr/>
          <p:nvPr/>
        </p:nvSpPr>
        <p:spPr>
          <a:xfrm>
            <a:off x="365760" y="914400"/>
            <a:ext cx="8412120" cy="3931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marL="343080" indent="-343080" defTabSz="914400">
              <a:lnSpc>
                <a:spcPct val="100000"/>
              </a:lnSpc>
              <a:spcAft>
                <a:spcPts val="400"/>
              </a:spcAft>
              <a:buClr>
                <a:srgbClr val="f1f5f9"/>
              </a:buClr>
              <a:buFont typeface="Symbol" charset="2"/>
              <a:buChar char=""/>
            </a:pPr>
            <a:r>
              <a:rPr lang="en-US" sz="1400" b="0" u="none" strike="noStrike">
                <a:solidFill>
                  <a:srgbClr val="f1f5f9"/>
                </a:solidFill>
                <a:effectLst/>
                <a:uFillTx/>
                <a:latin typeface="Calibri"/>
                <a:ea typeface="Calibri"/>
              </a:rPr>
              <a:t>01  Revisão do Scrum</a:t>
            </a:r>
            <a:endParaRPr lang="pt-BR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400"/>
              </a:spcAft>
              <a:buClr>
                <a:srgbClr val="f1f5f9"/>
              </a:buClr>
              <a:buFont typeface="Symbol" charset="2"/>
              <a:buChar char=""/>
            </a:pPr>
            <a:r>
              <a:rPr lang="en-US" sz="1400" b="0" u="none" strike="noStrike">
                <a:solidFill>
                  <a:srgbClr val="f1f5f9"/>
                </a:solidFill>
                <a:effectLst/>
                <a:uFillTx/>
                <a:latin typeface="Calibri"/>
                <a:ea typeface="Calibri"/>
              </a:rPr>
              <a:t>02  O Framework XP — Visão Geral</a:t>
            </a:r>
            <a:endParaRPr lang="pt-BR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400"/>
              </a:spcAft>
              <a:buClr>
                <a:srgbClr val="f1f5f9"/>
              </a:buClr>
              <a:buFont typeface="Symbol" charset="2"/>
              <a:buChar char=""/>
            </a:pPr>
            <a:r>
              <a:rPr lang="en-US" sz="1400" b="0" u="none" strike="noStrike">
                <a:solidFill>
                  <a:srgbClr val="f1f5f9"/>
                </a:solidFill>
                <a:effectLst/>
                <a:uFillTx/>
                <a:latin typeface="Calibri"/>
                <a:ea typeface="Calibri"/>
              </a:rPr>
              <a:t>03  XP: Planejamento &amp; Histórias de Usuário</a:t>
            </a:r>
            <a:endParaRPr lang="pt-BR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400"/>
              </a:spcAft>
              <a:buClr>
                <a:srgbClr val="f1f5f9"/>
              </a:buClr>
              <a:buFont typeface="Symbol" charset="2"/>
              <a:buChar char=""/>
            </a:pPr>
            <a:r>
              <a:rPr lang="en-US" sz="1400" b="0" u="none" strike="noStrike">
                <a:solidFill>
                  <a:srgbClr val="f1f5f9"/>
                </a:solidFill>
                <a:effectLst/>
                <a:uFillTx/>
                <a:latin typeface="Calibri"/>
                <a:ea typeface="Calibri"/>
              </a:rPr>
              <a:t>04  XP: Projeto — KISS e Cartões CRC</a:t>
            </a:r>
            <a:endParaRPr lang="pt-BR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400"/>
              </a:spcAft>
              <a:buClr>
                <a:srgbClr val="f1f5f9"/>
              </a:buClr>
              <a:buFont typeface="Symbol" charset="2"/>
              <a:buChar char=""/>
            </a:pPr>
            <a:r>
              <a:rPr lang="en-US" sz="1400" b="0" u="none" strike="noStrike">
                <a:solidFill>
                  <a:srgbClr val="f1f5f9"/>
                </a:solidFill>
                <a:effectLst/>
                <a:uFillTx/>
                <a:latin typeface="Calibri"/>
                <a:ea typeface="Calibri"/>
              </a:rPr>
              <a:t>05  XP: Codificação — TDD e Programação em Pares</a:t>
            </a:r>
            <a:endParaRPr lang="pt-BR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400"/>
              </a:spcAft>
              <a:buClr>
                <a:srgbClr val="f1f5f9"/>
              </a:buClr>
              <a:buFont typeface="Symbol" charset="2"/>
              <a:buChar char=""/>
            </a:pPr>
            <a:r>
              <a:rPr lang="en-US" sz="1400" b="0" u="none" strike="noStrike">
                <a:solidFill>
                  <a:srgbClr val="f1f5f9"/>
                </a:solidFill>
                <a:effectLst/>
                <a:uFillTx/>
                <a:latin typeface="Calibri"/>
                <a:ea typeface="Calibri"/>
              </a:rPr>
              <a:t>06  XP: Testes de Unidade e Aceitação</a:t>
            </a:r>
            <a:endParaRPr lang="pt-BR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400"/>
              </a:spcAft>
              <a:buClr>
                <a:srgbClr val="f1f5f9"/>
              </a:buClr>
              <a:buFont typeface="Symbol" charset="2"/>
              <a:buChar char=""/>
            </a:pPr>
            <a:r>
              <a:rPr lang="en-US" sz="1400" b="0" u="none" strike="noStrike">
                <a:solidFill>
                  <a:srgbClr val="f1f5f9"/>
                </a:solidFill>
                <a:effectLst/>
                <a:uFillTx/>
                <a:latin typeface="Calibri"/>
                <a:ea typeface="Calibri"/>
              </a:rPr>
              <a:t>07  Versionamento com Git</a:t>
            </a:r>
            <a:endParaRPr lang="pt-BR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400"/>
              </a:spcAft>
              <a:buClr>
                <a:srgbClr val="f1f5f9"/>
              </a:buClr>
              <a:buFont typeface="Symbol" charset="2"/>
              <a:buChar char=""/>
            </a:pPr>
            <a:r>
              <a:rPr lang="en-US" sz="1400" b="0" u="none" strike="noStrike">
                <a:solidFill>
                  <a:srgbClr val="f1f5f9"/>
                </a:solidFill>
                <a:effectLst/>
                <a:uFillTx/>
                <a:latin typeface="Calibri"/>
                <a:ea typeface="Calibri"/>
              </a:rPr>
              <a:t>08  Engenharia de Requisitos</a:t>
            </a:r>
            <a:endParaRPr lang="pt-BR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400"/>
              </a:spcAft>
              <a:buClr>
                <a:srgbClr val="f1f5f9"/>
              </a:buClr>
              <a:buFont typeface="Symbol" charset="2"/>
              <a:buChar char=""/>
            </a:pPr>
            <a:r>
              <a:rPr lang="en-US" sz="1400" b="0" u="none" strike="noStrike">
                <a:solidFill>
                  <a:srgbClr val="f1f5f9"/>
                </a:solidFill>
                <a:effectLst/>
                <a:uFillTx/>
                <a:latin typeface="Calibri"/>
                <a:ea typeface="Calibri"/>
              </a:rPr>
              <a:t>09  Projeto Prático — Catálogo Comercial Local</a:t>
            </a:r>
            <a:endParaRPr lang="pt-BR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f19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Shape 0"/>
          <p:cNvSpPr/>
          <p:nvPr/>
        </p:nvSpPr>
        <p:spPr>
          <a:xfrm>
            <a:off x="0" y="0"/>
            <a:ext cx="9143640" cy="5143320"/>
          </a:xfrm>
          <a:prstGeom prst="rect">
            <a:avLst/>
          </a:prstGeom>
          <a:solidFill>
            <a:srgbClr val="152535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" name="Shape 1"/>
          <p:cNvSpPr/>
          <p:nvPr/>
        </p:nvSpPr>
        <p:spPr>
          <a:xfrm>
            <a:off x="0" y="0"/>
            <a:ext cx="9143640" cy="109440"/>
          </a:xfrm>
          <a:prstGeom prst="rect">
            <a:avLst/>
          </a:prstGeom>
          <a:solidFill>
            <a:srgbClr val="0d948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4" name="Shape 2"/>
          <p:cNvSpPr/>
          <p:nvPr/>
        </p:nvSpPr>
        <p:spPr>
          <a:xfrm>
            <a:off x="0" y="5029200"/>
            <a:ext cx="9143640" cy="109440"/>
          </a:xfrm>
          <a:prstGeom prst="rect">
            <a:avLst/>
          </a:prstGeom>
          <a:solidFill>
            <a:srgbClr val="0d948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5" name="Text 3"/>
          <p:cNvSpPr/>
          <p:nvPr/>
        </p:nvSpPr>
        <p:spPr>
          <a:xfrm>
            <a:off x="457200" y="1645920"/>
            <a:ext cx="8229240" cy="1828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4000" b="1" u="none" strike="noStrike">
                <a:solidFill>
                  <a:srgbClr val="f1f5f9"/>
                </a:solidFill>
                <a:effectLst/>
                <a:uFillTx/>
                <a:latin typeface="Trebuchet MS"/>
                <a:ea typeface="Trebuchet MS"/>
              </a:rPr>
              <a:t>01  Revisão do Scrum</a:t>
            </a:r>
            <a:endParaRPr lang="pt-BR" sz="4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f19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Shape 0"/>
          <p:cNvSpPr/>
          <p:nvPr/>
        </p:nvSpPr>
        <p:spPr>
          <a:xfrm>
            <a:off x="0" y="0"/>
            <a:ext cx="9143640" cy="72720"/>
          </a:xfrm>
          <a:prstGeom prst="rect">
            <a:avLst/>
          </a:prstGeom>
          <a:solidFill>
            <a:srgbClr val="0d948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28080" bIns="28080" anchor="t">
            <a:noAutofit/>
          </a:bodyPr>
          <a:p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7" name="Shape 1"/>
          <p:cNvSpPr/>
          <p:nvPr/>
        </p:nvSpPr>
        <p:spPr>
          <a:xfrm>
            <a:off x="0" y="73080"/>
            <a:ext cx="9143640" cy="685440"/>
          </a:xfrm>
          <a:prstGeom prst="rect">
            <a:avLst/>
          </a:prstGeom>
          <a:solidFill>
            <a:srgbClr val="152535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8" name="Text 2"/>
          <p:cNvSpPr/>
          <p:nvPr/>
        </p:nvSpPr>
        <p:spPr>
          <a:xfrm>
            <a:off x="320040" y="73080"/>
            <a:ext cx="850356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2000" b="1" u="none" strike="noStrike">
                <a:solidFill>
                  <a:srgbClr val="14b8a6"/>
                </a:solidFill>
                <a:effectLst/>
                <a:uFillTx/>
                <a:latin typeface="Trebuchet MS"/>
                <a:ea typeface="Trebuchet MS"/>
              </a:rPr>
              <a:t>Revisão Rápida — Scrum</a:t>
            </a:r>
            <a:endParaRPr lang="pt-BR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9" name="Shape 3"/>
          <p:cNvSpPr/>
          <p:nvPr/>
        </p:nvSpPr>
        <p:spPr>
          <a:xfrm>
            <a:off x="4526280" y="914400"/>
            <a:ext cx="54360" cy="3931560"/>
          </a:xfrm>
          <a:prstGeom prst="rect">
            <a:avLst/>
          </a:prstGeom>
          <a:solidFill>
            <a:srgbClr val="0d948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0" name="Text 4"/>
          <p:cNvSpPr/>
          <p:nvPr/>
        </p:nvSpPr>
        <p:spPr>
          <a:xfrm>
            <a:off x="320040" y="914400"/>
            <a:ext cx="402300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400" b="1" u="none" strike="noStrike">
                <a:solidFill>
                  <a:srgbClr val="0d9488"/>
                </a:solidFill>
                <a:effectLst/>
                <a:uFillTx/>
                <a:latin typeface="Trebuchet MS"/>
                <a:ea typeface="Trebuchet MS"/>
              </a:rPr>
              <a:t>Pilares Principais</a:t>
            </a:r>
            <a:endParaRPr lang="pt-BR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1" name="Text 5"/>
          <p:cNvSpPr/>
          <p:nvPr/>
        </p:nvSpPr>
        <p:spPr>
          <a:xfrm>
            <a:off x="4754880" y="914400"/>
            <a:ext cx="402300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400" b="1" u="none" strike="noStrike">
                <a:solidFill>
                  <a:srgbClr val="0d9488"/>
                </a:solidFill>
                <a:effectLst/>
                <a:uFillTx/>
                <a:latin typeface="Trebuchet MS"/>
                <a:ea typeface="Trebuchet MS"/>
              </a:rPr>
              <a:t>Métricas e Qualidade</a:t>
            </a:r>
            <a:endParaRPr lang="pt-BR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2" name="Text 6"/>
          <p:cNvSpPr/>
          <p:nvPr/>
        </p:nvSpPr>
        <p:spPr>
          <a:xfrm>
            <a:off x="320040" y="1298520"/>
            <a:ext cx="4023000" cy="3661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marL="343080" indent="-343080" defTabSz="914400">
              <a:lnSpc>
                <a:spcPct val="100000"/>
              </a:lnSpc>
              <a:spcAft>
                <a:spcPts val="400"/>
              </a:spcAft>
              <a:buClr>
                <a:srgbClr val="f1f5f9"/>
              </a:buClr>
              <a:buFont typeface="Symbol" charset="2"/>
              <a:buChar char=""/>
            </a:pPr>
            <a:r>
              <a:rPr lang="en-US" sz="1300" b="0" u="none" strike="noStrike">
                <a:solidFill>
                  <a:srgbClr val="f1f5f9"/>
                </a:solidFill>
                <a:effectLst/>
                <a:uFillTx/>
                <a:latin typeface="Calibri"/>
                <a:ea typeface="Calibri"/>
              </a:rPr>
              <a:t>Framework ágil baseado em sprints (1–4 semanas)</a:t>
            </a:r>
            <a:endParaRPr lang="pt-BR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400"/>
              </a:spcAft>
              <a:buClr>
                <a:srgbClr val="f1f5f9"/>
              </a:buClr>
              <a:buFont typeface="Symbol" charset="2"/>
              <a:buChar char=""/>
            </a:pPr>
            <a:r>
              <a:rPr lang="en-US" sz="1300" b="0" u="none" strike="noStrike">
                <a:solidFill>
                  <a:srgbClr val="f1f5f9"/>
                </a:solidFill>
                <a:effectLst/>
                <a:uFillTx/>
                <a:latin typeface="Calibri"/>
                <a:ea typeface="Calibri"/>
              </a:rPr>
              <a:t>Papéis: Product Owner, Scrum Master, Dev Team</a:t>
            </a:r>
            <a:endParaRPr lang="pt-BR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400"/>
              </a:spcAft>
              <a:buClr>
                <a:srgbClr val="f1f5f9"/>
              </a:buClr>
              <a:buFont typeface="Symbol" charset="2"/>
              <a:buChar char=""/>
            </a:pPr>
            <a:r>
              <a:rPr lang="en-US" sz="1300" b="0" u="none" strike="noStrike">
                <a:solidFill>
                  <a:srgbClr val="f1f5f9"/>
                </a:solidFill>
                <a:effectLst/>
                <a:uFillTx/>
                <a:latin typeface="Calibri"/>
                <a:ea typeface="Calibri"/>
              </a:rPr>
              <a:t>Artefatos: Product Backlog, Sprint Backlog, Incremento</a:t>
            </a:r>
            <a:endParaRPr lang="pt-BR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400"/>
              </a:spcAft>
              <a:buClr>
                <a:srgbClr val="f1f5f9"/>
              </a:buClr>
              <a:buFont typeface="Symbol" charset="2"/>
              <a:buChar char=""/>
            </a:pPr>
            <a:r>
              <a:rPr lang="en-US" sz="1300" b="0" u="none" strike="noStrike">
                <a:solidFill>
                  <a:srgbClr val="f1f5f9"/>
                </a:solidFill>
                <a:effectLst/>
                <a:uFillTx/>
                <a:latin typeface="Calibri"/>
                <a:ea typeface="Calibri"/>
              </a:rPr>
              <a:t>Cerimônias: Planning, Daily, Review, Retrospectiva</a:t>
            </a:r>
            <a:endParaRPr lang="pt-BR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400"/>
              </a:spcAft>
              <a:buClr>
                <a:srgbClr val="f1f5f9"/>
              </a:buClr>
              <a:buFont typeface="Symbol" charset="2"/>
              <a:buChar char=""/>
            </a:pPr>
            <a:r>
              <a:rPr lang="en-US" sz="1300" b="0" u="none" strike="noStrike">
                <a:solidFill>
                  <a:srgbClr val="f1f5f9"/>
                </a:solidFill>
                <a:effectLst/>
                <a:uFillTx/>
                <a:latin typeface="Calibri"/>
                <a:ea typeface="Calibri"/>
              </a:rPr>
              <a:t>Entrega incremental e contínua de valor</a:t>
            </a:r>
            <a:endParaRPr lang="pt-BR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3" name="Text 7"/>
          <p:cNvSpPr/>
          <p:nvPr/>
        </p:nvSpPr>
        <p:spPr>
          <a:xfrm>
            <a:off x="4754880" y="1298520"/>
            <a:ext cx="4114440" cy="3661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marL="343080" indent="-343080" defTabSz="914400">
              <a:lnSpc>
                <a:spcPct val="100000"/>
              </a:lnSpc>
              <a:spcAft>
                <a:spcPts val="400"/>
              </a:spcAft>
              <a:buClr>
                <a:srgbClr val="f1f5f9"/>
              </a:buClr>
              <a:buFont typeface="Symbol" charset="2"/>
              <a:buChar char=""/>
            </a:pPr>
            <a:r>
              <a:rPr lang="en-US" sz="1300" b="0" u="none" strike="noStrike">
                <a:solidFill>
                  <a:srgbClr val="f1f5f9"/>
                </a:solidFill>
                <a:effectLst/>
                <a:uFillTx/>
                <a:latin typeface="Calibri"/>
                <a:ea typeface="Calibri"/>
              </a:rPr>
              <a:t>Velocidade medida em Story Points</a:t>
            </a:r>
            <a:endParaRPr lang="pt-BR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400"/>
              </a:spcAft>
              <a:buClr>
                <a:srgbClr val="f1f5f9"/>
              </a:buClr>
              <a:buFont typeface="Symbol" charset="2"/>
              <a:buChar char=""/>
            </a:pPr>
            <a:r>
              <a:rPr lang="en-US" sz="1300" b="0" u="none" strike="noStrike">
                <a:solidFill>
                  <a:srgbClr val="f1f5f9"/>
                </a:solidFill>
                <a:effectLst/>
                <a:uFillTx/>
                <a:latin typeface="Calibri"/>
                <a:ea typeface="Calibri"/>
              </a:rPr>
              <a:t>Backlog priorizado pelo Product Owner</a:t>
            </a:r>
            <a:endParaRPr lang="pt-BR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400"/>
              </a:spcAft>
              <a:buClr>
                <a:srgbClr val="f1f5f9"/>
              </a:buClr>
              <a:buFont typeface="Symbol" charset="2"/>
              <a:buChar char=""/>
            </a:pPr>
            <a:r>
              <a:rPr lang="en-US" sz="1300" b="0" u="none" strike="noStrike">
                <a:solidFill>
                  <a:srgbClr val="f1f5f9"/>
                </a:solidFill>
                <a:effectLst/>
                <a:uFillTx/>
                <a:latin typeface="Calibri"/>
                <a:ea typeface="Calibri"/>
              </a:rPr>
              <a:t>Definition of Done garante qualidade</a:t>
            </a:r>
            <a:endParaRPr lang="pt-BR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400"/>
              </a:spcAft>
              <a:buClr>
                <a:srgbClr val="f1f5f9"/>
              </a:buClr>
              <a:buFont typeface="Symbol" charset="2"/>
              <a:buChar char=""/>
            </a:pPr>
            <a:r>
              <a:rPr lang="en-US" sz="1300" b="0" u="none" strike="noStrike">
                <a:solidFill>
                  <a:srgbClr val="f1f5f9"/>
                </a:solidFill>
                <a:effectLst/>
                <a:uFillTx/>
                <a:latin typeface="Calibri"/>
                <a:ea typeface="Calibri"/>
              </a:rPr>
              <a:t>Transparência, Inspeção e Adaptação</a:t>
            </a:r>
            <a:endParaRPr lang="pt-BR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400"/>
              </a:spcAft>
              <a:buClr>
                <a:srgbClr val="f1f5f9"/>
              </a:buClr>
              <a:buFont typeface="Symbol" charset="2"/>
              <a:buChar char=""/>
            </a:pPr>
            <a:r>
              <a:rPr lang="en-US" sz="1300" b="0" u="none" strike="noStrike">
                <a:solidFill>
                  <a:srgbClr val="f1f5f9"/>
                </a:solidFill>
                <a:effectLst/>
                <a:uFillTx/>
                <a:latin typeface="Calibri"/>
                <a:ea typeface="Calibri"/>
              </a:rPr>
              <a:t>Burndown chart monitora progresso</a:t>
            </a:r>
            <a:endParaRPr lang="pt-BR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4" name="Shape 8"/>
          <p:cNvSpPr/>
          <p:nvPr/>
        </p:nvSpPr>
        <p:spPr>
          <a:xfrm>
            <a:off x="365760" y="4160520"/>
            <a:ext cx="8412120" cy="776880"/>
          </a:xfrm>
          <a:prstGeom prst="rect">
            <a:avLst/>
          </a:prstGeom>
          <a:solidFill>
            <a:srgbClr val="1c2d1f"/>
          </a:solidFill>
          <a:ln w="19050">
            <a:solidFill>
              <a:srgbClr val="f97316"/>
            </a:solidFill>
            <a:round/>
          </a:ln>
          <a:effectLst>
            <a:outerShdw algn="bl" blurRad="101520" dir="8100000" dist="37674" kx="0" ky="0" rotWithShape="0" sx="100000" sy="100000">
              <a:srgbClr val="000000">
                <a:alpha val="2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5" name="Text 9"/>
          <p:cNvSpPr/>
          <p:nvPr/>
        </p:nvSpPr>
        <p:spPr>
          <a:xfrm>
            <a:off x="502920" y="4187880"/>
            <a:ext cx="8137800" cy="712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250" b="1" u="none" strike="noStrike">
                <a:solidFill>
                  <a:srgbClr val="f97316"/>
                </a:solidFill>
                <a:effectLst/>
                <a:uFillTx/>
                <a:latin typeface="Calibri"/>
                <a:ea typeface="Calibri"/>
              </a:rPr>
              <a:t>💬 Discussão: </a:t>
            </a:r>
            <a:r>
              <a:rPr lang="en-US" sz="1250" b="0" u="none" strike="noStrike">
                <a:solidFill>
                  <a:srgbClr val="f1f5f9"/>
                </a:solidFill>
                <a:effectLst/>
                <a:uFillTx/>
                <a:latin typeface="Calibri"/>
                <a:ea typeface="Calibri"/>
              </a:rPr>
              <a:t>Em qual aspecto do Scrum vocês tiveram mais dificuldade ao estudar na aula passada?</a:t>
            </a:r>
            <a:endParaRPr lang="pt-BR" sz="12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f19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Shape 0"/>
          <p:cNvSpPr/>
          <p:nvPr/>
        </p:nvSpPr>
        <p:spPr>
          <a:xfrm>
            <a:off x="0" y="0"/>
            <a:ext cx="9143640" cy="5143320"/>
          </a:xfrm>
          <a:prstGeom prst="rect">
            <a:avLst/>
          </a:prstGeom>
          <a:solidFill>
            <a:srgbClr val="152535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7" name="Shape 1"/>
          <p:cNvSpPr/>
          <p:nvPr/>
        </p:nvSpPr>
        <p:spPr>
          <a:xfrm>
            <a:off x="0" y="0"/>
            <a:ext cx="9143640" cy="109440"/>
          </a:xfrm>
          <a:prstGeom prst="rect">
            <a:avLst/>
          </a:prstGeom>
          <a:solidFill>
            <a:srgbClr val="0d948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8" name="Shape 2"/>
          <p:cNvSpPr/>
          <p:nvPr/>
        </p:nvSpPr>
        <p:spPr>
          <a:xfrm>
            <a:off x="0" y="5029200"/>
            <a:ext cx="9143640" cy="109440"/>
          </a:xfrm>
          <a:prstGeom prst="rect">
            <a:avLst/>
          </a:prstGeom>
          <a:solidFill>
            <a:srgbClr val="0d948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9" name="Text 3"/>
          <p:cNvSpPr/>
          <p:nvPr/>
        </p:nvSpPr>
        <p:spPr>
          <a:xfrm>
            <a:off x="457200" y="1645920"/>
            <a:ext cx="8229240" cy="1828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4000" b="1" u="none" strike="noStrike">
                <a:solidFill>
                  <a:srgbClr val="f1f5f9"/>
                </a:solidFill>
                <a:effectLst/>
                <a:uFillTx/>
                <a:latin typeface="Trebuchet MS"/>
                <a:ea typeface="Trebuchet MS"/>
              </a:rPr>
              <a:t>02  Extreme Programming (XP)</a:t>
            </a:r>
            <a:endParaRPr lang="pt-BR" sz="4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f19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Shape 0"/>
          <p:cNvSpPr/>
          <p:nvPr/>
        </p:nvSpPr>
        <p:spPr>
          <a:xfrm>
            <a:off x="0" y="0"/>
            <a:ext cx="9143640" cy="72720"/>
          </a:xfrm>
          <a:prstGeom prst="rect">
            <a:avLst/>
          </a:prstGeom>
          <a:solidFill>
            <a:srgbClr val="0d948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28080" bIns="28080" anchor="t">
            <a:noAutofit/>
          </a:bodyPr>
          <a:p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1" name="Shape 1"/>
          <p:cNvSpPr/>
          <p:nvPr/>
        </p:nvSpPr>
        <p:spPr>
          <a:xfrm>
            <a:off x="0" y="73080"/>
            <a:ext cx="9143640" cy="685440"/>
          </a:xfrm>
          <a:prstGeom prst="rect">
            <a:avLst/>
          </a:prstGeom>
          <a:solidFill>
            <a:srgbClr val="152535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2" name="Text 2"/>
          <p:cNvSpPr/>
          <p:nvPr/>
        </p:nvSpPr>
        <p:spPr>
          <a:xfrm>
            <a:off x="320040" y="73080"/>
            <a:ext cx="850356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2000" b="1" u="none" strike="noStrike">
                <a:solidFill>
                  <a:srgbClr val="14b8a6"/>
                </a:solidFill>
                <a:effectLst/>
                <a:uFillTx/>
                <a:latin typeface="Trebuchet MS"/>
                <a:ea typeface="Trebuchet MS"/>
              </a:rPr>
              <a:t>XP — O que é?</a:t>
            </a:r>
            <a:endParaRPr lang="pt-BR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3" name="Text 3"/>
          <p:cNvSpPr/>
          <p:nvPr/>
        </p:nvSpPr>
        <p:spPr>
          <a:xfrm>
            <a:off x="365760" y="914400"/>
            <a:ext cx="8412120" cy="3931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marL="343080" indent="-343080" defTabSz="914400">
              <a:lnSpc>
                <a:spcPct val="100000"/>
              </a:lnSpc>
              <a:spcAft>
                <a:spcPts val="400"/>
              </a:spcAft>
              <a:buClr>
                <a:srgbClr val="f1f5f9"/>
              </a:buClr>
              <a:buFont typeface="Symbol" charset="2"/>
              <a:buChar char=""/>
            </a:pPr>
            <a:r>
              <a:rPr lang="en-US" sz="1400" b="0" u="none" strike="noStrike">
                <a:solidFill>
                  <a:srgbClr val="f1f5f9"/>
                </a:solidFill>
                <a:effectLst/>
                <a:uFillTx/>
                <a:latin typeface="Calibri"/>
                <a:ea typeface="Calibri"/>
              </a:rPr>
              <a:t>Uma das abordagens mais utilizadas no desenvolvimento ágil</a:t>
            </a:r>
            <a:endParaRPr lang="pt-BR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400"/>
              </a:spcAft>
              <a:buClr>
                <a:srgbClr val="f1f5f9"/>
              </a:buClr>
              <a:buFont typeface="Symbol" charset="2"/>
              <a:buChar char=""/>
            </a:pPr>
            <a:r>
              <a:rPr lang="en-US" sz="1400" b="0" u="none" strike="noStrike">
                <a:solidFill>
                  <a:srgbClr val="f1f5f9"/>
                </a:solidFill>
                <a:effectLst/>
                <a:uFillTx/>
                <a:latin typeface="Calibri"/>
                <a:ea typeface="Calibri"/>
              </a:rPr>
              <a:t>Conjunto de regras e práticas organizadas em 4 atividades:</a:t>
            </a:r>
            <a:endParaRPr lang="pt-BR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685800" lvl="1" indent="-343080" defTabSz="914400">
              <a:lnSpc>
                <a:spcPct val="100000"/>
              </a:lnSpc>
              <a:spcAft>
                <a:spcPts val="400"/>
              </a:spcAft>
              <a:buClr>
                <a:srgbClr val="94a3b8"/>
              </a:buClr>
              <a:buFont typeface="Wingdings 3" charset="2"/>
              <a:buChar char=""/>
            </a:pPr>
            <a:r>
              <a:rPr lang="en-US" sz="1300" b="0" u="none" strike="noStrike">
                <a:solidFill>
                  <a:srgbClr val="94a3b8"/>
                </a:solidFill>
                <a:effectLst/>
                <a:uFillTx/>
                <a:latin typeface="Calibri"/>
                <a:ea typeface="Calibri"/>
              </a:rPr>
              <a:t>Planejamento  →  definir o que será feito</a:t>
            </a:r>
            <a:endParaRPr lang="pt-BR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685800" lvl="1" indent="-343080" defTabSz="914400">
              <a:lnSpc>
                <a:spcPct val="100000"/>
              </a:lnSpc>
              <a:spcAft>
                <a:spcPts val="400"/>
              </a:spcAft>
              <a:buClr>
                <a:srgbClr val="94a3b8"/>
              </a:buClr>
              <a:buFont typeface="Wingdings 3" charset="2"/>
              <a:buChar char=""/>
            </a:pPr>
            <a:r>
              <a:rPr lang="en-US" sz="1300" b="0" u="none" strike="noStrike">
                <a:solidFill>
                  <a:srgbClr val="94a3b8"/>
                </a:solidFill>
                <a:effectLst/>
                <a:uFillTx/>
                <a:latin typeface="Calibri"/>
                <a:ea typeface="Calibri"/>
              </a:rPr>
              <a:t>Projeto  →  como será estruturado o código</a:t>
            </a:r>
            <a:endParaRPr lang="pt-BR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685800" lvl="1" indent="-343080" defTabSz="914400">
              <a:lnSpc>
                <a:spcPct val="100000"/>
              </a:lnSpc>
              <a:spcAft>
                <a:spcPts val="400"/>
              </a:spcAft>
              <a:buClr>
                <a:srgbClr val="94a3b8"/>
              </a:buClr>
              <a:buFont typeface="Wingdings 3" charset="2"/>
              <a:buChar char=""/>
            </a:pPr>
            <a:r>
              <a:rPr lang="en-US" sz="1300" b="0" u="none" strike="noStrike">
                <a:solidFill>
                  <a:srgbClr val="94a3b8"/>
                </a:solidFill>
                <a:effectLst/>
                <a:uFillTx/>
                <a:latin typeface="Calibri"/>
                <a:ea typeface="Calibri"/>
              </a:rPr>
              <a:t>Codificação  →  escrever o software</a:t>
            </a:r>
            <a:endParaRPr lang="pt-BR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685800" lvl="1" indent="-343080" defTabSz="914400">
              <a:lnSpc>
                <a:spcPct val="100000"/>
              </a:lnSpc>
              <a:spcAft>
                <a:spcPts val="400"/>
              </a:spcAft>
              <a:buClr>
                <a:srgbClr val="94a3b8"/>
              </a:buClr>
              <a:buFont typeface="Wingdings 3" charset="2"/>
              <a:buChar char=""/>
            </a:pPr>
            <a:r>
              <a:rPr lang="en-US" sz="1300" b="0" u="none" strike="noStrike">
                <a:solidFill>
                  <a:srgbClr val="94a3b8"/>
                </a:solidFill>
                <a:effectLst/>
                <a:uFillTx/>
                <a:latin typeface="Calibri"/>
                <a:ea typeface="Calibri"/>
              </a:rPr>
              <a:t>Testes  →  garantir que tudo funciona</a:t>
            </a:r>
            <a:endParaRPr lang="pt-BR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400"/>
              </a:spcAft>
              <a:buClr>
                <a:srgbClr val="f1f5f9"/>
              </a:buClr>
              <a:buFont typeface="Symbol" charset="2"/>
              <a:buChar char=""/>
            </a:pPr>
            <a:r>
              <a:rPr lang="en-US" sz="1400" b="0" u="none" strike="noStrike">
                <a:solidFill>
                  <a:srgbClr val="f1f5f9"/>
                </a:solidFill>
                <a:effectLst/>
                <a:uFillTx/>
                <a:latin typeface="Calibri"/>
                <a:ea typeface="Calibri"/>
              </a:rPr>
              <a:t>Forte foco em qualidade, colaboração e feedback rápido</a:t>
            </a:r>
            <a:endParaRPr lang="pt-BR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400"/>
              </a:spcAft>
              <a:buClr>
                <a:srgbClr val="f1f5f9"/>
              </a:buClr>
              <a:buFont typeface="Symbol" charset="2"/>
              <a:buChar char=""/>
            </a:pPr>
            <a:r>
              <a:rPr lang="en-US" sz="1400" b="0" u="none" strike="noStrike">
                <a:solidFill>
                  <a:srgbClr val="f1f5f9"/>
                </a:solidFill>
                <a:effectLst/>
                <a:uFillTx/>
                <a:latin typeface="Calibri"/>
                <a:ea typeface="Calibri"/>
              </a:rPr>
              <a:t>Muito indicado para equipes pequenas e requisitos voláteis</a:t>
            </a:r>
            <a:endParaRPr lang="pt-BR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f19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Shape 0"/>
          <p:cNvSpPr/>
          <p:nvPr/>
        </p:nvSpPr>
        <p:spPr>
          <a:xfrm>
            <a:off x="0" y="0"/>
            <a:ext cx="9143640" cy="72720"/>
          </a:xfrm>
          <a:prstGeom prst="rect">
            <a:avLst/>
          </a:prstGeom>
          <a:solidFill>
            <a:srgbClr val="0d948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28080" bIns="28080" anchor="t">
            <a:noAutofit/>
          </a:bodyPr>
          <a:p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5" name="Shape 1"/>
          <p:cNvSpPr/>
          <p:nvPr/>
        </p:nvSpPr>
        <p:spPr>
          <a:xfrm>
            <a:off x="0" y="73080"/>
            <a:ext cx="9143640" cy="685440"/>
          </a:xfrm>
          <a:prstGeom prst="rect">
            <a:avLst/>
          </a:prstGeom>
          <a:solidFill>
            <a:srgbClr val="152535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6" name="Text 2"/>
          <p:cNvSpPr/>
          <p:nvPr/>
        </p:nvSpPr>
        <p:spPr>
          <a:xfrm>
            <a:off x="320040" y="73080"/>
            <a:ext cx="850356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2000" b="1" u="none" strike="noStrike">
                <a:solidFill>
                  <a:srgbClr val="14b8a6"/>
                </a:solidFill>
                <a:effectLst/>
                <a:uFillTx/>
                <a:latin typeface="Trebuchet MS"/>
                <a:ea typeface="Trebuchet MS"/>
              </a:rPr>
              <a:t>XP — Planejamento (Jogo do Planejamento)</a:t>
            </a:r>
            <a:endParaRPr lang="pt-BR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7" name="Text 3"/>
          <p:cNvSpPr/>
          <p:nvPr/>
        </p:nvSpPr>
        <p:spPr>
          <a:xfrm>
            <a:off x="365760" y="914400"/>
            <a:ext cx="8412120" cy="3931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  <a:spcBef>
                <a:spcPts val="799"/>
              </a:spcBef>
              <a:spcAft>
                <a:spcPts val="400"/>
              </a:spcAft>
              <a:tabLst>
                <a:tab algn="l" pos="0"/>
              </a:tabLst>
            </a:pPr>
            <a:r>
              <a:rPr lang="en-US" sz="1400" b="1" u="none" strike="noStrike">
                <a:solidFill>
                  <a:srgbClr val="fcd34d"/>
                </a:solidFill>
                <a:effectLst/>
                <a:uFillTx/>
                <a:latin typeface="Calibri"/>
                <a:ea typeface="Calibri"/>
              </a:rPr>
              <a:t>Ouvir → Criar → Avaliar → Decidir</a:t>
            </a:r>
            <a:endParaRPr lang="pt-BR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400"/>
              </a:spcAft>
              <a:buClr>
                <a:srgbClr val="f1f5f9"/>
              </a:buClr>
              <a:buFont typeface="Symbol" charset="2"/>
              <a:buChar char=""/>
              <a:tabLst>
                <a:tab algn="l" pos="0"/>
              </a:tabLst>
            </a:pPr>
            <a:r>
              <a:rPr lang="en-US" sz="1400" b="0" u="none" strike="noStrike">
                <a:solidFill>
                  <a:srgbClr val="f1f5f9"/>
                </a:solidFill>
                <a:effectLst/>
                <a:uFillTx/>
                <a:latin typeface="Calibri"/>
                <a:ea typeface="Calibri"/>
              </a:rPr>
              <a:t>Começa com o cliente contando suas necessidades (ouvir)</a:t>
            </a:r>
            <a:endParaRPr lang="pt-BR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400"/>
              </a:spcAft>
              <a:buClr>
                <a:srgbClr val="f1f5f9"/>
              </a:buClr>
              <a:buFont typeface="Symbol" charset="2"/>
              <a:buChar char=""/>
              <a:tabLst>
                <a:tab algn="l" pos="0"/>
              </a:tabLst>
            </a:pPr>
            <a:r>
              <a:rPr lang="en-US" sz="1400" b="0" u="none" strike="noStrike">
                <a:solidFill>
                  <a:srgbClr val="f1f5f9"/>
                </a:solidFill>
                <a:effectLst/>
                <a:uFillTx/>
                <a:latin typeface="Calibri"/>
                <a:ea typeface="Calibri"/>
              </a:rPr>
              <a:t>Cliente escreve Histórias de Usuário e atribui prioridade/valor</a:t>
            </a:r>
            <a:endParaRPr lang="pt-BR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400"/>
              </a:spcAft>
              <a:buClr>
                <a:srgbClr val="f1f5f9"/>
              </a:buClr>
              <a:buFont typeface="Symbol" charset="2"/>
              <a:buChar char=""/>
              <a:tabLst>
                <a:tab algn="l" pos="0"/>
              </a:tabLst>
            </a:pPr>
            <a:r>
              <a:rPr lang="en-US" sz="1400" b="0" u="none" strike="noStrike">
                <a:solidFill>
                  <a:srgbClr val="f1f5f9"/>
                </a:solidFill>
                <a:effectLst/>
                <a:uFillTx/>
                <a:latin typeface="Calibri"/>
                <a:ea typeface="Calibri"/>
              </a:rPr>
              <a:t>Equipe XP avalia cada história e estima o custo em semanas</a:t>
            </a:r>
            <a:endParaRPr lang="pt-BR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400"/>
              </a:spcAft>
              <a:buClr>
                <a:srgbClr val="f1f5f9"/>
              </a:buClr>
              <a:buFont typeface="Symbol" charset="2"/>
              <a:buChar char=""/>
              <a:tabLst>
                <a:tab algn="l" pos="0"/>
              </a:tabLst>
            </a:pPr>
            <a:r>
              <a:rPr lang="en-US" sz="1400" b="0" u="none" strike="noStrike">
                <a:solidFill>
                  <a:srgbClr val="f1f5f9"/>
                </a:solidFill>
                <a:effectLst/>
                <a:uFillTx/>
                <a:latin typeface="Calibri"/>
                <a:ea typeface="Calibri"/>
              </a:rPr>
              <a:t>Juntos, cliente e equipe agrupam histórias para o próximo incremento</a:t>
            </a:r>
            <a:endParaRPr lang="pt-BR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spcBef>
                <a:spcPts val="799"/>
              </a:spcBef>
              <a:spcAft>
                <a:spcPts val="400"/>
              </a:spcAft>
              <a:tabLst>
                <a:tab algn="l" pos="0"/>
              </a:tabLst>
            </a:pPr>
            <a:r>
              <a:rPr lang="en-US" sz="1400" b="1" u="none" strike="noStrike">
                <a:solidFill>
                  <a:srgbClr val="fcd34d"/>
                </a:solidFill>
                <a:effectLst/>
                <a:uFillTx/>
                <a:latin typeface="Calibri"/>
                <a:ea typeface="Calibri"/>
              </a:rPr>
              <a:t>Ordenação das histórias para o incremento:</a:t>
            </a:r>
            <a:endParaRPr lang="pt-BR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685800" lvl="1" indent="-343080" defTabSz="914400">
              <a:lnSpc>
                <a:spcPct val="100000"/>
              </a:lnSpc>
              <a:spcAft>
                <a:spcPts val="400"/>
              </a:spcAft>
              <a:buClr>
                <a:srgbClr val="94a3b8"/>
              </a:buClr>
              <a:buFont typeface="Wingdings 3" charset="2"/>
              <a:buChar char=""/>
              <a:tabLst>
                <a:tab algn="l" pos="0"/>
              </a:tabLst>
            </a:pPr>
            <a:r>
              <a:rPr lang="en-US" sz="1300" b="0" u="none" strike="noStrike">
                <a:solidFill>
                  <a:srgbClr val="94a3b8"/>
                </a:solidFill>
                <a:effectLst/>
                <a:uFillTx/>
                <a:latin typeface="Calibri"/>
                <a:ea typeface="Calibri"/>
              </a:rPr>
              <a:t>(1) Implementar todas imediatamente (prazo curto)</a:t>
            </a:r>
            <a:endParaRPr lang="pt-BR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685800" lvl="1" indent="-343080" defTabSz="914400">
              <a:lnSpc>
                <a:spcPct val="100000"/>
              </a:lnSpc>
              <a:spcAft>
                <a:spcPts val="400"/>
              </a:spcAft>
              <a:buClr>
                <a:srgbClr val="94a3b8"/>
              </a:buClr>
              <a:buFont typeface="Wingdings 3" charset="2"/>
              <a:buChar char=""/>
              <a:tabLst>
                <a:tab algn="l" pos="0"/>
              </a:tabLst>
            </a:pPr>
            <a:r>
              <a:rPr lang="en-US" sz="1300" b="0" u="none" strike="noStrike">
                <a:solidFill>
                  <a:srgbClr val="94a3b8"/>
                </a:solidFill>
                <a:effectLst/>
                <a:uFillTx/>
                <a:latin typeface="Calibri"/>
                <a:ea typeface="Calibri"/>
              </a:rPr>
              <a:t>(2) Histórias de maior valor entram primeiro</a:t>
            </a:r>
            <a:endParaRPr lang="pt-BR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685800" lvl="1" indent="-343080" defTabSz="914400">
              <a:lnSpc>
                <a:spcPct val="100000"/>
              </a:lnSpc>
              <a:spcAft>
                <a:spcPts val="400"/>
              </a:spcAft>
              <a:buClr>
                <a:srgbClr val="94a3b8"/>
              </a:buClr>
              <a:buFont typeface="Wingdings 3" charset="2"/>
              <a:buChar char=""/>
              <a:tabLst>
                <a:tab algn="l" pos="0"/>
              </a:tabLst>
            </a:pPr>
            <a:r>
              <a:rPr lang="en-US" sz="1300" b="0" u="none" strike="noStrike">
                <a:solidFill>
                  <a:srgbClr val="94a3b8"/>
                </a:solidFill>
                <a:effectLst/>
                <a:uFillTx/>
                <a:latin typeface="Calibri"/>
                <a:ea typeface="Calibri"/>
              </a:rPr>
              <a:t>(3) Histórias de maior risco entram primeiro</a:t>
            </a:r>
            <a:endParaRPr lang="pt-BR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400"/>
              </a:spcAft>
              <a:buClr>
                <a:srgbClr val="f1f5f9"/>
              </a:buClr>
              <a:buFont typeface="Symbol" charset="2"/>
              <a:buChar char=""/>
              <a:tabLst>
                <a:tab algn="l" pos="0"/>
              </a:tabLst>
            </a:pPr>
            <a:r>
              <a:rPr lang="en-US" sz="1400" b="0" u="none" strike="noStrike">
                <a:solidFill>
                  <a:srgbClr val="f1f5f9"/>
                </a:solidFill>
                <a:effectLst/>
                <a:uFillTx/>
                <a:latin typeface="Calibri"/>
                <a:ea typeface="Calibri"/>
              </a:rPr>
              <a:t>Após a 1ª versão: calcula-se a Velocidade do Projeto</a:t>
            </a:r>
            <a:endParaRPr lang="pt-BR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685800" lvl="1" indent="-343080" defTabSz="914400">
              <a:lnSpc>
                <a:spcPct val="100000"/>
              </a:lnSpc>
              <a:spcAft>
                <a:spcPts val="400"/>
              </a:spcAft>
              <a:buClr>
                <a:srgbClr val="94a3b8"/>
              </a:buClr>
              <a:buFont typeface="Wingdings 3" charset="2"/>
              <a:buChar char=""/>
              <a:tabLst>
                <a:tab algn="l" pos="0"/>
              </a:tabLst>
            </a:pPr>
            <a:r>
              <a:rPr lang="en-US" sz="1300" b="0" u="none" strike="noStrike">
                <a:solidFill>
                  <a:srgbClr val="94a3b8"/>
                </a:solidFill>
                <a:effectLst/>
                <a:uFillTx/>
                <a:latin typeface="Calibri"/>
                <a:ea typeface="Calibri"/>
              </a:rPr>
              <a:t>Velocidade = nº de histórias implementadas na versão</a:t>
            </a:r>
            <a:endParaRPr lang="pt-BR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f19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Shape 0"/>
          <p:cNvSpPr/>
          <p:nvPr/>
        </p:nvSpPr>
        <p:spPr>
          <a:xfrm>
            <a:off x="0" y="0"/>
            <a:ext cx="9143640" cy="72720"/>
          </a:xfrm>
          <a:prstGeom prst="rect">
            <a:avLst/>
          </a:prstGeom>
          <a:solidFill>
            <a:srgbClr val="0d948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28080" bIns="28080" anchor="t">
            <a:noAutofit/>
          </a:bodyPr>
          <a:p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9" name="Shape 1"/>
          <p:cNvSpPr/>
          <p:nvPr/>
        </p:nvSpPr>
        <p:spPr>
          <a:xfrm>
            <a:off x="0" y="73080"/>
            <a:ext cx="9143640" cy="685440"/>
          </a:xfrm>
          <a:prstGeom prst="rect">
            <a:avLst/>
          </a:prstGeom>
          <a:solidFill>
            <a:srgbClr val="152535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0" name="Text 2"/>
          <p:cNvSpPr/>
          <p:nvPr/>
        </p:nvSpPr>
        <p:spPr>
          <a:xfrm>
            <a:off x="320040" y="73080"/>
            <a:ext cx="850356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2000" b="1" u="none" strike="noStrike">
                <a:solidFill>
                  <a:srgbClr val="14b8a6"/>
                </a:solidFill>
                <a:effectLst/>
                <a:uFillTx/>
                <a:latin typeface="Trebuchet MS"/>
                <a:ea typeface="Trebuchet MS"/>
              </a:rPr>
              <a:t>XP — Exemplo: Objetivo de Versão</a:t>
            </a:r>
            <a:endParaRPr lang="pt-BR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1" name="Shape 3"/>
          <p:cNvSpPr/>
          <p:nvPr/>
        </p:nvSpPr>
        <p:spPr>
          <a:xfrm>
            <a:off x="365760" y="914400"/>
            <a:ext cx="8412120" cy="594000"/>
          </a:xfrm>
          <a:prstGeom prst="rect">
            <a:avLst/>
          </a:prstGeom>
          <a:solidFill>
            <a:srgbClr val="152535"/>
          </a:solidFill>
          <a:ln w="19050">
            <a:solidFill>
              <a:srgbClr val="0d9488"/>
            </a:solidFill>
            <a:round/>
          </a:ln>
          <a:effectLst>
            <a:outerShdw algn="bl" blurRad="101520" dir="8100000" dist="37674" kx="0" ky="0" rotWithShape="0" sx="100000" sy="100000">
              <a:srgbClr val="000000">
                <a:alpha val="2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2" name="Text 4"/>
          <p:cNvSpPr/>
          <p:nvPr/>
        </p:nvSpPr>
        <p:spPr>
          <a:xfrm>
            <a:off x="502920" y="914400"/>
            <a:ext cx="822924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400" b="1" u="none" strike="noStrike">
                <a:solidFill>
                  <a:srgbClr val="fcd34d"/>
                </a:solidFill>
                <a:effectLst/>
                <a:uFillTx/>
                <a:latin typeface="Calibri"/>
                <a:ea typeface="Calibri"/>
              </a:rPr>
              <a:t>🎯  Objetivo da Versão: "Lançar o Módulo de Pagamento"</a:t>
            </a:r>
            <a:endParaRPr lang="pt-BR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3" name="Shape 5"/>
          <p:cNvSpPr/>
          <p:nvPr/>
        </p:nvSpPr>
        <p:spPr>
          <a:xfrm>
            <a:off x="365760" y="1691640"/>
            <a:ext cx="4023000" cy="2011320"/>
          </a:xfrm>
          <a:prstGeom prst="rect">
            <a:avLst/>
          </a:prstGeom>
          <a:solidFill>
            <a:srgbClr val="0d2420"/>
          </a:solidFill>
          <a:ln w="12700">
            <a:solidFill>
              <a:srgbClr val="14b8a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4" name="Text 6"/>
          <p:cNvSpPr/>
          <p:nvPr/>
        </p:nvSpPr>
        <p:spPr>
          <a:xfrm>
            <a:off x="502920" y="1719000"/>
            <a:ext cx="374868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300" b="1" u="none" strike="noStrike">
                <a:solidFill>
                  <a:srgbClr val="14b8a6"/>
                </a:solidFill>
                <a:effectLst/>
                <a:uFillTx/>
                <a:latin typeface="Calibri"/>
                <a:ea typeface="Calibri"/>
              </a:rPr>
              <a:t>✅  ENTRAM nessa versão</a:t>
            </a:r>
            <a:endParaRPr lang="pt-BR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5" name="Text 7"/>
          <p:cNvSpPr/>
          <p:nvPr/>
        </p:nvSpPr>
        <p:spPr>
          <a:xfrm>
            <a:off x="548640" y="2176200"/>
            <a:ext cx="3748680" cy="1416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300" b="0" u="none" strike="noStrike">
                <a:solidFill>
                  <a:srgbClr val="14b8a6"/>
                </a:solidFill>
                <a:effectLst/>
                <a:uFillTx/>
                <a:latin typeface="Calibri"/>
                <a:ea typeface="Calibri"/>
              </a:rPr>
              <a:t>✔  Criar carrinho de compras</a:t>
            </a:r>
            <a:endParaRPr lang="pt-BR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300" b="0" u="none" strike="noStrike">
                <a:solidFill>
                  <a:srgbClr val="14b8a6"/>
                </a:solidFill>
                <a:effectLst/>
                <a:uFillTx/>
                <a:latin typeface="Calibri"/>
                <a:ea typeface="Calibri"/>
              </a:rPr>
              <a:t>✔  Integrar API do PayPal</a:t>
            </a:r>
            <a:endParaRPr lang="pt-BR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300" b="0" u="none" strike="noStrike">
                <a:solidFill>
                  <a:srgbClr val="14b8a6"/>
                </a:solidFill>
                <a:effectLst/>
                <a:uFillTx/>
                <a:latin typeface="Calibri"/>
                <a:ea typeface="Calibri"/>
              </a:rPr>
              <a:t>✔  Gerar comprovante por e-mail</a:t>
            </a:r>
            <a:endParaRPr lang="pt-BR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6" name="Shape 8"/>
          <p:cNvSpPr/>
          <p:nvPr/>
        </p:nvSpPr>
        <p:spPr>
          <a:xfrm>
            <a:off x="4754880" y="1691640"/>
            <a:ext cx="4023000" cy="2011320"/>
          </a:xfrm>
          <a:prstGeom prst="rect">
            <a:avLst/>
          </a:prstGeom>
          <a:solidFill>
            <a:srgbClr val="2d1010"/>
          </a:solidFill>
          <a:ln w="12700">
            <a:solidFill>
              <a:srgbClr val="ef444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7" name="Text 9"/>
          <p:cNvSpPr/>
          <p:nvPr/>
        </p:nvSpPr>
        <p:spPr>
          <a:xfrm>
            <a:off x="4892040" y="1719000"/>
            <a:ext cx="374868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300" b="1" u="none" strike="noStrike">
                <a:solidFill>
                  <a:srgbClr val="ef4444"/>
                </a:solidFill>
                <a:effectLst/>
                <a:uFillTx/>
                <a:latin typeface="Calibri"/>
                <a:ea typeface="Calibri"/>
              </a:rPr>
              <a:t>❌  FICAM DE FORA</a:t>
            </a:r>
            <a:endParaRPr lang="pt-BR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8" name="Text 10"/>
          <p:cNvSpPr/>
          <p:nvPr/>
        </p:nvSpPr>
        <p:spPr>
          <a:xfrm>
            <a:off x="4892040" y="2176200"/>
            <a:ext cx="3657240" cy="1416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300" b="0" u="none" strike="noStrike">
                <a:solidFill>
                  <a:srgbClr val="ef4444"/>
                </a:solidFill>
                <a:effectLst/>
                <a:uFillTx/>
                <a:latin typeface="Calibri"/>
                <a:ea typeface="Calibri"/>
              </a:rPr>
              <a:t>✘  Mudar cor do perfil do usuário</a:t>
            </a:r>
            <a:endParaRPr lang="pt-BR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300" b="0" u="none" strike="noStrike">
                <a:solidFill>
                  <a:srgbClr val="ef4444"/>
                </a:solidFill>
                <a:effectLst/>
                <a:uFillTx/>
                <a:latin typeface="Calibri"/>
                <a:ea typeface="Calibri"/>
              </a:rPr>
              <a:t>      (não contribui para o objetivo atual)</a:t>
            </a:r>
            <a:endParaRPr lang="pt-BR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9" name="Shape 11"/>
          <p:cNvSpPr/>
          <p:nvPr/>
        </p:nvSpPr>
        <p:spPr>
          <a:xfrm>
            <a:off x="365760" y="4160520"/>
            <a:ext cx="8412120" cy="776880"/>
          </a:xfrm>
          <a:prstGeom prst="rect">
            <a:avLst/>
          </a:prstGeom>
          <a:solidFill>
            <a:srgbClr val="1c2d1f"/>
          </a:solidFill>
          <a:ln w="19050">
            <a:solidFill>
              <a:srgbClr val="f97316"/>
            </a:solidFill>
            <a:round/>
          </a:ln>
          <a:effectLst>
            <a:outerShdw algn="bl" blurRad="101520" dir="8100000" dist="37674" kx="0" ky="0" rotWithShape="0" sx="100000" sy="100000">
              <a:srgbClr val="000000">
                <a:alpha val="2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0" name="Text 12"/>
          <p:cNvSpPr/>
          <p:nvPr/>
        </p:nvSpPr>
        <p:spPr>
          <a:xfrm>
            <a:off x="502920" y="4187880"/>
            <a:ext cx="8137800" cy="712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250" b="1" u="none" strike="noStrike">
                <a:solidFill>
                  <a:srgbClr val="f97316"/>
                </a:solidFill>
                <a:effectLst/>
                <a:uFillTx/>
                <a:latin typeface="Calibri"/>
                <a:ea typeface="Calibri"/>
              </a:rPr>
              <a:t>💬 Discussão: </a:t>
            </a:r>
            <a:r>
              <a:rPr lang="en-US" sz="1250" b="0" u="none" strike="noStrike">
                <a:solidFill>
                  <a:srgbClr val="f1f5f9"/>
                </a:solidFill>
                <a:effectLst/>
                <a:uFillTx/>
                <a:latin typeface="Calibri"/>
                <a:ea typeface="Calibri"/>
              </a:rPr>
              <a:t>Se vocês fossem o cliente do módulo de pagamento, que outra história adicionariam? Ela entraria nessa versão?</a:t>
            </a:r>
            <a:endParaRPr lang="pt-BR" sz="12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f19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Shape 0"/>
          <p:cNvSpPr/>
          <p:nvPr/>
        </p:nvSpPr>
        <p:spPr>
          <a:xfrm>
            <a:off x="0" y="0"/>
            <a:ext cx="9143640" cy="5143320"/>
          </a:xfrm>
          <a:prstGeom prst="rect">
            <a:avLst/>
          </a:prstGeom>
          <a:solidFill>
            <a:srgbClr val="152535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2" name="Shape 1"/>
          <p:cNvSpPr/>
          <p:nvPr/>
        </p:nvSpPr>
        <p:spPr>
          <a:xfrm>
            <a:off x="0" y="0"/>
            <a:ext cx="9143640" cy="109440"/>
          </a:xfrm>
          <a:prstGeom prst="rect">
            <a:avLst/>
          </a:prstGeom>
          <a:solidFill>
            <a:srgbClr val="0d948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3" name="Shape 2"/>
          <p:cNvSpPr/>
          <p:nvPr/>
        </p:nvSpPr>
        <p:spPr>
          <a:xfrm>
            <a:off x="0" y="5029200"/>
            <a:ext cx="9143640" cy="109440"/>
          </a:xfrm>
          <a:prstGeom prst="rect">
            <a:avLst/>
          </a:prstGeom>
          <a:solidFill>
            <a:srgbClr val="0d948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4" name="Text 3"/>
          <p:cNvSpPr/>
          <p:nvPr/>
        </p:nvSpPr>
        <p:spPr>
          <a:xfrm>
            <a:off x="457200" y="1645920"/>
            <a:ext cx="8229240" cy="1828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4000" b="1" u="none" strike="noStrike">
                <a:solidFill>
                  <a:srgbClr val="f1f5f9"/>
                </a:solidFill>
                <a:effectLst/>
                <a:uFillTx/>
                <a:latin typeface="Trebuchet MS"/>
                <a:ea typeface="Trebuchet MS"/>
              </a:rPr>
              <a:t>03  XP — Projeto: KISS e Cartões CRC</a:t>
            </a:r>
            <a:endParaRPr lang="pt-BR" sz="4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f19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Shape 0"/>
          <p:cNvSpPr/>
          <p:nvPr/>
        </p:nvSpPr>
        <p:spPr>
          <a:xfrm>
            <a:off x="0" y="0"/>
            <a:ext cx="9143640" cy="72720"/>
          </a:xfrm>
          <a:prstGeom prst="rect">
            <a:avLst/>
          </a:prstGeom>
          <a:solidFill>
            <a:srgbClr val="0d948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28080" bIns="28080" anchor="t">
            <a:noAutofit/>
          </a:bodyPr>
          <a:p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6" name="Shape 1"/>
          <p:cNvSpPr/>
          <p:nvPr/>
        </p:nvSpPr>
        <p:spPr>
          <a:xfrm>
            <a:off x="0" y="73080"/>
            <a:ext cx="9143640" cy="685440"/>
          </a:xfrm>
          <a:prstGeom prst="rect">
            <a:avLst/>
          </a:prstGeom>
          <a:solidFill>
            <a:srgbClr val="152535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7" name="Text 2"/>
          <p:cNvSpPr/>
          <p:nvPr/>
        </p:nvSpPr>
        <p:spPr>
          <a:xfrm>
            <a:off x="320040" y="73080"/>
            <a:ext cx="850356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2000" b="1" u="none" strike="noStrike">
                <a:solidFill>
                  <a:srgbClr val="14b8a6"/>
                </a:solidFill>
                <a:effectLst/>
                <a:uFillTx/>
                <a:latin typeface="Trebuchet MS"/>
                <a:ea typeface="Trebuchet MS"/>
              </a:rPr>
              <a:t>XP — Projeto: Princípio KISS</a:t>
            </a:r>
            <a:endParaRPr lang="pt-BR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8" name="Text 3"/>
          <p:cNvSpPr/>
          <p:nvPr/>
        </p:nvSpPr>
        <p:spPr>
          <a:xfrm>
            <a:off x="365760" y="914400"/>
            <a:ext cx="8412120" cy="3931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marL="343080" indent="-343080" defTabSz="914400">
              <a:lnSpc>
                <a:spcPct val="100000"/>
              </a:lnSpc>
              <a:spcAft>
                <a:spcPts val="400"/>
              </a:spcAft>
              <a:buClr>
                <a:srgbClr val="f1f5f9"/>
              </a:buClr>
              <a:buFont typeface="Symbol" charset="2"/>
              <a:buChar char=""/>
            </a:pPr>
            <a:r>
              <a:rPr lang="en-US" sz="1400" b="0" u="none" strike="noStrike">
                <a:solidFill>
                  <a:srgbClr val="f1f5f9"/>
                </a:solidFill>
                <a:effectLst/>
                <a:uFillTx/>
                <a:latin typeface="Calibri"/>
                <a:ea typeface="Calibri"/>
              </a:rPr>
              <a:t>KISS = Keep It Simple, Stupid! (Mantenha simples, não complique)</a:t>
            </a:r>
            <a:endParaRPr lang="pt-BR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400"/>
              </a:spcAft>
              <a:buClr>
                <a:srgbClr val="f1f5f9"/>
              </a:buClr>
              <a:buFont typeface="Symbol" charset="2"/>
              <a:buChar char=""/>
            </a:pPr>
            <a:r>
              <a:rPr lang="en-US" sz="1400" b="0" u="none" strike="noStrike">
                <a:solidFill>
                  <a:srgbClr val="f1f5f9"/>
                </a:solidFill>
                <a:effectLst/>
                <a:uFillTx/>
                <a:latin typeface="Calibri"/>
                <a:ea typeface="Calibri"/>
              </a:rPr>
              <a:t>O projeto segue estritamente o que é necessário agora</a:t>
            </a:r>
            <a:endParaRPr lang="pt-BR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400"/>
              </a:spcAft>
              <a:buClr>
                <a:srgbClr val="f1f5f9"/>
              </a:buClr>
              <a:buFont typeface="Symbol" charset="2"/>
              <a:buChar char=""/>
            </a:pPr>
            <a:r>
              <a:rPr lang="en-US" sz="1400" b="0" u="none" strike="noStrike">
                <a:solidFill>
                  <a:srgbClr val="f1f5f9"/>
                </a:solidFill>
                <a:effectLst/>
                <a:uFillTx/>
                <a:latin typeface="Calibri"/>
                <a:ea typeface="Calibri"/>
              </a:rPr>
              <a:t>Funcionalidades extras especulativas são desestimuladas</a:t>
            </a:r>
            <a:endParaRPr lang="pt-BR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spcBef>
                <a:spcPts val="799"/>
              </a:spcBef>
              <a:spcAft>
                <a:spcPts val="400"/>
              </a:spcAft>
              <a:tabLst>
                <a:tab algn="l" pos="0"/>
              </a:tabLst>
            </a:pPr>
            <a:r>
              <a:rPr lang="en-US" sz="1400" b="1" u="none" strike="noStrike">
                <a:solidFill>
                  <a:srgbClr val="fcd34d"/>
                </a:solidFill>
                <a:effectLst/>
                <a:uFillTx/>
                <a:latin typeface="Calibri"/>
                <a:ea typeface="Calibri"/>
              </a:rPr>
              <a:t>Por que isso importa?</a:t>
            </a:r>
            <a:endParaRPr lang="pt-BR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685800" lvl="1" indent="-343080" defTabSz="914400">
              <a:lnSpc>
                <a:spcPct val="100000"/>
              </a:lnSpc>
              <a:spcAft>
                <a:spcPts val="400"/>
              </a:spcAft>
              <a:buClr>
                <a:srgbClr val="94a3b8"/>
              </a:buClr>
              <a:buFont typeface="Wingdings 3" charset="2"/>
              <a:buChar char=""/>
              <a:tabLst>
                <a:tab algn="l" pos="0"/>
              </a:tabLst>
            </a:pPr>
            <a:r>
              <a:rPr lang="en-US" sz="1300" b="0" u="none" strike="noStrike">
                <a:solidFill>
                  <a:srgbClr val="94a3b8"/>
                </a:solidFill>
                <a:effectLst/>
                <a:uFillTx/>
                <a:latin typeface="Calibri"/>
                <a:ea typeface="Calibri"/>
              </a:rPr>
              <a:t>Código simples é mais fácil de testar e manter</a:t>
            </a:r>
            <a:endParaRPr lang="pt-BR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685800" lvl="1" indent="-343080" defTabSz="914400">
              <a:lnSpc>
                <a:spcPct val="100000"/>
              </a:lnSpc>
              <a:spcAft>
                <a:spcPts val="400"/>
              </a:spcAft>
              <a:buClr>
                <a:srgbClr val="94a3b8"/>
              </a:buClr>
              <a:buFont typeface="Wingdings 3" charset="2"/>
              <a:buChar char=""/>
              <a:tabLst>
                <a:tab algn="l" pos="0"/>
              </a:tabLst>
            </a:pPr>
            <a:r>
              <a:rPr lang="en-US" sz="1300" b="0" u="none" strike="noStrike">
                <a:solidFill>
                  <a:srgbClr val="94a3b8"/>
                </a:solidFill>
                <a:effectLst/>
                <a:uFillTx/>
                <a:latin typeface="Calibri"/>
                <a:ea typeface="Calibri"/>
              </a:rPr>
              <a:t>Evita desperdício de esforço com o que nunca será usado</a:t>
            </a:r>
            <a:endParaRPr lang="pt-BR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685800" lvl="1" indent="-343080" defTabSz="914400">
              <a:lnSpc>
                <a:spcPct val="100000"/>
              </a:lnSpc>
              <a:spcAft>
                <a:spcPts val="400"/>
              </a:spcAft>
              <a:buClr>
                <a:srgbClr val="94a3b8"/>
              </a:buClr>
              <a:buFont typeface="Wingdings 3" charset="2"/>
              <a:buChar char=""/>
              <a:tabLst>
                <a:tab algn="l" pos="0"/>
              </a:tabLst>
            </a:pPr>
            <a:r>
              <a:rPr lang="en-US" sz="1300" b="0" u="none" strike="noStrike">
                <a:solidFill>
                  <a:srgbClr val="94a3b8"/>
                </a:solidFill>
                <a:effectLst/>
                <a:uFillTx/>
                <a:latin typeface="Calibri"/>
                <a:ea typeface="Calibri"/>
              </a:rPr>
              <a:t>Facilita a refatoração contínua</a:t>
            </a:r>
            <a:endParaRPr lang="pt-BR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spcBef>
                <a:spcPts val="799"/>
              </a:spcBef>
              <a:spcAft>
                <a:spcPts val="400"/>
              </a:spcAft>
              <a:tabLst>
                <a:tab algn="l" pos="0"/>
              </a:tabLst>
            </a:pPr>
            <a:r>
              <a:rPr lang="en-US" sz="1400" b="1" u="none" strike="noStrike">
                <a:solidFill>
                  <a:srgbClr val="fcd34d"/>
                </a:solidFill>
                <a:effectLst/>
                <a:uFillTx/>
                <a:latin typeface="Calibri"/>
                <a:ea typeface="Calibri"/>
              </a:rPr>
              <a:t>Projeto é iterativo:</a:t>
            </a:r>
            <a:endParaRPr lang="pt-BR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685800" lvl="1" indent="-343080" defTabSz="914400">
              <a:lnSpc>
                <a:spcPct val="100000"/>
              </a:lnSpc>
              <a:spcAft>
                <a:spcPts val="400"/>
              </a:spcAft>
              <a:buClr>
                <a:srgbClr val="94a3b8"/>
              </a:buClr>
              <a:buFont typeface="Wingdings 3" charset="2"/>
              <a:buChar char=""/>
              <a:tabLst>
                <a:tab algn="l" pos="0"/>
              </a:tabLst>
            </a:pPr>
            <a:r>
              <a:rPr lang="en-US" sz="1300" b="0" u="none" strike="noStrike">
                <a:solidFill>
                  <a:srgbClr val="94a3b8"/>
                </a:solidFill>
                <a:effectLst/>
                <a:uFillTx/>
                <a:latin typeface="Calibri"/>
                <a:ea typeface="Calibri"/>
              </a:rPr>
              <a:t>Ocorre antes E depois da codificação</a:t>
            </a:r>
            <a:endParaRPr lang="pt-BR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685800" lvl="1" indent="-343080" defTabSz="914400">
              <a:lnSpc>
                <a:spcPct val="100000"/>
              </a:lnSpc>
              <a:spcAft>
                <a:spcPts val="400"/>
              </a:spcAft>
              <a:buClr>
                <a:srgbClr val="94a3b8"/>
              </a:buClr>
              <a:buFont typeface="Wingdings 3" charset="2"/>
              <a:buChar char=""/>
              <a:tabLst>
                <a:tab algn="l" pos="0"/>
              </a:tabLst>
            </a:pPr>
            <a:r>
              <a:rPr lang="en-US" sz="1300" b="0" u="none" strike="noStrike">
                <a:solidFill>
                  <a:srgbClr val="94a3b8"/>
                </a:solidFill>
                <a:effectLst/>
                <a:uFillTx/>
                <a:latin typeface="Calibri"/>
                <a:ea typeface="Calibri"/>
              </a:rPr>
              <a:t>O desenvolvimento guia o projeto — adapta conforme se descobre</a:t>
            </a:r>
            <a:endParaRPr lang="pt-BR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685800" lvl="1" indent="-343080" defTabSz="914400">
              <a:lnSpc>
                <a:spcPct val="100000"/>
              </a:lnSpc>
              <a:spcAft>
                <a:spcPts val="400"/>
              </a:spcAft>
              <a:buClr>
                <a:srgbClr val="94a3b8"/>
              </a:buClr>
              <a:buFont typeface="Wingdings 3" charset="2"/>
              <a:buChar char=""/>
              <a:tabLst>
                <a:tab algn="l" pos="0"/>
              </a:tabLst>
            </a:pPr>
            <a:r>
              <a:rPr lang="en-US" sz="1300" b="0" u="none" strike="noStrike">
                <a:solidFill>
                  <a:srgbClr val="94a3b8"/>
                </a:solidFill>
                <a:effectLst/>
                <a:uFillTx/>
                <a:latin typeface="Calibri"/>
                <a:ea typeface="Calibri"/>
              </a:rPr>
              <a:t>Melhoria constante via refatoração</a:t>
            </a:r>
            <a:endParaRPr lang="pt-BR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f19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Shape 0"/>
          <p:cNvSpPr/>
          <p:nvPr/>
        </p:nvSpPr>
        <p:spPr>
          <a:xfrm>
            <a:off x="0" y="0"/>
            <a:ext cx="9143640" cy="72720"/>
          </a:xfrm>
          <a:prstGeom prst="rect">
            <a:avLst/>
          </a:prstGeom>
          <a:solidFill>
            <a:srgbClr val="0d948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28080" bIns="28080" anchor="t">
            <a:noAutofit/>
          </a:bodyPr>
          <a:p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0" name="Shape 1"/>
          <p:cNvSpPr/>
          <p:nvPr/>
        </p:nvSpPr>
        <p:spPr>
          <a:xfrm>
            <a:off x="0" y="73080"/>
            <a:ext cx="9143640" cy="685440"/>
          </a:xfrm>
          <a:prstGeom prst="rect">
            <a:avLst/>
          </a:prstGeom>
          <a:solidFill>
            <a:srgbClr val="152535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1" name="Text 2"/>
          <p:cNvSpPr/>
          <p:nvPr/>
        </p:nvSpPr>
        <p:spPr>
          <a:xfrm>
            <a:off x="320040" y="73080"/>
            <a:ext cx="850356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800" b="1" u="none" strike="noStrike">
                <a:solidFill>
                  <a:srgbClr val="14b8a6"/>
                </a:solidFill>
                <a:effectLst/>
                <a:uFillTx/>
                <a:latin typeface="Trebuchet MS"/>
                <a:ea typeface="Trebuchet MS"/>
              </a:rPr>
              <a:t>XP — Cartões CRC (Classe–Responsabilidade–Colaborador)</a:t>
            </a:r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2" name="Text 3"/>
          <p:cNvSpPr/>
          <p:nvPr/>
        </p:nvSpPr>
        <p:spPr>
          <a:xfrm>
            <a:off x="365760" y="914400"/>
            <a:ext cx="4023000" cy="3931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r>
              <a:rPr lang="en-US" sz="1400" b="1" u="none" strike="noStrike">
                <a:solidFill>
                  <a:srgbClr val="fcd34d"/>
                </a:solidFill>
                <a:effectLst/>
                <a:uFillTx/>
                <a:latin typeface="Calibri"/>
                <a:ea typeface="Calibri"/>
              </a:rPr>
              <a:t>Único artefato de projeto do XP</a:t>
            </a:r>
            <a:endParaRPr lang="pt-BR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lang="pt-BR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300" b="0" u="none" strike="noStrike">
                <a:solidFill>
                  <a:srgbClr val="f1f5f9"/>
                </a:solidFill>
                <a:effectLst/>
                <a:uFillTx/>
                <a:latin typeface="Calibri"/>
                <a:ea typeface="Calibri"/>
              </a:rPr>
              <a:t>Identifica e organiza as classes OO relevantes para o incremento atual.</a:t>
            </a:r>
            <a:endParaRPr lang="pt-BR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lang="pt-BR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lang="pt-BR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300" b="1" u="none" strike="noStrike">
                <a:solidFill>
                  <a:srgbClr val="14b8a6"/>
                </a:solidFill>
                <a:effectLst/>
                <a:uFillTx/>
                <a:latin typeface="Calibri"/>
                <a:ea typeface="Calibri"/>
              </a:rPr>
              <a:t>Cada cartão contém:</a:t>
            </a:r>
            <a:endParaRPr lang="pt-BR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lang="pt-BR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300" b="0" u="none" strike="noStrike">
                <a:solidFill>
                  <a:srgbClr val="f1f5f9"/>
                </a:solidFill>
                <a:effectLst/>
                <a:uFillTx/>
                <a:latin typeface="Calibri"/>
                <a:ea typeface="Calibri"/>
              </a:rPr>
              <a:t>• Nome da Classe</a:t>
            </a:r>
            <a:endParaRPr lang="pt-BR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lang="pt-BR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300" b="0" u="none" strike="noStrike">
                <a:solidFill>
                  <a:srgbClr val="f1f5f9"/>
                </a:solidFill>
                <a:effectLst/>
                <a:uFillTx/>
                <a:latin typeface="Calibri"/>
                <a:ea typeface="Calibri"/>
              </a:rPr>
              <a:t>• Responsabilidades (o que ela faz)</a:t>
            </a:r>
            <a:endParaRPr lang="pt-BR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lang="pt-BR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300" b="0" u="none" strike="noStrike">
                <a:solidFill>
                  <a:srgbClr val="f1f5f9"/>
                </a:solidFill>
                <a:effectLst/>
                <a:uFillTx/>
                <a:latin typeface="Calibri"/>
                <a:ea typeface="Calibri"/>
              </a:rPr>
              <a:t>• Colaboradores (outras classes com que interage)</a:t>
            </a:r>
            <a:endParaRPr lang="pt-BR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lang="pt-BR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lang="pt-BR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300" b="1" u="none" strike="noStrike">
                <a:solidFill>
                  <a:srgbClr val="f97316"/>
                </a:solidFill>
                <a:effectLst/>
                <a:uFillTx/>
                <a:latin typeface="Calibri"/>
                <a:ea typeface="Calibri"/>
              </a:rPr>
              <a:t>Problemas difíceis →</a:t>
            </a:r>
            <a:r>
              <a:rPr lang="en-US" sz="1300" b="0" u="none" strike="noStrike">
                <a:solidFill>
                  <a:srgbClr val="f1f5f9"/>
                </a:solidFill>
                <a:effectLst/>
                <a:uFillTx/>
                <a:latin typeface="Calibri"/>
                <a:ea typeface="Calibri"/>
              </a:rPr>
              <a:t> crie um protótipo funcional rápido para testar a ideia</a:t>
            </a:r>
            <a:endParaRPr lang="pt-BR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3" name="Shape 4"/>
          <p:cNvSpPr/>
          <p:nvPr/>
        </p:nvSpPr>
        <p:spPr>
          <a:xfrm>
            <a:off x="4663440" y="1005840"/>
            <a:ext cx="4114440" cy="3474360"/>
          </a:xfrm>
          <a:prstGeom prst="rect">
            <a:avLst/>
          </a:prstGeom>
          <a:solidFill>
            <a:srgbClr val="fffde7"/>
          </a:solidFill>
          <a:ln w="19050">
            <a:solidFill>
              <a:srgbClr val="ccc084"/>
            </a:solidFill>
            <a:round/>
          </a:ln>
          <a:effectLst>
            <a:outerShdw algn="bl" blurRad="101520" dir="8100000" dist="37674" kx="0" ky="0" rotWithShape="0" sx="100000" sy="100000">
              <a:srgbClr val="000000">
                <a:alpha val="2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4" name="Shape 5"/>
          <p:cNvSpPr/>
          <p:nvPr/>
        </p:nvSpPr>
        <p:spPr>
          <a:xfrm>
            <a:off x="4663440" y="1005840"/>
            <a:ext cx="4114440" cy="502560"/>
          </a:xfrm>
          <a:prstGeom prst="rect">
            <a:avLst/>
          </a:prstGeom>
          <a:solidFill>
            <a:srgbClr val="0d948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5" name="Text 6"/>
          <p:cNvSpPr/>
          <p:nvPr/>
        </p:nvSpPr>
        <p:spPr>
          <a:xfrm>
            <a:off x="4754880" y="1005840"/>
            <a:ext cx="393156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500" b="1" u="none" strike="noStrike">
                <a:solidFill>
                  <a:srgbClr val="f1f5f9"/>
                </a:solidFill>
                <a:effectLst/>
                <a:uFillTx/>
                <a:latin typeface="Trebuchet MS"/>
                <a:ea typeface="Trebuchet MS"/>
              </a:rPr>
              <a:t>Carrinho</a:t>
            </a:r>
            <a:endParaRPr lang="pt-BR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6" name="Shape 7"/>
          <p:cNvSpPr/>
          <p:nvPr/>
        </p:nvSpPr>
        <p:spPr>
          <a:xfrm>
            <a:off x="4663440" y="1508760"/>
            <a:ext cx="54360" cy="2971440"/>
          </a:xfrm>
          <a:prstGeom prst="rect">
            <a:avLst/>
          </a:prstGeom>
          <a:solidFill>
            <a:srgbClr val="ccc08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7" name="Shape 8"/>
          <p:cNvSpPr/>
          <p:nvPr/>
        </p:nvSpPr>
        <p:spPr>
          <a:xfrm>
            <a:off x="6720840" y="1508760"/>
            <a:ext cx="54360" cy="2971440"/>
          </a:xfrm>
          <a:prstGeom prst="rect">
            <a:avLst/>
          </a:prstGeom>
          <a:solidFill>
            <a:srgbClr val="ccc08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8" name="Text 9"/>
          <p:cNvSpPr/>
          <p:nvPr/>
        </p:nvSpPr>
        <p:spPr>
          <a:xfrm>
            <a:off x="4754880" y="1536120"/>
            <a:ext cx="182844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100" b="1" u="none" strike="noStrike">
                <a:solidFill>
                  <a:srgbClr val="555500"/>
                </a:solidFill>
                <a:effectLst/>
                <a:uFillTx/>
                <a:latin typeface="Calibri"/>
                <a:ea typeface="Calibri"/>
              </a:rPr>
              <a:t>Responsabilidades</a:t>
            </a:r>
            <a:endParaRPr lang="pt-BR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9" name="Text 10"/>
          <p:cNvSpPr/>
          <p:nvPr/>
        </p:nvSpPr>
        <p:spPr>
          <a:xfrm>
            <a:off x="6812280" y="1536120"/>
            <a:ext cx="191988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100" b="1" u="none" strike="noStrike">
                <a:solidFill>
                  <a:srgbClr val="555500"/>
                </a:solidFill>
                <a:effectLst/>
                <a:uFillTx/>
                <a:latin typeface="Calibri"/>
                <a:ea typeface="Calibri"/>
              </a:rPr>
              <a:t>Colaboradores</a:t>
            </a:r>
            <a:endParaRPr lang="pt-BR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0" name="Text 11"/>
          <p:cNvSpPr/>
          <p:nvPr/>
        </p:nvSpPr>
        <p:spPr>
          <a:xfrm>
            <a:off x="4736520" y="1938600"/>
            <a:ext cx="1919880" cy="2377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r>
              <a:rPr lang="en-US" sz="1200" b="0" u="none" strike="noStrike">
                <a:solidFill>
                  <a:srgbClr val="333300"/>
                </a:solidFill>
                <a:effectLst/>
                <a:uFillTx/>
                <a:latin typeface="Calibri"/>
                <a:ea typeface="Calibri"/>
              </a:rPr>
              <a:t>• Guardar itens</a:t>
            </a:r>
            <a:endParaRPr lang="pt-BR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lang="pt-BR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200" b="0" u="none" strike="noStrike">
                <a:solidFill>
                  <a:srgbClr val="333300"/>
                </a:solidFill>
                <a:effectLst/>
                <a:uFillTx/>
                <a:latin typeface="Calibri"/>
                <a:ea typeface="Calibri"/>
              </a:rPr>
              <a:t>• Calcular total</a:t>
            </a:r>
            <a:endParaRPr lang="pt-BR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lang="pt-BR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200" b="0" u="none" strike="noStrike">
                <a:solidFill>
                  <a:srgbClr val="333300"/>
                </a:solidFill>
                <a:effectLst/>
                <a:uFillTx/>
                <a:latin typeface="Calibri"/>
                <a:ea typeface="Calibri"/>
              </a:rPr>
              <a:t>• Aplicar desconto</a:t>
            </a:r>
            <a:endParaRPr lang="pt-BR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1" name="Text 12"/>
          <p:cNvSpPr/>
          <p:nvPr/>
        </p:nvSpPr>
        <p:spPr>
          <a:xfrm>
            <a:off x="6812280" y="1938600"/>
            <a:ext cx="1919880" cy="2377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r>
              <a:rPr lang="en-US" sz="1200" b="0" u="none" strike="noStrike">
                <a:solidFill>
                  <a:srgbClr val="333300"/>
                </a:solidFill>
                <a:effectLst/>
                <a:uFillTx/>
                <a:latin typeface="Calibri"/>
                <a:ea typeface="Calibri"/>
              </a:rPr>
              <a:t>• Produto</a:t>
            </a:r>
            <a:endParaRPr lang="pt-BR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lang="pt-BR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200" b="0" u="none" strike="noStrike">
                <a:solidFill>
                  <a:srgbClr val="333300"/>
                </a:solidFill>
                <a:effectLst/>
                <a:uFillTx/>
                <a:latin typeface="Calibri"/>
                <a:ea typeface="Calibri"/>
              </a:rPr>
              <a:t>• Pagamento</a:t>
            </a:r>
            <a:endParaRPr lang="pt-BR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lang="pt-BR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200" b="0" u="none" strike="noStrike">
                <a:solidFill>
                  <a:srgbClr val="333300"/>
                </a:solidFill>
                <a:effectLst/>
                <a:uFillTx/>
                <a:latin typeface="Calibri"/>
                <a:ea typeface="Calibri"/>
              </a:rPr>
              <a:t>• Usuario</a:t>
            </a:r>
            <a:endParaRPr lang="pt-BR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f19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Shape 0"/>
          <p:cNvSpPr/>
          <p:nvPr/>
        </p:nvSpPr>
        <p:spPr>
          <a:xfrm>
            <a:off x="0" y="0"/>
            <a:ext cx="9143640" cy="5143320"/>
          </a:xfrm>
          <a:prstGeom prst="rect">
            <a:avLst/>
          </a:prstGeom>
          <a:solidFill>
            <a:srgbClr val="152535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3" name="Shape 1"/>
          <p:cNvSpPr/>
          <p:nvPr/>
        </p:nvSpPr>
        <p:spPr>
          <a:xfrm>
            <a:off x="0" y="0"/>
            <a:ext cx="9143640" cy="109440"/>
          </a:xfrm>
          <a:prstGeom prst="rect">
            <a:avLst/>
          </a:prstGeom>
          <a:solidFill>
            <a:srgbClr val="0d948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4" name="Shape 2"/>
          <p:cNvSpPr/>
          <p:nvPr/>
        </p:nvSpPr>
        <p:spPr>
          <a:xfrm>
            <a:off x="0" y="5029200"/>
            <a:ext cx="9143640" cy="109440"/>
          </a:xfrm>
          <a:prstGeom prst="rect">
            <a:avLst/>
          </a:prstGeom>
          <a:solidFill>
            <a:srgbClr val="0d948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5" name="Text 3"/>
          <p:cNvSpPr/>
          <p:nvPr/>
        </p:nvSpPr>
        <p:spPr>
          <a:xfrm>
            <a:off x="457200" y="1645920"/>
            <a:ext cx="8229240" cy="1828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4000" b="1" u="none" strike="noStrike">
                <a:solidFill>
                  <a:srgbClr val="f1f5f9"/>
                </a:solidFill>
                <a:effectLst/>
                <a:uFillTx/>
                <a:latin typeface="Trebuchet MS"/>
                <a:ea typeface="Trebuchet MS"/>
              </a:rPr>
              <a:t>04  XP — Codificação: TDD e Pares</a:t>
            </a:r>
            <a:endParaRPr lang="pt-BR" sz="4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f19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Shape 0"/>
          <p:cNvSpPr/>
          <p:nvPr/>
        </p:nvSpPr>
        <p:spPr>
          <a:xfrm>
            <a:off x="0" y="0"/>
            <a:ext cx="9143640" cy="72720"/>
          </a:xfrm>
          <a:prstGeom prst="rect">
            <a:avLst/>
          </a:prstGeom>
          <a:solidFill>
            <a:srgbClr val="0d948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28080" bIns="28080" anchor="t">
            <a:noAutofit/>
          </a:bodyPr>
          <a:p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7" name="Shape 1"/>
          <p:cNvSpPr/>
          <p:nvPr/>
        </p:nvSpPr>
        <p:spPr>
          <a:xfrm>
            <a:off x="0" y="73080"/>
            <a:ext cx="9143640" cy="685440"/>
          </a:xfrm>
          <a:prstGeom prst="rect">
            <a:avLst/>
          </a:prstGeom>
          <a:solidFill>
            <a:srgbClr val="152535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8" name="Text 2"/>
          <p:cNvSpPr/>
          <p:nvPr/>
        </p:nvSpPr>
        <p:spPr>
          <a:xfrm>
            <a:off x="320040" y="73080"/>
            <a:ext cx="850356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2000" b="1" u="none" strike="noStrike">
                <a:solidFill>
                  <a:srgbClr val="14b8a6"/>
                </a:solidFill>
                <a:effectLst/>
                <a:uFillTx/>
                <a:latin typeface="Trebuchet MS"/>
                <a:ea typeface="Trebuchet MS"/>
              </a:rPr>
              <a:t>XP — Codificação: TDD (Test-Driven Development)</a:t>
            </a:r>
            <a:endParaRPr lang="pt-BR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9" name="Text 3"/>
          <p:cNvSpPr/>
          <p:nvPr/>
        </p:nvSpPr>
        <p:spPr>
          <a:xfrm>
            <a:off x="365760" y="914400"/>
            <a:ext cx="8412120" cy="3931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marL="343080" indent="-343080" defTabSz="914400">
              <a:lnSpc>
                <a:spcPct val="100000"/>
              </a:lnSpc>
              <a:spcAft>
                <a:spcPts val="400"/>
              </a:spcAft>
              <a:buClr>
                <a:srgbClr val="f1f5f9"/>
              </a:buClr>
              <a:buFont typeface="Symbol" charset="2"/>
              <a:buChar char=""/>
            </a:pPr>
            <a:r>
              <a:rPr lang="en-US" sz="1400" b="0" u="none" strike="noStrike">
                <a:solidFill>
                  <a:srgbClr val="f1f5f9"/>
                </a:solidFill>
                <a:effectLst/>
                <a:uFillTx/>
                <a:latin typeface="Calibri"/>
                <a:ea typeface="Calibri"/>
              </a:rPr>
              <a:t>Antes de codificar, a equipe escreve os testes de unidade</a:t>
            </a:r>
            <a:endParaRPr lang="pt-BR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400"/>
              </a:spcAft>
              <a:buClr>
                <a:srgbClr val="f1f5f9"/>
              </a:buClr>
              <a:buFont typeface="Symbol" charset="2"/>
              <a:buChar char=""/>
            </a:pPr>
            <a:r>
              <a:rPr lang="en-US" sz="1400" b="0" u="none" strike="noStrike">
                <a:solidFill>
                  <a:srgbClr val="f1f5f9"/>
                </a:solidFill>
                <a:effectLst/>
                <a:uFillTx/>
                <a:latin typeface="Calibri"/>
                <a:ea typeface="Calibri"/>
              </a:rPr>
              <a:t>Por que testar primeiro?</a:t>
            </a:r>
            <a:endParaRPr lang="pt-BR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685800" lvl="1" indent="-343080" defTabSz="914400">
              <a:lnSpc>
                <a:spcPct val="100000"/>
              </a:lnSpc>
              <a:spcAft>
                <a:spcPts val="400"/>
              </a:spcAft>
              <a:buClr>
                <a:srgbClr val="94a3b8"/>
              </a:buClr>
              <a:buFont typeface="Wingdings 3" charset="2"/>
              <a:buChar char=""/>
            </a:pPr>
            <a:r>
              <a:rPr lang="en-US" sz="1300" b="0" u="none" strike="noStrike">
                <a:solidFill>
                  <a:srgbClr val="94a3b8"/>
                </a:solidFill>
                <a:effectLst/>
                <a:uFillTx/>
                <a:latin typeface="Calibri"/>
                <a:ea typeface="Calibri"/>
              </a:rPr>
              <a:t>O dev sabe exatamente o que o código precisa fazer</a:t>
            </a:r>
            <a:endParaRPr lang="pt-BR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685800" lvl="1" indent="-343080" defTabSz="914400">
              <a:lnSpc>
                <a:spcPct val="100000"/>
              </a:lnSpc>
              <a:spcAft>
                <a:spcPts val="400"/>
              </a:spcAft>
              <a:buClr>
                <a:srgbClr val="94a3b8"/>
              </a:buClr>
              <a:buFont typeface="Wingdings 3" charset="2"/>
              <a:buChar char=""/>
            </a:pPr>
            <a:r>
              <a:rPr lang="en-US" sz="1300" b="0" u="none" strike="noStrike">
                <a:solidFill>
                  <a:srgbClr val="94a3b8"/>
                </a:solidFill>
                <a:effectLst/>
                <a:uFillTx/>
                <a:latin typeface="Calibri"/>
                <a:ea typeface="Calibri"/>
              </a:rPr>
              <a:t>Elimina funcionalidades desnecessárias (KISS aplicado aqui!)</a:t>
            </a:r>
            <a:endParaRPr lang="pt-BR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685800" lvl="1" indent="-343080" defTabSz="914400">
              <a:lnSpc>
                <a:spcPct val="100000"/>
              </a:lnSpc>
              <a:spcAft>
                <a:spcPts val="400"/>
              </a:spcAft>
              <a:buClr>
                <a:srgbClr val="94a3b8"/>
              </a:buClr>
              <a:buFont typeface="Wingdings 3" charset="2"/>
              <a:buChar char=""/>
            </a:pPr>
            <a:r>
              <a:rPr lang="en-US" sz="1300" b="0" u="none" strike="noStrike">
                <a:solidFill>
                  <a:srgbClr val="94a3b8"/>
                </a:solidFill>
                <a:effectLst/>
                <a:uFillTx/>
                <a:latin typeface="Calibri"/>
                <a:ea typeface="Calibri"/>
              </a:rPr>
              <a:t>Código nasce sempre testável</a:t>
            </a:r>
            <a:endParaRPr lang="pt-BR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spcBef>
                <a:spcPts val="799"/>
              </a:spcBef>
              <a:spcAft>
                <a:spcPts val="400"/>
              </a:spcAft>
              <a:tabLst>
                <a:tab algn="l" pos="0"/>
              </a:tabLst>
            </a:pPr>
            <a:r>
              <a:rPr lang="en-US" sz="1400" b="1" u="none" strike="noStrike">
                <a:solidFill>
                  <a:srgbClr val="fcd34d"/>
                </a:solidFill>
                <a:effectLst/>
                <a:uFillTx/>
                <a:latin typeface="Calibri"/>
                <a:ea typeface="Calibri"/>
              </a:rPr>
              <a:t>O ciclo TDD — 3 passos rápidos:</a:t>
            </a:r>
            <a:endParaRPr lang="pt-BR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685800" lvl="1" indent="-343080" defTabSz="914400">
              <a:lnSpc>
                <a:spcPct val="100000"/>
              </a:lnSpc>
              <a:spcAft>
                <a:spcPts val="400"/>
              </a:spcAft>
              <a:buClr>
                <a:srgbClr val="94a3b8"/>
              </a:buClr>
              <a:buFont typeface="Wingdings 3" charset="2"/>
              <a:buChar char=""/>
              <a:tabLst>
                <a:tab algn="l" pos="0"/>
              </a:tabLst>
            </a:pPr>
            <a:r>
              <a:rPr lang="en-US" sz="1300" b="0" u="none" strike="noStrike">
                <a:solidFill>
                  <a:srgbClr val="94a3b8"/>
                </a:solidFill>
                <a:effectLst/>
                <a:uFillTx/>
                <a:latin typeface="Calibri"/>
                <a:ea typeface="Calibri"/>
              </a:rPr>
              <a:t>🔴  Red   → Escreve o teste que FALHA (ainda sem código)</a:t>
            </a:r>
            <a:endParaRPr lang="pt-BR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685800" lvl="1" indent="-343080" defTabSz="914400">
              <a:lnSpc>
                <a:spcPct val="100000"/>
              </a:lnSpc>
              <a:spcAft>
                <a:spcPts val="400"/>
              </a:spcAft>
              <a:buClr>
                <a:srgbClr val="94a3b8"/>
              </a:buClr>
              <a:buFont typeface="Wingdings 3" charset="2"/>
              <a:buChar char=""/>
              <a:tabLst>
                <a:tab algn="l" pos="0"/>
              </a:tabLst>
            </a:pPr>
            <a:r>
              <a:rPr lang="en-US" sz="1300" b="0" u="none" strike="noStrike">
                <a:solidFill>
                  <a:srgbClr val="94a3b8"/>
                </a:solidFill>
                <a:effectLst/>
                <a:uFillTx/>
                <a:latin typeface="Calibri"/>
                <a:ea typeface="Calibri"/>
              </a:rPr>
              <a:t>🟢  Green → Escreve o código MÍNIMO para passar no teste</a:t>
            </a:r>
            <a:endParaRPr lang="pt-BR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685800" lvl="1" indent="-343080" defTabSz="914400">
              <a:lnSpc>
                <a:spcPct val="100000"/>
              </a:lnSpc>
              <a:spcAft>
                <a:spcPts val="400"/>
              </a:spcAft>
              <a:buClr>
                <a:srgbClr val="94a3b8"/>
              </a:buClr>
              <a:buFont typeface="Wingdings 3" charset="2"/>
              <a:buChar char=""/>
              <a:tabLst>
                <a:tab algn="l" pos="0"/>
              </a:tabLst>
            </a:pPr>
            <a:r>
              <a:rPr lang="en-US" sz="1300" b="0" u="none" strike="noStrike">
                <a:solidFill>
                  <a:srgbClr val="94a3b8"/>
                </a:solidFill>
                <a:effectLst/>
                <a:uFillTx/>
                <a:latin typeface="Calibri"/>
                <a:ea typeface="Calibri"/>
              </a:rPr>
              <a:t>🔵  Refactor → Melhora o código sem quebrar o teste</a:t>
            </a:r>
            <a:endParaRPr lang="pt-BR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400"/>
              </a:spcAft>
              <a:buClr>
                <a:srgbClr val="f1f5f9"/>
              </a:buClr>
              <a:buFont typeface="Symbol" charset="2"/>
              <a:buChar char=""/>
              <a:tabLst>
                <a:tab algn="l" pos="0"/>
              </a:tabLst>
            </a:pPr>
            <a:r>
              <a:rPr lang="en-US" sz="1400" b="0" u="none" strike="noStrike">
                <a:solidFill>
                  <a:srgbClr val="f1f5f9"/>
                </a:solidFill>
                <a:effectLst/>
                <a:uFillTx/>
                <a:latin typeface="Calibri"/>
                <a:ea typeface="Calibri"/>
              </a:rPr>
              <a:t>Cada ciclo dura poucos minutos — repete para cada funcionalidade</a:t>
            </a:r>
            <a:endParaRPr lang="pt-BR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0" name="Shape 4"/>
          <p:cNvSpPr/>
          <p:nvPr/>
        </p:nvSpPr>
        <p:spPr>
          <a:xfrm>
            <a:off x="365760" y="4160520"/>
            <a:ext cx="8412120" cy="776880"/>
          </a:xfrm>
          <a:prstGeom prst="rect">
            <a:avLst/>
          </a:prstGeom>
          <a:solidFill>
            <a:srgbClr val="1c2d1f"/>
          </a:solidFill>
          <a:ln w="19050">
            <a:solidFill>
              <a:srgbClr val="f97316"/>
            </a:solidFill>
            <a:round/>
          </a:ln>
          <a:effectLst>
            <a:outerShdw algn="bl" blurRad="101520" dir="8100000" dist="37674" kx="0" ky="0" rotWithShape="0" sx="100000" sy="100000">
              <a:srgbClr val="000000">
                <a:alpha val="2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1" name="Text 5"/>
          <p:cNvSpPr/>
          <p:nvPr/>
        </p:nvSpPr>
        <p:spPr>
          <a:xfrm>
            <a:off x="502920" y="4187880"/>
            <a:ext cx="8137800" cy="712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250" b="1" u="none" strike="noStrike">
                <a:solidFill>
                  <a:srgbClr val="f97316"/>
                </a:solidFill>
                <a:effectLst/>
                <a:uFillTx/>
                <a:latin typeface="Calibri"/>
                <a:ea typeface="Calibri"/>
              </a:rPr>
              <a:t>💬 Discussão: </a:t>
            </a:r>
            <a:r>
              <a:rPr lang="en-US" sz="1250" b="0" u="none" strike="noStrike">
                <a:solidFill>
                  <a:srgbClr val="f1f5f9"/>
                </a:solidFill>
                <a:effectLst/>
                <a:uFillTx/>
                <a:latin typeface="Calibri"/>
                <a:ea typeface="Calibri"/>
              </a:rPr>
              <a:t>Por que escrever o teste antes garante que o teste realmente testa algo? O que acontece se você escreve o código antes?</a:t>
            </a:r>
            <a:endParaRPr lang="pt-BR" sz="12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f19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Shape 0"/>
          <p:cNvSpPr/>
          <p:nvPr/>
        </p:nvSpPr>
        <p:spPr>
          <a:xfrm>
            <a:off x="0" y="0"/>
            <a:ext cx="9143640" cy="72720"/>
          </a:xfrm>
          <a:prstGeom prst="rect">
            <a:avLst/>
          </a:prstGeom>
          <a:solidFill>
            <a:srgbClr val="0d948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28080" bIns="28080" anchor="t">
            <a:noAutofit/>
          </a:bodyPr>
          <a:p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3" name="Shape 1"/>
          <p:cNvSpPr/>
          <p:nvPr/>
        </p:nvSpPr>
        <p:spPr>
          <a:xfrm>
            <a:off x="0" y="73080"/>
            <a:ext cx="9143640" cy="685440"/>
          </a:xfrm>
          <a:prstGeom prst="rect">
            <a:avLst/>
          </a:prstGeom>
          <a:solidFill>
            <a:srgbClr val="152535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4" name="Text 2"/>
          <p:cNvSpPr/>
          <p:nvPr/>
        </p:nvSpPr>
        <p:spPr>
          <a:xfrm>
            <a:off x="320040" y="73080"/>
            <a:ext cx="850356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2000" b="1" u="none" strike="noStrike">
                <a:solidFill>
                  <a:srgbClr val="14b8a6"/>
                </a:solidFill>
                <a:effectLst/>
                <a:uFillTx/>
                <a:latin typeface="Trebuchet MS"/>
                <a:ea typeface="Trebuchet MS"/>
              </a:rPr>
              <a:t>TDD na Prática — Exemplo em Java</a:t>
            </a:r>
            <a:endParaRPr lang="pt-BR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5" name="Shape 3"/>
          <p:cNvSpPr/>
          <p:nvPr/>
        </p:nvSpPr>
        <p:spPr>
          <a:xfrm>
            <a:off x="365760" y="914400"/>
            <a:ext cx="5028840" cy="3931560"/>
          </a:xfrm>
          <a:prstGeom prst="rect">
            <a:avLst/>
          </a:prstGeom>
          <a:solidFill>
            <a:srgbClr val="0a0f14"/>
          </a:solidFill>
          <a:ln w="12700">
            <a:solidFill>
              <a:srgbClr val="0d9488"/>
            </a:solidFill>
            <a:round/>
          </a:ln>
          <a:effectLst>
            <a:outerShdw algn="bl" blurRad="101520" dir="8100000" dist="37674" kx="0" ky="0" rotWithShape="0" sx="100000" sy="100000">
              <a:srgbClr val="000000">
                <a:alpha val="2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6" name="Text 4"/>
          <p:cNvSpPr/>
          <p:nvPr/>
        </p:nvSpPr>
        <p:spPr>
          <a:xfrm>
            <a:off x="502920" y="1005840"/>
            <a:ext cx="4754520" cy="374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150" b="0" u="none" strike="noStrike">
                <a:solidFill>
                  <a:srgbClr val="94a3b8"/>
                </a:solidFill>
                <a:effectLst/>
                <a:uFillTx/>
                <a:latin typeface="Courier New"/>
                <a:ea typeface="Courier New"/>
              </a:rPr>
              <a:t>// PASSO 1 — Red: escrever o teste</a:t>
            </a:r>
            <a:endParaRPr lang="pt-BR" sz="11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150" b="0" u="none" strike="noStrike">
                <a:solidFill>
                  <a:srgbClr val="94a3b8"/>
                </a:solidFill>
                <a:effectLst/>
                <a:uFillTx/>
                <a:latin typeface="Courier New"/>
                <a:ea typeface="Courier New"/>
              </a:rPr>
              <a:t>// A função não existe ainda → teste FALHA</a:t>
            </a:r>
            <a:endParaRPr lang="pt-BR" sz="11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150" b="0" u="none" strike="noStrike">
                <a:solidFill>
                  <a:srgbClr val="14b8a6"/>
                </a:solidFill>
                <a:effectLst/>
                <a:uFillTx/>
                <a:latin typeface="Courier New"/>
                <a:ea typeface="Courier New"/>
              </a:rPr>
              <a:t>public void testCalculaDesconto() {</a:t>
            </a:r>
            <a:endParaRPr lang="pt-BR" sz="11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150" b="0" u="none" strike="noStrike">
                <a:solidFill>
                  <a:srgbClr val="fcd34d"/>
                </a:solidFill>
                <a:effectLst/>
                <a:uFillTx/>
                <a:latin typeface="Courier New"/>
                <a:ea typeface="Courier New"/>
              </a:rPr>
              <a:t>    assertEquals(90,</a:t>
            </a:r>
            <a:endParaRPr lang="pt-BR" sz="11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150" b="0" u="none" strike="noStrike">
                <a:solidFill>
                  <a:srgbClr val="14b8a6"/>
                </a:solidFill>
                <a:effectLst/>
                <a:uFillTx/>
                <a:latin typeface="Courier New"/>
                <a:ea typeface="Courier New"/>
              </a:rPr>
              <a:t>        calculaDesconto(100, 10));</a:t>
            </a:r>
            <a:endParaRPr lang="pt-BR" sz="11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150" b="0" u="none" strike="noStrike">
                <a:solidFill>
                  <a:srgbClr val="14b8a6"/>
                </a:solidFill>
                <a:effectLst/>
                <a:uFillTx/>
                <a:latin typeface="Courier New"/>
                <a:ea typeface="Courier New"/>
              </a:rPr>
              <a:t>    // 10% de desconto sobre R$100</a:t>
            </a:r>
            <a:endParaRPr lang="pt-BR" sz="11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150" b="0" u="none" strike="noStrike">
                <a:solidFill>
                  <a:srgbClr val="14b8a6"/>
                </a:solidFill>
                <a:effectLst/>
                <a:uFillTx/>
                <a:latin typeface="Courier New"/>
                <a:ea typeface="Courier New"/>
              </a:rPr>
              <a:t>}</a:t>
            </a:r>
            <a:endParaRPr lang="pt-BR" sz="11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lang="pt-BR" sz="11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150" b="0" u="none" strike="noStrike">
                <a:solidFill>
                  <a:srgbClr val="94a3b8"/>
                </a:solidFill>
                <a:effectLst/>
                <a:uFillTx/>
                <a:latin typeface="Courier New"/>
                <a:ea typeface="Courier New"/>
              </a:rPr>
              <a:t>// PASSO 2 — Green: código mínimo</a:t>
            </a:r>
            <a:endParaRPr lang="pt-BR" sz="11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150" b="0" u="none" strike="noStrike">
                <a:solidFill>
                  <a:srgbClr val="14b8a6"/>
                </a:solidFill>
                <a:effectLst/>
                <a:uFillTx/>
                <a:latin typeface="Courier New"/>
                <a:ea typeface="Courier New"/>
              </a:rPr>
              <a:t>public double calculaDesconto(</a:t>
            </a:r>
            <a:endParaRPr lang="pt-BR" sz="11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150" b="0" u="none" strike="noStrike">
                <a:solidFill>
                  <a:srgbClr val="14b8a6"/>
                </a:solidFill>
                <a:effectLst/>
                <a:uFillTx/>
                <a:latin typeface="Courier New"/>
                <a:ea typeface="Courier New"/>
              </a:rPr>
              <a:t>        double preco, double percentual) {</a:t>
            </a:r>
            <a:endParaRPr lang="pt-BR" sz="11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150" b="0" u="none" strike="noStrike">
                <a:solidFill>
                  <a:srgbClr val="fcd34d"/>
                </a:solidFill>
                <a:effectLst/>
                <a:uFillTx/>
                <a:latin typeface="Courier New"/>
                <a:ea typeface="Courier New"/>
              </a:rPr>
              <a:t>    return preco - (preco * percentual / 100);</a:t>
            </a:r>
            <a:endParaRPr lang="pt-BR" sz="11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150" b="0" u="none" strike="noStrike">
                <a:solidFill>
                  <a:srgbClr val="14b8a6"/>
                </a:solidFill>
                <a:effectLst/>
                <a:uFillTx/>
                <a:latin typeface="Courier New"/>
                <a:ea typeface="Courier New"/>
              </a:rPr>
              <a:t>}</a:t>
            </a:r>
            <a:endParaRPr lang="pt-BR" sz="11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lang="pt-BR" sz="11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150" b="0" u="none" strike="noStrike">
                <a:solidFill>
                  <a:srgbClr val="94a3b8"/>
                </a:solidFill>
                <a:effectLst/>
                <a:uFillTx/>
                <a:latin typeface="Courier New"/>
                <a:ea typeface="Courier New"/>
              </a:rPr>
              <a:t>// PASSO 3 — Refactor: melhorar</a:t>
            </a:r>
            <a:endParaRPr lang="pt-BR" sz="11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150" b="0" u="none" strike="noStrike">
                <a:solidFill>
                  <a:srgbClr val="94a3b8"/>
                </a:solidFill>
                <a:effectLst/>
                <a:uFillTx/>
                <a:latin typeface="Courier New"/>
                <a:ea typeface="Courier New"/>
              </a:rPr>
              <a:t>// Adicione validação de valores negativos</a:t>
            </a:r>
            <a:endParaRPr lang="pt-BR" sz="11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150" b="0" u="none" strike="noStrike">
                <a:solidFill>
                  <a:srgbClr val="94a3b8"/>
                </a:solidFill>
                <a:effectLst/>
                <a:uFillTx/>
                <a:latin typeface="Courier New"/>
                <a:ea typeface="Courier New"/>
              </a:rPr>
              <a:t>// apenas se a história exigir (KISS!)</a:t>
            </a:r>
            <a:endParaRPr lang="pt-BR" sz="11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7" name="Text 5"/>
          <p:cNvSpPr/>
          <p:nvPr/>
        </p:nvSpPr>
        <p:spPr>
          <a:xfrm>
            <a:off x="5577840" y="1005840"/>
            <a:ext cx="3291480" cy="3840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  <a:spcBef>
                <a:spcPts val="799"/>
              </a:spcBef>
              <a:spcAft>
                <a:spcPts val="499"/>
              </a:spcAft>
              <a:tabLst>
                <a:tab algn="l" pos="0"/>
              </a:tabLst>
            </a:pPr>
            <a:r>
              <a:rPr lang="en-US" sz="1300" b="1" u="none" strike="noStrike">
                <a:solidFill>
                  <a:srgbClr val="fcd34d"/>
                </a:solidFill>
                <a:effectLst/>
                <a:uFillTx/>
                <a:latin typeface="Calibri"/>
                <a:ea typeface="Calibri"/>
              </a:rPr>
              <a:t>Red 🔴</a:t>
            </a:r>
            <a:endParaRPr lang="pt-BR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499"/>
              </a:spcAft>
              <a:buClr>
                <a:srgbClr val="f1f5f9"/>
              </a:buClr>
              <a:buFont typeface="Symbol" charset="2"/>
              <a:buChar char=""/>
              <a:tabLst>
                <a:tab algn="l" pos="0"/>
              </a:tabLst>
            </a:pPr>
            <a:r>
              <a:rPr lang="en-US" sz="1300" b="0" u="none" strike="noStrike">
                <a:solidFill>
                  <a:srgbClr val="f1f5f9"/>
                </a:solidFill>
                <a:effectLst/>
                <a:uFillTx/>
                <a:latin typeface="Calibri"/>
                <a:ea typeface="Calibri"/>
              </a:rPr>
              <a:t>Teste falha pois a função não existe ainda. Confirma que ele realmente detecta a ausência.</a:t>
            </a:r>
            <a:endParaRPr lang="pt-BR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spcBef>
                <a:spcPts val="799"/>
              </a:spcBef>
              <a:spcAft>
                <a:spcPts val="499"/>
              </a:spcAft>
              <a:tabLst>
                <a:tab algn="l" pos="0"/>
              </a:tabLst>
            </a:pPr>
            <a:r>
              <a:rPr lang="en-US" sz="1300" b="1" u="none" strike="noStrike">
                <a:solidFill>
                  <a:srgbClr val="fcd34d"/>
                </a:solidFill>
                <a:effectLst/>
                <a:uFillTx/>
                <a:latin typeface="Calibri"/>
                <a:ea typeface="Calibri"/>
              </a:rPr>
              <a:t>Green 🟢</a:t>
            </a:r>
            <a:endParaRPr lang="pt-BR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499"/>
              </a:spcAft>
              <a:buClr>
                <a:srgbClr val="f1f5f9"/>
              </a:buClr>
              <a:buFont typeface="Symbol" charset="2"/>
              <a:buChar char=""/>
              <a:tabLst>
                <a:tab algn="l" pos="0"/>
              </a:tabLst>
            </a:pPr>
            <a:r>
              <a:rPr lang="en-US" sz="1300" b="0" u="none" strike="noStrike">
                <a:solidFill>
                  <a:srgbClr val="f1f5f9"/>
                </a:solidFill>
                <a:effectLst/>
                <a:uFillTx/>
                <a:latin typeface="Calibri"/>
                <a:ea typeface="Calibri"/>
              </a:rPr>
              <a:t>Código mais simples possível para passar. Sem inventar extras.</a:t>
            </a:r>
            <a:endParaRPr lang="pt-BR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spcBef>
                <a:spcPts val="799"/>
              </a:spcBef>
              <a:spcAft>
                <a:spcPts val="499"/>
              </a:spcAft>
              <a:tabLst>
                <a:tab algn="l" pos="0"/>
              </a:tabLst>
            </a:pPr>
            <a:r>
              <a:rPr lang="en-US" sz="1300" b="1" u="none" strike="noStrike">
                <a:solidFill>
                  <a:srgbClr val="fcd34d"/>
                </a:solidFill>
                <a:effectLst/>
                <a:uFillTx/>
                <a:latin typeface="Calibri"/>
                <a:ea typeface="Calibri"/>
              </a:rPr>
              <a:t>Refactor 🔵</a:t>
            </a:r>
            <a:endParaRPr lang="pt-BR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499"/>
              </a:spcAft>
              <a:buClr>
                <a:srgbClr val="f1f5f9"/>
              </a:buClr>
              <a:buFont typeface="Symbol" charset="2"/>
              <a:buChar char=""/>
              <a:tabLst>
                <a:tab algn="l" pos="0"/>
              </a:tabLst>
            </a:pPr>
            <a:r>
              <a:rPr lang="en-US" sz="1300" b="0" u="none" strike="noStrike">
                <a:solidFill>
                  <a:srgbClr val="f1f5f9"/>
                </a:solidFill>
                <a:effectLst/>
                <a:uFillTx/>
                <a:latin typeface="Calibri"/>
                <a:ea typeface="Calibri"/>
              </a:rPr>
              <a:t>Melhora sem medo: se algo quebrar, os testes avisam imediatamente.</a:t>
            </a:r>
            <a:endParaRPr lang="pt-BR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f19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Shape 0"/>
          <p:cNvSpPr/>
          <p:nvPr/>
        </p:nvSpPr>
        <p:spPr>
          <a:xfrm>
            <a:off x="0" y="0"/>
            <a:ext cx="9143640" cy="72720"/>
          </a:xfrm>
          <a:prstGeom prst="rect">
            <a:avLst/>
          </a:prstGeom>
          <a:solidFill>
            <a:srgbClr val="0d948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28080" bIns="28080" anchor="t">
            <a:noAutofit/>
          </a:bodyPr>
          <a:p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9" name="Shape 1"/>
          <p:cNvSpPr/>
          <p:nvPr/>
        </p:nvSpPr>
        <p:spPr>
          <a:xfrm>
            <a:off x="0" y="73080"/>
            <a:ext cx="9143640" cy="685440"/>
          </a:xfrm>
          <a:prstGeom prst="rect">
            <a:avLst/>
          </a:prstGeom>
          <a:solidFill>
            <a:srgbClr val="152535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0" name="Text 2"/>
          <p:cNvSpPr/>
          <p:nvPr/>
        </p:nvSpPr>
        <p:spPr>
          <a:xfrm>
            <a:off x="320040" y="73080"/>
            <a:ext cx="850356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2000" b="1" u="none" strike="noStrike">
                <a:solidFill>
                  <a:srgbClr val="14b8a6"/>
                </a:solidFill>
                <a:effectLst/>
                <a:uFillTx/>
                <a:latin typeface="Trebuchet MS"/>
                <a:ea typeface="Trebuchet MS"/>
              </a:rPr>
              <a:t>XP — Programação em Pares</a:t>
            </a:r>
            <a:endParaRPr lang="pt-BR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1" name="Shape 3"/>
          <p:cNvSpPr/>
          <p:nvPr/>
        </p:nvSpPr>
        <p:spPr>
          <a:xfrm>
            <a:off x="4526280" y="914400"/>
            <a:ext cx="54360" cy="3931560"/>
          </a:xfrm>
          <a:prstGeom prst="rect">
            <a:avLst/>
          </a:prstGeom>
          <a:solidFill>
            <a:srgbClr val="0d948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2" name="Text 4"/>
          <p:cNvSpPr/>
          <p:nvPr/>
        </p:nvSpPr>
        <p:spPr>
          <a:xfrm>
            <a:off x="320040" y="914400"/>
            <a:ext cx="402300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400" b="1" u="none" strike="noStrike">
                <a:solidFill>
                  <a:srgbClr val="0d9488"/>
                </a:solidFill>
                <a:effectLst/>
                <a:uFillTx/>
                <a:latin typeface="Trebuchet MS"/>
                <a:ea typeface="Trebuchet MS"/>
              </a:rPr>
              <a:t>Como funciona</a:t>
            </a:r>
            <a:endParaRPr lang="pt-BR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3" name="Text 5"/>
          <p:cNvSpPr/>
          <p:nvPr/>
        </p:nvSpPr>
        <p:spPr>
          <a:xfrm>
            <a:off x="4754880" y="914400"/>
            <a:ext cx="402300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400" b="1" u="none" strike="noStrike">
                <a:solidFill>
                  <a:srgbClr val="0d9488"/>
                </a:solidFill>
                <a:effectLst/>
                <a:uFillTx/>
                <a:latin typeface="Trebuchet MS"/>
                <a:ea typeface="Trebuchet MS"/>
              </a:rPr>
              <a:t>Dicas Práticas</a:t>
            </a:r>
            <a:endParaRPr lang="pt-BR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4" name="Text 6"/>
          <p:cNvSpPr/>
          <p:nvPr/>
        </p:nvSpPr>
        <p:spPr>
          <a:xfrm>
            <a:off x="320040" y="1298520"/>
            <a:ext cx="4023000" cy="3661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marL="343080" indent="-343080" defTabSz="914400">
              <a:lnSpc>
                <a:spcPct val="100000"/>
              </a:lnSpc>
              <a:spcAft>
                <a:spcPts val="400"/>
              </a:spcAft>
              <a:buClr>
                <a:srgbClr val="f1f5f9"/>
              </a:buClr>
              <a:buFont typeface="Symbol" charset="2"/>
              <a:buChar char=""/>
            </a:pPr>
            <a:r>
              <a:rPr lang="en-US" sz="1300" b="0" u="none" strike="noStrike">
                <a:solidFill>
                  <a:srgbClr val="f1f5f9"/>
                </a:solidFill>
                <a:effectLst/>
                <a:uFillTx/>
                <a:latin typeface="Calibri"/>
                <a:ea typeface="Calibri"/>
              </a:rPr>
              <a:t>Duas pessoas, uma mesma estação de trabalho</a:t>
            </a:r>
            <a:endParaRPr lang="pt-BR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400"/>
              </a:spcAft>
              <a:buClr>
                <a:srgbClr val="f1f5f9"/>
              </a:buClr>
              <a:buFont typeface="Symbol" charset="2"/>
              <a:buChar char=""/>
            </a:pPr>
            <a:r>
              <a:rPr lang="en-US" sz="1300" b="0" u="none" strike="noStrike">
                <a:solidFill>
                  <a:srgbClr val="f1f5f9"/>
                </a:solidFill>
                <a:effectLst/>
                <a:uFillTx/>
                <a:latin typeface="Calibri"/>
                <a:ea typeface="Calibri"/>
              </a:rPr>
              <a:t>Um programa (driver), o outro revisa (navigator)</a:t>
            </a:r>
            <a:endParaRPr lang="pt-BR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400"/>
              </a:spcAft>
              <a:buClr>
                <a:srgbClr val="f1f5f9"/>
              </a:buClr>
              <a:buFont typeface="Symbol" charset="2"/>
              <a:buChar char=""/>
            </a:pPr>
            <a:r>
              <a:rPr lang="en-US" sz="1300" b="0" u="none" strike="noStrike">
                <a:solidFill>
                  <a:srgbClr val="f1f5f9"/>
                </a:solidFill>
                <a:effectLst/>
                <a:uFillTx/>
                <a:latin typeface="Calibri"/>
                <a:ea typeface="Calibri"/>
              </a:rPr>
              <a:t>Papéis alternam frequentemente</a:t>
            </a:r>
            <a:endParaRPr lang="pt-BR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spcBef>
                <a:spcPts val="601"/>
              </a:spcBef>
              <a:spcAft>
                <a:spcPts val="400"/>
              </a:spcAft>
              <a:tabLst>
                <a:tab algn="l" pos="0"/>
              </a:tabLst>
            </a:pPr>
            <a:r>
              <a:rPr lang="en-US" sz="1300" b="1" u="none" strike="noStrike">
                <a:solidFill>
                  <a:srgbClr val="fcd34d"/>
                </a:solidFill>
                <a:effectLst/>
                <a:uFillTx/>
                <a:latin typeface="Calibri"/>
                <a:ea typeface="Calibri"/>
              </a:rPr>
              <a:t>Benefícios:</a:t>
            </a:r>
            <a:endParaRPr lang="pt-BR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400"/>
              </a:spcAft>
              <a:buClr>
                <a:srgbClr val="f1f5f9"/>
              </a:buClr>
              <a:buFont typeface="Symbol" charset="2"/>
              <a:buChar char=""/>
              <a:tabLst>
                <a:tab algn="l" pos="0"/>
              </a:tabLst>
            </a:pPr>
            <a:r>
              <a:rPr lang="en-US" sz="1300" b="0" u="none" strike="noStrike">
                <a:solidFill>
                  <a:srgbClr val="f1f5f9"/>
                </a:solidFill>
                <a:effectLst/>
                <a:uFillTx/>
                <a:latin typeface="Calibri"/>
                <a:ea typeface="Calibri"/>
              </a:rPr>
              <a:t>Solução de problemas em tempo real</a:t>
            </a:r>
            <a:endParaRPr lang="pt-BR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400"/>
              </a:spcAft>
              <a:buClr>
                <a:srgbClr val="f1f5f9"/>
              </a:buClr>
              <a:buFont typeface="Symbol" charset="2"/>
              <a:buChar char=""/>
              <a:tabLst>
                <a:tab algn="l" pos="0"/>
              </a:tabLst>
            </a:pPr>
            <a:r>
              <a:rPr lang="en-US" sz="1300" b="0" u="none" strike="noStrike">
                <a:solidFill>
                  <a:srgbClr val="f1f5f9"/>
                </a:solidFill>
                <a:effectLst/>
                <a:uFillTx/>
                <a:latin typeface="Calibri"/>
                <a:ea typeface="Calibri"/>
              </a:rPr>
              <a:t>Revisão de código acontece enquanto se cria</a:t>
            </a:r>
            <a:endParaRPr lang="pt-BR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400"/>
              </a:spcAft>
              <a:buClr>
                <a:srgbClr val="f1f5f9"/>
              </a:buClr>
              <a:buFont typeface="Symbol" charset="2"/>
              <a:buChar char=""/>
              <a:tabLst>
                <a:tab algn="l" pos="0"/>
              </a:tabLst>
            </a:pPr>
            <a:r>
              <a:rPr lang="en-US" sz="1300" b="0" u="none" strike="noStrike">
                <a:solidFill>
                  <a:srgbClr val="f1f5f9"/>
                </a:solidFill>
                <a:effectLst/>
                <a:uFillTx/>
                <a:latin typeface="Calibri"/>
                <a:ea typeface="Calibri"/>
              </a:rPr>
              <a:t>Conhecimento compartilhado — sem 'silos'</a:t>
            </a:r>
            <a:endParaRPr lang="pt-BR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400"/>
              </a:spcAft>
              <a:buClr>
                <a:srgbClr val="f1f5f9"/>
              </a:buClr>
              <a:buFont typeface="Symbol" charset="2"/>
              <a:buChar char=""/>
              <a:tabLst>
                <a:tab algn="l" pos="0"/>
              </a:tabLst>
            </a:pPr>
            <a:r>
              <a:rPr lang="en-US" sz="1300" b="0" u="none" strike="noStrike">
                <a:solidFill>
                  <a:srgbClr val="f1f5f9"/>
                </a:solidFill>
                <a:effectLst/>
                <a:uFillTx/>
                <a:latin typeface="Calibri"/>
                <a:ea typeface="Calibri"/>
              </a:rPr>
              <a:t>Menos bugs chegam até os testes</a:t>
            </a:r>
            <a:endParaRPr lang="pt-BR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5" name="Text 7"/>
          <p:cNvSpPr/>
          <p:nvPr/>
        </p:nvSpPr>
        <p:spPr>
          <a:xfrm>
            <a:off x="4754880" y="1298520"/>
            <a:ext cx="4114440" cy="3661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marL="343080" indent="-343080" defTabSz="914400">
              <a:lnSpc>
                <a:spcPct val="100000"/>
              </a:lnSpc>
              <a:spcAft>
                <a:spcPts val="400"/>
              </a:spcAft>
              <a:buClr>
                <a:srgbClr val="f1f5f9"/>
              </a:buClr>
              <a:buFont typeface="Symbol" charset="2"/>
              <a:buChar char=""/>
            </a:pPr>
            <a:r>
              <a:rPr lang="en-US" sz="1300" b="0" u="none" strike="noStrike">
                <a:solidFill>
                  <a:srgbClr val="f1f5f9"/>
                </a:solidFill>
                <a:effectLst/>
                <a:uFillTx/>
                <a:latin typeface="Calibri"/>
                <a:ea typeface="Calibri"/>
              </a:rPr>
              <a:t>Pode parecer lento, mas entrega mais qualidade</a:t>
            </a:r>
            <a:endParaRPr lang="pt-BR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400"/>
              </a:spcAft>
              <a:buClr>
                <a:srgbClr val="f1f5f9"/>
              </a:buClr>
              <a:buFont typeface="Symbol" charset="2"/>
              <a:buChar char=""/>
            </a:pPr>
            <a:r>
              <a:rPr lang="en-US" sz="1300" b="0" u="none" strike="noStrike">
                <a:solidFill>
                  <a:srgbClr val="f1f5f9"/>
                </a:solidFill>
                <a:effectLst/>
                <a:uFillTx/>
                <a:latin typeface="Calibri"/>
                <a:ea typeface="Calibri"/>
              </a:rPr>
              <a:t>Dois desenvolvedores = menos retrabalho</a:t>
            </a:r>
            <a:endParaRPr lang="pt-BR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400"/>
              </a:spcAft>
              <a:buClr>
                <a:srgbClr val="f1f5f9"/>
              </a:buClr>
              <a:buFont typeface="Symbol" charset="2"/>
              <a:buChar char=""/>
            </a:pPr>
            <a:r>
              <a:rPr lang="en-US" sz="1300" b="0" u="none" strike="noStrike">
                <a:solidFill>
                  <a:srgbClr val="f1f5f9"/>
                </a:solidFill>
                <a:effectLst/>
                <a:uFillTx/>
                <a:latin typeface="Calibri"/>
                <a:ea typeface="Calibri"/>
              </a:rPr>
              <a:t>Funciona melhor com TDD (um escreve teste, outro código)</a:t>
            </a:r>
            <a:endParaRPr lang="pt-BR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spcBef>
                <a:spcPts val="601"/>
              </a:spcBef>
              <a:spcAft>
                <a:spcPts val="400"/>
              </a:spcAft>
              <a:tabLst>
                <a:tab algn="l" pos="0"/>
              </a:tabLst>
            </a:pPr>
            <a:r>
              <a:rPr lang="en-US" sz="1300" b="1" u="none" strike="noStrike">
                <a:solidFill>
                  <a:srgbClr val="fcd34d"/>
                </a:solidFill>
                <a:effectLst/>
                <a:uFillTx/>
                <a:latin typeface="Calibri"/>
                <a:ea typeface="Calibri"/>
              </a:rPr>
              <a:t>Na prática:</a:t>
            </a:r>
            <a:endParaRPr lang="pt-BR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400"/>
              </a:spcAft>
              <a:buClr>
                <a:srgbClr val="f1f5f9"/>
              </a:buClr>
              <a:buFont typeface="Symbol" charset="2"/>
              <a:buChar char=""/>
              <a:tabLst>
                <a:tab algn="l" pos="0"/>
              </a:tabLst>
            </a:pPr>
            <a:r>
              <a:rPr lang="en-US" sz="1300" b="0" u="none" strike="noStrike">
                <a:solidFill>
                  <a:srgbClr val="f1f5f9"/>
                </a:solidFill>
                <a:effectLst/>
                <a:uFillTx/>
                <a:latin typeface="Calibri"/>
                <a:ea typeface="Calibri"/>
              </a:rPr>
              <a:t>Driver → foca no código linha a linha</a:t>
            </a:r>
            <a:endParaRPr lang="pt-BR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400"/>
              </a:spcAft>
              <a:buClr>
                <a:srgbClr val="f1f5f9"/>
              </a:buClr>
              <a:buFont typeface="Symbol" charset="2"/>
              <a:buChar char=""/>
              <a:tabLst>
                <a:tab algn="l" pos="0"/>
              </a:tabLst>
            </a:pPr>
            <a:r>
              <a:rPr lang="en-US" sz="1300" b="0" u="none" strike="noStrike">
                <a:solidFill>
                  <a:srgbClr val="f1f5f9"/>
                </a:solidFill>
                <a:effectLst/>
                <a:uFillTx/>
                <a:latin typeface="Calibri"/>
                <a:ea typeface="Calibri"/>
              </a:rPr>
              <a:t>Navigator → pensa no design, nos testes, no contexto</a:t>
            </a:r>
            <a:endParaRPr lang="pt-BR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400"/>
              </a:spcAft>
              <a:buClr>
                <a:srgbClr val="f1f5f9"/>
              </a:buClr>
              <a:buFont typeface="Symbol" charset="2"/>
              <a:buChar char=""/>
              <a:tabLst>
                <a:tab algn="l" pos="0"/>
              </a:tabLst>
            </a:pPr>
            <a:r>
              <a:rPr lang="en-US" sz="1300" b="0" u="none" strike="noStrike">
                <a:solidFill>
                  <a:srgbClr val="f1f5f9"/>
                </a:solidFill>
                <a:effectLst/>
                <a:uFillTx/>
                <a:latin typeface="Calibri"/>
                <a:ea typeface="Calibri"/>
              </a:rPr>
              <a:t>Troca a cada 15–30 minutos</a:t>
            </a:r>
            <a:endParaRPr lang="pt-BR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400"/>
              </a:spcAft>
              <a:buClr>
                <a:srgbClr val="f1f5f9"/>
              </a:buClr>
              <a:buFont typeface="Symbol" charset="2"/>
              <a:buChar char=""/>
              <a:tabLst>
                <a:tab algn="l" pos="0"/>
              </a:tabLst>
            </a:pPr>
            <a:r>
              <a:rPr lang="en-US" sz="1300" b="0" u="none" strike="noStrike">
                <a:solidFill>
                  <a:srgbClr val="f1f5f9"/>
                </a:solidFill>
                <a:effectLst/>
                <a:uFillTx/>
                <a:latin typeface="Calibri"/>
                <a:ea typeface="Calibri"/>
              </a:rPr>
              <a:t>Exige comunicação constante</a:t>
            </a:r>
            <a:endParaRPr lang="pt-BR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6" name="Shape 8"/>
          <p:cNvSpPr/>
          <p:nvPr/>
        </p:nvSpPr>
        <p:spPr>
          <a:xfrm>
            <a:off x="365760" y="4160520"/>
            <a:ext cx="8412120" cy="776880"/>
          </a:xfrm>
          <a:prstGeom prst="rect">
            <a:avLst/>
          </a:prstGeom>
          <a:solidFill>
            <a:srgbClr val="1c2d1f"/>
          </a:solidFill>
          <a:ln w="19050">
            <a:solidFill>
              <a:srgbClr val="f97316"/>
            </a:solidFill>
            <a:round/>
          </a:ln>
          <a:effectLst>
            <a:outerShdw algn="bl" blurRad="101520" dir="8100000" dist="37674" kx="0" ky="0" rotWithShape="0" sx="100000" sy="100000">
              <a:srgbClr val="000000">
                <a:alpha val="2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7" name="Text 9"/>
          <p:cNvSpPr/>
          <p:nvPr/>
        </p:nvSpPr>
        <p:spPr>
          <a:xfrm>
            <a:off x="502920" y="4187880"/>
            <a:ext cx="8137800" cy="712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250" b="1" u="none" strike="noStrike">
                <a:solidFill>
                  <a:srgbClr val="f97316"/>
                </a:solidFill>
                <a:effectLst/>
                <a:uFillTx/>
                <a:latin typeface="Calibri"/>
                <a:ea typeface="Calibri"/>
              </a:rPr>
              <a:t>💬 Discussão: </a:t>
            </a:r>
            <a:r>
              <a:rPr lang="en-US" sz="1250" b="0" u="none" strike="noStrike">
                <a:solidFill>
                  <a:srgbClr val="f1f5f9"/>
                </a:solidFill>
                <a:effectLst/>
                <a:uFillTx/>
                <a:latin typeface="Calibri"/>
                <a:ea typeface="Calibri"/>
              </a:rPr>
              <a:t>Vocês já trabalharam em dupla num código? O que funcionou bem? O que foi difícil?</a:t>
            </a:r>
            <a:endParaRPr lang="pt-BR" sz="12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f19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Shape 0"/>
          <p:cNvSpPr/>
          <p:nvPr/>
        </p:nvSpPr>
        <p:spPr>
          <a:xfrm>
            <a:off x="0" y="0"/>
            <a:ext cx="9143640" cy="5143320"/>
          </a:xfrm>
          <a:prstGeom prst="rect">
            <a:avLst/>
          </a:prstGeom>
          <a:solidFill>
            <a:srgbClr val="152535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9" name="Shape 1"/>
          <p:cNvSpPr/>
          <p:nvPr/>
        </p:nvSpPr>
        <p:spPr>
          <a:xfrm>
            <a:off x="0" y="0"/>
            <a:ext cx="9143640" cy="109440"/>
          </a:xfrm>
          <a:prstGeom prst="rect">
            <a:avLst/>
          </a:prstGeom>
          <a:solidFill>
            <a:srgbClr val="0d948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0" name="Shape 2"/>
          <p:cNvSpPr/>
          <p:nvPr/>
        </p:nvSpPr>
        <p:spPr>
          <a:xfrm>
            <a:off x="0" y="5029200"/>
            <a:ext cx="9143640" cy="109440"/>
          </a:xfrm>
          <a:prstGeom prst="rect">
            <a:avLst/>
          </a:prstGeom>
          <a:solidFill>
            <a:srgbClr val="0d948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1" name="Text 3"/>
          <p:cNvSpPr/>
          <p:nvPr/>
        </p:nvSpPr>
        <p:spPr>
          <a:xfrm>
            <a:off x="457200" y="1645920"/>
            <a:ext cx="8229240" cy="1828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4000" b="1" u="none" strike="noStrike">
                <a:solidFill>
                  <a:srgbClr val="f1f5f9"/>
                </a:solidFill>
                <a:effectLst/>
                <a:uFillTx/>
                <a:latin typeface="Trebuchet MS"/>
                <a:ea typeface="Trebuchet MS"/>
              </a:rPr>
              <a:t>05  XP — Testes</a:t>
            </a:r>
            <a:endParaRPr lang="pt-BR" sz="4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f19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Shape 0"/>
          <p:cNvSpPr/>
          <p:nvPr/>
        </p:nvSpPr>
        <p:spPr>
          <a:xfrm>
            <a:off x="0" y="0"/>
            <a:ext cx="9143640" cy="72720"/>
          </a:xfrm>
          <a:prstGeom prst="rect">
            <a:avLst/>
          </a:prstGeom>
          <a:solidFill>
            <a:srgbClr val="0d948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28080" bIns="28080" anchor="t">
            <a:noAutofit/>
          </a:bodyPr>
          <a:p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3" name="Shape 1"/>
          <p:cNvSpPr/>
          <p:nvPr/>
        </p:nvSpPr>
        <p:spPr>
          <a:xfrm>
            <a:off x="0" y="73080"/>
            <a:ext cx="9143640" cy="685440"/>
          </a:xfrm>
          <a:prstGeom prst="rect">
            <a:avLst/>
          </a:prstGeom>
          <a:solidFill>
            <a:srgbClr val="152535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4" name="Text 2"/>
          <p:cNvSpPr/>
          <p:nvPr/>
        </p:nvSpPr>
        <p:spPr>
          <a:xfrm>
            <a:off x="320040" y="73080"/>
            <a:ext cx="850356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2000" b="1" u="none" strike="noStrike">
                <a:solidFill>
                  <a:srgbClr val="14b8a6"/>
                </a:solidFill>
                <a:effectLst/>
                <a:uFillTx/>
                <a:latin typeface="Trebuchet MS"/>
                <a:ea typeface="Trebuchet MS"/>
              </a:rPr>
              <a:t>XP — Testes de Unidade e de Aceitação</a:t>
            </a:r>
            <a:endParaRPr lang="pt-BR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5" name="Shape 3"/>
          <p:cNvSpPr/>
          <p:nvPr/>
        </p:nvSpPr>
        <p:spPr>
          <a:xfrm>
            <a:off x="4526280" y="914400"/>
            <a:ext cx="54360" cy="3931560"/>
          </a:xfrm>
          <a:prstGeom prst="rect">
            <a:avLst/>
          </a:prstGeom>
          <a:solidFill>
            <a:srgbClr val="0d948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6" name="Text 4"/>
          <p:cNvSpPr/>
          <p:nvPr/>
        </p:nvSpPr>
        <p:spPr>
          <a:xfrm>
            <a:off x="320040" y="914400"/>
            <a:ext cx="402300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400" b="1" u="none" strike="noStrike">
                <a:solidFill>
                  <a:srgbClr val="0d9488"/>
                </a:solidFill>
                <a:effectLst/>
                <a:uFillTx/>
                <a:latin typeface="Trebuchet MS"/>
                <a:ea typeface="Trebuchet MS"/>
              </a:rPr>
              <a:t>Técnico (dev)</a:t>
            </a:r>
            <a:endParaRPr lang="pt-BR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7" name="Text 5"/>
          <p:cNvSpPr/>
          <p:nvPr/>
        </p:nvSpPr>
        <p:spPr>
          <a:xfrm>
            <a:off x="4754880" y="914400"/>
            <a:ext cx="402300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400" b="1" u="none" strike="noStrike">
                <a:solidFill>
                  <a:srgbClr val="0d9488"/>
                </a:solidFill>
                <a:effectLst/>
                <a:uFillTx/>
                <a:latin typeface="Trebuchet MS"/>
                <a:ea typeface="Trebuchet MS"/>
              </a:rPr>
              <a:t>Negócio (cliente)</a:t>
            </a:r>
            <a:endParaRPr lang="pt-BR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8" name="Text 6"/>
          <p:cNvSpPr/>
          <p:nvPr/>
        </p:nvSpPr>
        <p:spPr>
          <a:xfrm>
            <a:off x="320040" y="1298520"/>
            <a:ext cx="4023000" cy="3661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  <a:spcBef>
                <a:spcPts val="601"/>
              </a:spcBef>
              <a:spcAft>
                <a:spcPts val="400"/>
              </a:spcAft>
              <a:tabLst>
                <a:tab algn="l" pos="0"/>
              </a:tabLst>
            </a:pPr>
            <a:r>
              <a:rPr lang="en-US" sz="1300" b="1" u="none" strike="noStrike">
                <a:solidFill>
                  <a:srgbClr val="fcd34d"/>
                </a:solidFill>
                <a:effectLst/>
                <a:uFillTx/>
                <a:latin typeface="Calibri"/>
                <a:ea typeface="Calibri"/>
              </a:rPr>
              <a:t>Testes de Unidade</a:t>
            </a:r>
            <a:endParaRPr lang="pt-BR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400"/>
              </a:spcAft>
              <a:buClr>
                <a:srgbClr val="f1f5f9"/>
              </a:buClr>
              <a:buFont typeface="Symbol" charset="2"/>
              <a:buChar char=""/>
              <a:tabLst>
                <a:tab algn="l" pos="0"/>
              </a:tabLst>
            </a:pPr>
            <a:r>
              <a:rPr lang="en-US" sz="1300" b="0" u="none" strike="noStrike">
                <a:solidFill>
                  <a:srgbClr val="f1f5f9"/>
                </a:solidFill>
                <a:effectLst/>
                <a:uFillTx/>
                <a:latin typeface="Calibri"/>
                <a:ea typeface="Calibri"/>
              </a:rPr>
              <a:t>Automatizados — rodam com um comando</a:t>
            </a:r>
            <a:endParaRPr lang="pt-BR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400"/>
              </a:spcAft>
              <a:buClr>
                <a:srgbClr val="f1f5f9"/>
              </a:buClr>
              <a:buFont typeface="Symbol" charset="2"/>
              <a:buChar char=""/>
              <a:tabLst>
                <a:tab algn="l" pos="0"/>
              </a:tabLst>
            </a:pPr>
            <a:r>
              <a:rPr lang="en-US" sz="1300" b="0" u="none" strike="noStrike">
                <a:solidFill>
                  <a:srgbClr val="f1f5f9"/>
                </a:solidFill>
                <a:effectLst/>
                <a:uFillTx/>
                <a:latin typeface="Calibri"/>
                <a:ea typeface="Calibri"/>
              </a:rPr>
              <a:t>Escritos antes do código (TDD)</a:t>
            </a:r>
            <a:endParaRPr lang="pt-BR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400"/>
              </a:spcAft>
              <a:buClr>
                <a:srgbClr val="f1f5f9"/>
              </a:buClr>
              <a:buFont typeface="Symbol" charset="2"/>
              <a:buChar char=""/>
              <a:tabLst>
                <a:tab algn="l" pos="0"/>
              </a:tabLst>
            </a:pPr>
            <a:r>
              <a:rPr lang="en-US" sz="1300" b="0" u="none" strike="noStrike">
                <a:solidFill>
                  <a:srgbClr val="f1f5f9"/>
                </a:solidFill>
                <a:effectLst/>
                <a:uFillTx/>
                <a:latin typeface="Calibri"/>
                <a:ea typeface="Calibri"/>
              </a:rPr>
              <a:t>Testam métodos e classes isoladamente</a:t>
            </a:r>
            <a:endParaRPr lang="pt-BR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400"/>
              </a:spcAft>
              <a:buClr>
                <a:srgbClr val="f1f5f9"/>
              </a:buClr>
              <a:buFont typeface="Symbol" charset="2"/>
              <a:buChar char=""/>
              <a:tabLst>
                <a:tab algn="l" pos="0"/>
              </a:tabLst>
            </a:pPr>
            <a:r>
              <a:rPr lang="en-US" sz="1300" b="0" u="none" strike="noStrike">
                <a:solidFill>
                  <a:srgbClr val="f1f5f9"/>
                </a:solidFill>
                <a:effectLst/>
                <a:uFillTx/>
                <a:latin typeface="Calibri"/>
                <a:ea typeface="Calibri"/>
              </a:rPr>
              <a:t>Executados a cada modificação (refatoração)</a:t>
            </a:r>
            <a:endParaRPr lang="pt-BR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spcBef>
                <a:spcPts val="601"/>
              </a:spcBef>
              <a:spcAft>
                <a:spcPts val="400"/>
              </a:spcAft>
              <a:tabLst>
                <a:tab algn="l" pos="0"/>
              </a:tabLst>
            </a:pPr>
            <a:r>
              <a:rPr lang="en-US" sz="1300" b="1" u="none" strike="noStrike">
                <a:solidFill>
                  <a:srgbClr val="fcd34d"/>
                </a:solidFill>
                <a:effectLst/>
                <a:uFillTx/>
                <a:latin typeface="Calibri"/>
                <a:ea typeface="Calibri"/>
              </a:rPr>
              <a:t>Regressão:</a:t>
            </a:r>
            <a:endParaRPr lang="pt-BR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400"/>
              </a:spcAft>
              <a:buClr>
                <a:srgbClr val="f1f5f9"/>
              </a:buClr>
              <a:buFont typeface="Symbol" charset="2"/>
              <a:buChar char=""/>
              <a:tabLst>
                <a:tab algn="l" pos="0"/>
              </a:tabLst>
            </a:pPr>
            <a:r>
              <a:rPr lang="en-US" sz="1300" b="0" u="none" strike="noStrike">
                <a:solidFill>
                  <a:srgbClr val="f1f5f9"/>
                </a:solidFill>
                <a:effectLst/>
                <a:uFillTx/>
                <a:latin typeface="Calibri"/>
                <a:ea typeface="Calibri"/>
              </a:rPr>
              <a:t>Quando um teste que passava começa a falhar</a:t>
            </a:r>
            <a:endParaRPr lang="pt-BR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400"/>
              </a:spcAft>
              <a:buClr>
                <a:srgbClr val="f1f5f9"/>
              </a:buClr>
              <a:buFont typeface="Symbol" charset="2"/>
              <a:buChar char=""/>
              <a:tabLst>
                <a:tab algn="l" pos="0"/>
              </a:tabLst>
            </a:pPr>
            <a:r>
              <a:rPr lang="en-US" sz="1300" b="0" u="none" strike="noStrike">
                <a:solidFill>
                  <a:srgbClr val="f1f5f9"/>
                </a:solidFill>
                <a:effectLst/>
                <a:uFillTx/>
                <a:latin typeface="Calibri"/>
                <a:ea typeface="Calibri"/>
              </a:rPr>
              <a:t>XP detecta em minutos, não dias</a:t>
            </a:r>
            <a:endParaRPr lang="pt-BR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9" name="Text 7"/>
          <p:cNvSpPr/>
          <p:nvPr/>
        </p:nvSpPr>
        <p:spPr>
          <a:xfrm>
            <a:off x="4754880" y="1298520"/>
            <a:ext cx="4114440" cy="3661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  <a:spcBef>
                <a:spcPts val="601"/>
              </a:spcBef>
              <a:spcAft>
                <a:spcPts val="400"/>
              </a:spcAft>
              <a:tabLst>
                <a:tab algn="l" pos="0"/>
              </a:tabLst>
            </a:pPr>
            <a:r>
              <a:rPr lang="en-US" sz="1300" b="1" u="none" strike="noStrike">
                <a:solidFill>
                  <a:srgbClr val="fcd34d"/>
                </a:solidFill>
                <a:effectLst/>
                <a:uFillTx/>
                <a:latin typeface="Calibri"/>
                <a:ea typeface="Calibri"/>
              </a:rPr>
              <a:t>Testes de Aceitação</a:t>
            </a:r>
            <a:endParaRPr lang="pt-BR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400"/>
              </a:spcAft>
              <a:buClr>
                <a:srgbClr val="f1f5f9"/>
              </a:buClr>
              <a:buFont typeface="Symbol" charset="2"/>
              <a:buChar char=""/>
              <a:tabLst>
                <a:tab algn="l" pos="0"/>
              </a:tabLst>
            </a:pPr>
            <a:r>
              <a:rPr lang="en-US" sz="1300" b="0" u="none" strike="noStrike">
                <a:solidFill>
                  <a:srgbClr val="f1f5f9"/>
                </a:solidFill>
                <a:effectLst/>
                <a:uFillTx/>
                <a:latin typeface="Calibri"/>
                <a:ea typeface="Calibri"/>
              </a:rPr>
              <a:t>Especificados pelo cliente / Product Owner</a:t>
            </a:r>
            <a:endParaRPr lang="pt-BR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400"/>
              </a:spcAft>
              <a:buClr>
                <a:srgbClr val="f1f5f9"/>
              </a:buClr>
              <a:buFont typeface="Symbol" charset="2"/>
              <a:buChar char=""/>
              <a:tabLst>
                <a:tab algn="l" pos="0"/>
              </a:tabLst>
            </a:pPr>
            <a:r>
              <a:rPr lang="en-US" sz="1300" b="0" u="none" strike="noStrike">
                <a:solidFill>
                  <a:srgbClr val="f1f5f9"/>
                </a:solidFill>
                <a:effectLst/>
                <a:uFillTx/>
                <a:latin typeface="Calibri"/>
                <a:ea typeface="Calibri"/>
              </a:rPr>
              <a:t>Verificam o sistema da perspectiva do usuário</a:t>
            </a:r>
            <a:endParaRPr lang="pt-BR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400"/>
              </a:spcAft>
              <a:buClr>
                <a:srgbClr val="f1f5f9"/>
              </a:buClr>
              <a:buFont typeface="Symbol" charset="2"/>
              <a:buChar char=""/>
              <a:tabLst>
                <a:tab algn="l" pos="0"/>
              </a:tabLst>
            </a:pPr>
            <a:r>
              <a:rPr lang="en-US" sz="1300" b="0" u="none" strike="noStrike">
                <a:solidFill>
                  <a:srgbClr val="f1f5f9"/>
                </a:solidFill>
                <a:effectLst/>
                <a:uFillTx/>
                <a:latin typeface="Calibri"/>
                <a:ea typeface="Calibri"/>
              </a:rPr>
              <a:t>Descrevem o comportamento esperado de uma história</a:t>
            </a:r>
            <a:endParaRPr lang="pt-BR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400"/>
              </a:spcAft>
              <a:buClr>
                <a:srgbClr val="f1f5f9"/>
              </a:buClr>
              <a:buFont typeface="Symbol" charset="2"/>
              <a:buChar char=""/>
              <a:tabLst>
                <a:tab algn="l" pos="0"/>
              </a:tabLst>
            </a:pPr>
            <a:r>
              <a:rPr lang="en-US" sz="1300" b="0" u="none" strike="noStrike">
                <a:solidFill>
                  <a:srgbClr val="f1f5f9"/>
                </a:solidFill>
                <a:effectLst/>
                <a:uFillTx/>
                <a:latin typeface="Calibri"/>
                <a:ea typeface="Calibri"/>
              </a:rPr>
              <a:t>Automatizados sempre que possível</a:t>
            </a:r>
            <a:endParaRPr lang="pt-BR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spcBef>
                <a:spcPts val="601"/>
              </a:spcBef>
              <a:spcAft>
                <a:spcPts val="400"/>
              </a:spcAft>
              <a:tabLst>
                <a:tab algn="l" pos="0"/>
              </a:tabLst>
            </a:pPr>
            <a:r>
              <a:rPr lang="en-US" sz="1300" b="1" u="none" strike="noStrike">
                <a:solidFill>
                  <a:srgbClr val="fcd34d"/>
                </a:solidFill>
                <a:effectLst/>
                <a:uFillTx/>
                <a:latin typeface="Calibri"/>
                <a:ea typeface="Calibri"/>
              </a:rPr>
              <a:t>Exemplo:</a:t>
            </a:r>
            <a:endParaRPr lang="pt-BR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400"/>
              </a:spcAft>
              <a:buClr>
                <a:srgbClr val="f1f5f9"/>
              </a:buClr>
              <a:buFont typeface="Symbol" charset="2"/>
              <a:buChar char=""/>
              <a:tabLst>
                <a:tab algn="l" pos="0"/>
              </a:tabLst>
            </a:pPr>
            <a:r>
              <a:rPr lang="en-US" sz="1300" b="0" u="none" strike="noStrike">
                <a:solidFill>
                  <a:srgbClr val="f1f5f9"/>
                </a:solidFill>
                <a:effectLst/>
                <a:uFillTx/>
                <a:latin typeface="Calibri"/>
                <a:ea typeface="Calibri"/>
              </a:rPr>
              <a:t>"Ao clicar em 'Cadastrar' com dados válidos,</a:t>
            </a:r>
            <a:endParaRPr lang="pt-BR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400"/>
              </a:spcAft>
              <a:buClr>
                <a:srgbClr val="f1f5f9"/>
              </a:buClr>
              <a:buFont typeface="Symbol" charset="2"/>
              <a:buChar char=""/>
              <a:tabLst>
                <a:tab algn="l" pos="0"/>
              </a:tabLst>
            </a:pPr>
            <a:r>
              <a:rPr lang="en-US" sz="1300" b="0" u="none" strike="noStrike">
                <a:solidFill>
                  <a:srgbClr val="f1f5f9"/>
                </a:solidFill>
                <a:effectLst/>
                <a:uFillTx/>
                <a:latin typeface="Calibri"/>
                <a:ea typeface="Calibri"/>
              </a:rPr>
              <a:t> o sistema exibe mensagem de sucesso"</a:t>
            </a:r>
            <a:endParaRPr lang="pt-BR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f19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Shape 0"/>
          <p:cNvSpPr/>
          <p:nvPr/>
        </p:nvSpPr>
        <p:spPr>
          <a:xfrm>
            <a:off x="0" y="0"/>
            <a:ext cx="9143640" cy="72720"/>
          </a:xfrm>
          <a:prstGeom prst="rect">
            <a:avLst/>
          </a:prstGeom>
          <a:solidFill>
            <a:srgbClr val="0d948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28080" bIns="28080" anchor="t">
            <a:noAutofit/>
          </a:bodyPr>
          <a:p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1" name="Shape 1"/>
          <p:cNvSpPr/>
          <p:nvPr/>
        </p:nvSpPr>
        <p:spPr>
          <a:xfrm>
            <a:off x="0" y="73080"/>
            <a:ext cx="9143640" cy="685440"/>
          </a:xfrm>
          <a:prstGeom prst="rect">
            <a:avLst/>
          </a:prstGeom>
          <a:solidFill>
            <a:srgbClr val="152535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2" name="Text 2"/>
          <p:cNvSpPr/>
          <p:nvPr/>
        </p:nvSpPr>
        <p:spPr>
          <a:xfrm>
            <a:off x="320040" y="73080"/>
            <a:ext cx="850356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2000" b="1" u="none" strike="noStrike">
                <a:solidFill>
                  <a:srgbClr val="14b8a6"/>
                </a:solidFill>
                <a:effectLst/>
                <a:uFillTx/>
                <a:latin typeface="Trebuchet MS"/>
                <a:ea typeface="Trebuchet MS"/>
              </a:rPr>
              <a:t>XP — Fluxo Completo de um Incremento</a:t>
            </a:r>
            <a:endParaRPr lang="pt-BR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3" name="Shape 3"/>
          <p:cNvSpPr/>
          <p:nvPr/>
        </p:nvSpPr>
        <p:spPr>
          <a:xfrm>
            <a:off x="365760" y="1554480"/>
            <a:ext cx="1416960" cy="1554120"/>
          </a:xfrm>
          <a:prstGeom prst="rect">
            <a:avLst/>
          </a:prstGeom>
          <a:solidFill>
            <a:srgbClr val="0d9488"/>
          </a:solidFill>
          <a:ln w="0">
            <a:noFill/>
          </a:ln>
          <a:effectLst>
            <a:outerShdw algn="bl" blurRad="101520" dir="8100000" dist="37674" kx="0" ky="0" rotWithShape="0" sx="100000" sy="100000">
              <a:srgbClr val="000000">
                <a:alpha val="2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4" name="Text 4"/>
          <p:cNvSpPr/>
          <p:nvPr/>
        </p:nvSpPr>
        <p:spPr>
          <a:xfrm>
            <a:off x="365760" y="1627560"/>
            <a:ext cx="141696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2200" b="1" u="none" strike="noStrike">
                <a:solidFill>
                  <a:srgbClr val="f1f5f9"/>
                </a:solidFill>
                <a:effectLst/>
                <a:uFillTx/>
                <a:latin typeface="Trebuchet MS"/>
                <a:ea typeface="Trebuchet MS"/>
              </a:rPr>
              <a:t>1</a:t>
            </a:r>
            <a:endParaRPr lang="pt-BR" sz="2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5" name="Text 5"/>
          <p:cNvSpPr/>
          <p:nvPr/>
        </p:nvSpPr>
        <p:spPr>
          <a:xfrm>
            <a:off x="365760" y="2103120"/>
            <a:ext cx="1416960" cy="91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200" b="0" u="none" strike="noStrike">
                <a:solidFill>
                  <a:srgbClr val="ccfbf1"/>
                </a:solidFill>
                <a:effectLst/>
                <a:uFillTx/>
                <a:latin typeface="Calibri"/>
                <a:ea typeface="Calibri"/>
              </a:rPr>
              <a:t>Histórias</a:t>
            </a:r>
            <a:endParaRPr lang="pt-BR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200" b="0" u="none" strike="noStrike">
                <a:solidFill>
                  <a:srgbClr val="ccfbf1"/>
                </a:solidFill>
                <a:effectLst/>
                <a:uFillTx/>
                <a:latin typeface="Calibri"/>
                <a:ea typeface="Calibri"/>
              </a:rPr>
              <a:t>de Usuário</a:t>
            </a:r>
            <a:endParaRPr lang="pt-BR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6" name="Shape 6"/>
          <p:cNvSpPr/>
          <p:nvPr/>
        </p:nvSpPr>
        <p:spPr>
          <a:xfrm>
            <a:off x="1783080" y="2286000"/>
            <a:ext cx="246600" cy="91080"/>
          </a:xfrm>
          <a:prstGeom prst="rect">
            <a:avLst/>
          </a:prstGeom>
          <a:solidFill>
            <a:srgbClr val="94a3b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7" name="Text 7"/>
          <p:cNvSpPr/>
          <p:nvPr/>
        </p:nvSpPr>
        <p:spPr>
          <a:xfrm>
            <a:off x="1828800" y="2148840"/>
            <a:ext cx="27396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400" b="0" u="none" strike="noStrike">
                <a:solidFill>
                  <a:srgbClr val="94a3b8"/>
                </a:solidFill>
                <a:effectLst/>
                <a:uFillTx/>
                <a:latin typeface="Calibri"/>
              </a:rPr>
              <a:t>▶</a:t>
            </a:r>
            <a:endParaRPr lang="pt-BR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8" name="Shape 8"/>
          <p:cNvSpPr/>
          <p:nvPr/>
        </p:nvSpPr>
        <p:spPr>
          <a:xfrm>
            <a:off x="2030040" y="1554480"/>
            <a:ext cx="1416960" cy="1554120"/>
          </a:xfrm>
          <a:prstGeom prst="rect">
            <a:avLst/>
          </a:prstGeom>
          <a:solidFill>
            <a:srgbClr val="0d9488"/>
          </a:solidFill>
          <a:ln w="0">
            <a:noFill/>
          </a:ln>
          <a:effectLst>
            <a:outerShdw algn="bl" blurRad="101520" dir="8100000" dist="37674" kx="0" ky="0" rotWithShape="0" sx="100000" sy="100000">
              <a:srgbClr val="000000">
                <a:alpha val="2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9" name="Text 9"/>
          <p:cNvSpPr/>
          <p:nvPr/>
        </p:nvSpPr>
        <p:spPr>
          <a:xfrm>
            <a:off x="2030040" y="1627560"/>
            <a:ext cx="141696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2200" b="1" u="none" strike="noStrike">
                <a:solidFill>
                  <a:srgbClr val="f1f5f9"/>
                </a:solidFill>
                <a:effectLst/>
                <a:uFillTx/>
                <a:latin typeface="Trebuchet MS"/>
                <a:ea typeface="Trebuchet MS"/>
              </a:rPr>
              <a:t>2</a:t>
            </a:r>
            <a:endParaRPr lang="pt-BR" sz="2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0" name="Text 10"/>
          <p:cNvSpPr/>
          <p:nvPr/>
        </p:nvSpPr>
        <p:spPr>
          <a:xfrm>
            <a:off x="2030040" y="2103120"/>
            <a:ext cx="1416960" cy="91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200" b="0" u="none" strike="noStrike">
                <a:solidFill>
                  <a:srgbClr val="ccfbf1"/>
                </a:solidFill>
                <a:effectLst/>
                <a:uFillTx/>
                <a:latin typeface="Calibri"/>
                <a:ea typeface="Calibri"/>
              </a:rPr>
              <a:t>Testes de</a:t>
            </a:r>
            <a:endParaRPr lang="pt-BR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200" b="0" u="none" strike="noStrike">
                <a:solidFill>
                  <a:srgbClr val="ccfbf1"/>
                </a:solidFill>
                <a:effectLst/>
                <a:uFillTx/>
                <a:latin typeface="Calibri"/>
                <a:ea typeface="Calibri"/>
              </a:rPr>
              <a:t>Aceitação</a:t>
            </a:r>
            <a:endParaRPr lang="pt-BR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1" name="Shape 11"/>
          <p:cNvSpPr/>
          <p:nvPr/>
        </p:nvSpPr>
        <p:spPr>
          <a:xfrm>
            <a:off x="3447360" y="2286000"/>
            <a:ext cx="246600" cy="91080"/>
          </a:xfrm>
          <a:prstGeom prst="rect">
            <a:avLst/>
          </a:prstGeom>
          <a:solidFill>
            <a:srgbClr val="94a3b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2" name="Text 12"/>
          <p:cNvSpPr/>
          <p:nvPr/>
        </p:nvSpPr>
        <p:spPr>
          <a:xfrm>
            <a:off x="3493080" y="2148840"/>
            <a:ext cx="27396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400" b="0" u="none" strike="noStrike">
                <a:solidFill>
                  <a:srgbClr val="94a3b8"/>
                </a:solidFill>
                <a:effectLst/>
                <a:uFillTx/>
                <a:latin typeface="Calibri"/>
              </a:rPr>
              <a:t>▶</a:t>
            </a:r>
            <a:endParaRPr lang="pt-BR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3" name="Shape 13"/>
          <p:cNvSpPr/>
          <p:nvPr/>
        </p:nvSpPr>
        <p:spPr>
          <a:xfrm>
            <a:off x="3694320" y="1554480"/>
            <a:ext cx="1416960" cy="1554120"/>
          </a:xfrm>
          <a:prstGeom prst="rect">
            <a:avLst/>
          </a:prstGeom>
          <a:solidFill>
            <a:srgbClr val="0f766e"/>
          </a:solidFill>
          <a:ln w="0">
            <a:noFill/>
          </a:ln>
          <a:effectLst>
            <a:outerShdw algn="bl" blurRad="101520" dir="8100000" dist="37674" kx="0" ky="0" rotWithShape="0" sx="100000" sy="100000">
              <a:srgbClr val="000000">
                <a:alpha val="2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4" name="Text 14"/>
          <p:cNvSpPr/>
          <p:nvPr/>
        </p:nvSpPr>
        <p:spPr>
          <a:xfrm>
            <a:off x="3694320" y="1627560"/>
            <a:ext cx="141696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2200" b="1" u="none" strike="noStrike">
                <a:solidFill>
                  <a:srgbClr val="f1f5f9"/>
                </a:solidFill>
                <a:effectLst/>
                <a:uFillTx/>
                <a:latin typeface="Trebuchet MS"/>
                <a:ea typeface="Trebuchet MS"/>
              </a:rPr>
              <a:t>3</a:t>
            </a:r>
            <a:endParaRPr lang="pt-BR" sz="2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5" name="Text 15"/>
          <p:cNvSpPr/>
          <p:nvPr/>
        </p:nvSpPr>
        <p:spPr>
          <a:xfrm>
            <a:off x="3694320" y="2103120"/>
            <a:ext cx="1416960" cy="91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200" b="0" u="none" strike="noStrike">
                <a:solidFill>
                  <a:srgbClr val="ccfbf1"/>
                </a:solidFill>
                <a:effectLst/>
                <a:uFillTx/>
                <a:latin typeface="Calibri"/>
                <a:ea typeface="Calibri"/>
              </a:rPr>
              <a:t>Testes de</a:t>
            </a:r>
            <a:endParaRPr lang="pt-BR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200" b="0" u="none" strike="noStrike">
                <a:solidFill>
                  <a:srgbClr val="ccfbf1"/>
                </a:solidFill>
                <a:effectLst/>
                <a:uFillTx/>
                <a:latin typeface="Calibri"/>
                <a:ea typeface="Calibri"/>
              </a:rPr>
              <a:t>Unidade (TDD)</a:t>
            </a:r>
            <a:endParaRPr lang="pt-BR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6" name="Shape 16"/>
          <p:cNvSpPr/>
          <p:nvPr/>
        </p:nvSpPr>
        <p:spPr>
          <a:xfrm>
            <a:off x="5111640" y="2286000"/>
            <a:ext cx="246600" cy="91080"/>
          </a:xfrm>
          <a:prstGeom prst="rect">
            <a:avLst/>
          </a:prstGeom>
          <a:solidFill>
            <a:srgbClr val="94a3b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7" name="Text 17"/>
          <p:cNvSpPr/>
          <p:nvPr/>
        </p:nvSpPr>
        <p:spPr>
          <a:xfrm>
            <a:off x="5157360" y="2148840"/>
            <a:ext cx="27396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400" b="0" u="none" strike="noStrike">
                <a:solidFill>
                  <a:srgbClr val="94a3b8"/>
                </a:solidFill>
                <a:effectLst/>
                <a:uFillTx/>
                <a:latin typeface="Calibri"/>
              </a:rPr>
              <a:t>▶</a:t>
            </a:r>
            <a:endParaRPr lang="pt-BR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8" name="Shape 18"/>
          <p:cNvSpPr/>
          <p:nvPr/>
        </p:nvSpPr>
        <p:spPr>
          <a:xfrm>
            <a:off x="5358240" y="1554480"/>
            <a:ext cx="1416960" cy="1554120"/>
          </a:xfrm>
          <a:prstGeom prst="rect">
            <a:avLst/>
          </a:prstGeom>
          <a:solidFill>
            <a:srgbClr val="115e59"/>
          </a:solidFill>
          <a:ln w="0">
            <a:noFill/>
          </a:ln>
          <a:effectLst>
            <a:outerShdw algn="bl" blurRad="101520" dir="8100000" dist="37674" kx="0" ky="0" rotWithShape="0" sx="100000" sy="100000">
              <a:srgbClr val="000000">
                <a:alpha val="2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9" name="Text 19"/>
          <p:cNvSpPr/>
          <p:nvPr/>
        </p:nvSpPr>
        <p:spPr>
          <a:xfrm>
            <a:off x="5358240" y="1627560"/>
            <a:ext cx="141696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2200" b="1" u="none" strike="noStrike">
                <a:solidFill>
                  <a:srgbClr val="f1f5f9"/>
                </a:solidFill>
                <a:effectLst/>
                <a:uFillTx/>
                <a:latin typeface="Trebuchet MS"/>
                <a:ea typeface="Trebuchet MS"/>
              </a:rPr>
              <a:t>4</a:t>
            </a:r>
            <a:endParaRPr lang="pt-BR" sz="2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0" name="Text 20"/>
          <p:cNvSpPr/>
          <p:nvPr/>
        </p:nvSpPr>
        <p:spPr>
          <a:xfrm>
            <a:off x="5358240" y="2103120"/>
            <a:ext cx="1416960" cy="91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200" b="0" u="none" strike="noStrike">
                <a:solidFill>
                  <a:srgbClr val="ccfbf1"/>
                </a:solidFill>
                <a:effectLst/>
                <a:uFillTx/>
                <a:latin typeface="Calibri"/>
                <a:ea typeface="Calibri"/>
              </a:rPr>
              <a:t>Codificação</a:t>
            </a:r>
            <a:endParaRPr lang="pt-BR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200" b="0" u="none" strike="noStrike">
                <a:solidFill>
                  <a:srgbClr val="ccfbf1"/>
                </a:solidFill>
                <a:effectLst/>
                <a:uFillTx/>
                <a:latin typeface="Calibri"/>
                <a:ea typeface="Calibri"/>
              </a:rPr>
              <a:t>em Pares</a:t>
            </a:r>
            <a:endParaRPr lang="pt-BR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1" name="Shape 21"/>
          <p:cNvSpPr/>
          <p:nvPr/>
        </p:nvSpPr>
        <p:spPr>
          <a:xfrm>
            <a:off x="6775560" y="2286000"/>
            <a:ext cx="246600" cy="91080"/>
          </a:xfrm>
          <a:prstGeom prst="rect">
            <a:avLst/>
          </a:prstGeom>
          <a:solidFill>
            <a:srgbClr val="94a3b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2" name="Text 22"/>
          <p:cNvSpPr/>
          <p:nvPr/>
        </p:nvSpPr>
        <p:spPr>
          <a:xfrm>
            <a:off x="6821280" y="2148840"/>
            <a:ext cx="27396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400" b="0" u="none" strike="noStrike">
                <a:solidFill>
                  <a:srgbClr val="94a3b8"/>
                </a:solidFill>
                <a:effectLst/>
                <a:uFillTx/>
                <a:latin typeface="Calibri"/>
              </a:rPr>
              <a:t>▶</a:t>
            </a:r>
            <a:endParaRPr lang="pt-BR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3" name="Shape 23"/>
          <p:cNvSpPr/>
          <p:nvPr/>
        </p:nvSpPr>
        <p:spPr>
          <a:xfrm>
            <a:off x="7022520" y="1554480"/>
            <a:ext cx="1416960" cy="1554120"/>
          </a:xfrm>
          <a:prstGeom prst="rect">
            <a:avLst/>
          </a:prstGeom>
          <a:solidFill>
            <a:srgbClr val="134e4a"/>
          </a:solidFill>
          <a:ln w="0">
            <a:noFill/>
          </a:ln>
          <a:effectLst>
            <a:outerShdw algn="bl" blurRad="101520" dir="8100000" dist="37674" kx="0" ky="0" rotWithShape="0" sx="100000" sy="100000">
              <a:srgbClr val="000000">
                <a:alpha val="2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4" name="Text 24"/>
          <p:cNvSpPr/>
          <p:nvPr/>
        </p:nvSpPr>
        <p:spPr>
          <a:xfrm>
            <a:off x="7022520" y="1627560"/>
            <a:ext cx="141696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2200" b="1" u="none" strike="noStrike">
                <a:solidFill>
                  <a:srgbClr val="f1f5f9"/>
                </a:solidFill>
                <a:effectLst/>
                <a:uFillTx/>
                <a:latin typeface="Trebuchet MS"/>
                <a:ea typeface="Trebuchet MS"/>
              </a:rPr>
              <a:t>5</a:t>
            </a:r>
            <a:endParaRPr lang="pt-BR" sz="2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5" name="Text 25"/>
          <p:cNvSpPr/>
          <p:nvPr/>
        </p:nvSpPr>
        <p:spPr>
          <a:xfrm>
            <a:off x="7022520" y="2103120"/>
            <a:ext cx="1416960" cy="91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200" b="0" u="none" strike="noStrike">
                <a:solidFill>
                  <a:srgbClr val="ccfbf1"/>
                </a:solidFill>
                <a:effectLst/>
                <a:uFillTx/>
                <a:latin typeface="Calibri"/>
                <a:ea typeface="Calibri"/>
              </a:rPr>
              <a:t>Refatoração</a:t>
            </a:r>
            <a:endParaRPr lang="pt-BR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200" b="0" u="none" strike="noStrike">
                <a:solidFill>
                  <a:srgbClr val="ccfbf1"/>
                </a:solidFill>
                <a:effectLst/>
                <a:uFillTx/>
                <a:latin typeface="Calibri"/>
                <a:ea typeface="Calibri"/>
              </a:rPr>
              <a:t>+ Testes</a:t>
            </a:r>
            <a:endParaRPr lang="pt-BR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6" name="Text 26"/>
          <p:cNvSpPr/>
          <p:nvPr/>
        </p:nvSpPr>
        <p:spPr>
          <a:xfrm>
            <a:off x="365760" y="3337560"/>
            <a:ext cx="841212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300" b="0" i="1" u="none" strike="noStrike">
                <a:solidFill>
                  <a:srgbClr val="94a3b8"/>
                </a:solidFill>
                <a:effectLst/>
                <a:uFillTx/>
                <a:latin typeface="Calibri"/>
                <a:ea typeface="Calibri"/>
              </a:rPr>
              <a:t>Testes rodam a cada alteração → se algo quebrar, a equipe sabe na hora</a:t>
            </a:r>
            <a:endParaRPr lang="pt-BR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7" name="Shape 27"/>
          <p:cNvSpPr/>
          <p:nvPr/>
        </p:nvSpPr>
        <p:spPr>
          <a:xfrm>
            <a:off x="365760" y="4160520"/>
            <a:ext cx="8412120" cy="776880"/>
          </a:xfrm>
          <a:prstGeom prst="rect">
            <a:avLst/>
          </a:prstGeom>
          <a:solidFill>
            <a:srgbClr val="1c2d1f"/>
          </a:solidFill>
          <a:ln w="19050">
            <a:solidFill>
              <a:srgbClr val="f97316"/>
            </a:solidFill>
            <a:round/>
          </a:ln>
          <a:effectLst>
            <a:outerShdw algn="bl" blurRad="101520" dir="8100000" dist="37674" kx="0" ky="0" rotWithShape="0" sx="100000" sy="100000">
              <a:srgbClr val="000000">
                <a:alpha val="2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8" name="Text 28"/>
          <p:cNvSpPr/>
          <p:nvPr/>
        </p:nvSpPr>
        <p:spPr>
          <a:xfrm>
            <a:off x="502920" y="4187880"/>
            <a:ext cx="8137800" cy="712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250" b="1" u="none" strike="noStrike">
                <a:solidFill>
                  <a:srgbClr val="f97316"/>
                </a:solidFill>
                <a:effectLst/>
                <a:uFillTx/>
                <a:latin typeface="Calibri"/>
                <a:ea typeface="Calibri"/>
              </a:rPr>
              <a:t>💬 Discussão: </a:t>
            </a:r>
            <a:r>
              <a:rPr lang="en-US" sz="1250" b="0" u="none" strike="noStrike">
                <a:solidFill>
                  <a:srgbClr val="f1f5f9"/>
                </a:solidFill>
                <a:effectLst/>
                <a:uFillTx/>
                <a:latin typeface="Calibri"/>
                <a:ea typeface="Calibri"/>
              </a:rPr>
              <a:t>Em qual etapa desse fluxo vocês acham que mais bugs são introduzidos num projeto tradicional (sem XP)?</a:t>
            </a:r>
            <a:endParaRPr lang="pt-BR" sz="12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f19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Shape 0"/>
          <p:cNvSpPr/>
          <p:nvPr/>
        </p:nvSpPr>
        <p:spPr>
          <a:xfrm>
            <a:off x="0" y="0"/>
            <a:ext cx="9143640" cy="5143320"/>
          </a:xfrm>
          <a:prstGeom prst="rect">
            <a:avLst/>
          </a:prstGeom>
          <a:solidFill>
            <a:srgbClr val="152535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0" name="Shape 1"/>
          <p:cNvSpPr/>
          <p:nvPr/>
        </p:nvSpPr>
        <p:spPr>
          <a:xfrm>
            <a:off x="0" y="0"/>
            <a:ext cx="9143640" cy="109440"/>
          </a:xfrm>
          <a:prstGeom prst="rect">
            <a:avLst/>
          </a:prstGeom>
          <a:solidFill>
            <a:srgbClr val="f9731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1" name="Shape 2"/>
          <p:cNvSpPr/>
          <p:nvPr/>
        </p:nvSpPr>
        <p:spPr>
          <a:xfrm>
            <a:off x="0" y="5029200"/>
            <a:ext cx="9143640" cy="109440"/>
          </a:xfrm>
          <a:prstGeom prst="rect">
            <a:avLst/>
          </a:prstGeom>
          <a:solidFill>
            <a:srgbClr val="f9731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2" name="Text 3"/>
          <p:cNvSpPr/>
          <p:nvPr/>
        </p:nvSpPr>
        <p:spPr>
          <a:xfrm>
            <a:off x="457200" y="1645920"/>
            <a:ext cx="8229240" cy="1828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4000" b="1" u="none" strike="noStrike">
                <a:solidFill>
                  <a:srgbClr val="f1f5f9"/>
                </a:solidFill>
                <a:effectLst/>
                <a:uFillTx/>
                <a:latin typeface="Trebuchet MS"/>
                <a:ea typeface="Trebuchet MS"/>
              </a:rPr>
              <a:t>06  Versionamento com Git</a:t>
            </a:r>
            <a:endParaRPr lang="pt-BR" sz="4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f19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Shape 0"/>
          <p:cNvSpPr/>
          <p:nvPr/>
        </p:nvSpPr>
        <p:spPr>
          <a:xfrm>
            <a:off x="0" y="0"/>
            <a:ext cx="9143640" cy="72720"/>
          </a:xfrm>
          <a:prstGeom prst="rect">
            <a:avLst/>
          </a:prstGeom>
          <a:solidFill>
            <a:srgbClr val="0d948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28080" bIns="28080" anchor="t">
            <a:noAutofit/>
          </a:bodyPr>
          <a:p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4" name="Shape 1"/>
          <p:cNvSpPr/>
          <p:nvPr/>
        </p:nvSpPr>
        <p:spPr>
          <a:xfrm>
            <a:off x="0" y="73080"/>
            <a:ext cx="9143640" cy="685440"/>
          </a:xfrm>
          <a:prstGeom prst="rect">
            <a:avLst/>
          </a:prstGeom>
          <a:solidFill>
            <a:srgbClr val="152535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5" name="Text 2"/>
          <p:cNvSpPr/>
          <p:nvPr/>
        </p:nvSpPr>
        <p:spPr>
          <a:xfrm>
            <a:off x="320040" y="73080"/>
            <a:ext cx="850356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2000" b="1" u="none" strike="noStrike">
                <a:solidFill>
                  <a:srgbClr val="14b8a6"/>
                </a:solidFill>
                <a:effectLst/>
                <a:uFillTx/>
                <a:latin typeface="Trebuchet MS"/>
                <a:ea typeface="Trebuchet MS"/>
              </a:rPr>
              <a:t>Git — Por que versionamento é essencial no XP?</a:t>
            </a:r>
            <a:endParaRPr lang="pt-BR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6" name="Text 3"/>
          <p:cNvSpPr/>
          <p:nvPr/>
        </p:nvSpPr>
        <p:spPr>
          <a:xfrm>
            <a:off x="365760" y="914400"/>
            <a:ext cx="8412120" cy="3931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marL="343080" indent="-343080" defTabSz="914400">
              <a:lnSpc>
                <a:spcPct val="100000"/>
              </a:lnSpc>
              <a:spcAft>
                <a:spcPts val="400"/>
              </a:spcAft>
              <a:buClr>
                <a:srgbClr val="f1f5f9"/>
              </a:buClr>
              <a:buFont typeface="Symbol" charset="2"/>
              <a:buChar char=""/>
            </a:pPr>
            <a:r>
              <a:rPr lang="en-US" sz="1400" b="0" u="none" strike="noStrike">
                <a:solidFill>
                  <a:srgbClr val="f1f5f9"/>
                </a:solidFill>
                <a:effectLst/>
                <a:uFillTx/>
                <a:latin typeface="Calibri"/>
                <a:ea typeface="Calibri"/>
              </a:rPr>
              <a:t>XP exige integração contínua — código precisa ser integrado frequentemente</a:t>
            </a:r>
            <a:endParaRPr lang="pt-BR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400"/>
              </a:spcAft>
              <a:buClr>
                <a:srgbClr val="f1f5f9"/>
              </a:buClr>
              <a:buFont typeface="Symbol" charset="2"/>
              <a:buChar char=""/>
            </a:pPr>
            <a:r>
              <a:rPr lang="en-US" sz="1400" b="0" u="none" strike="noStrike">
                <a:solidFill>
                  <a:srgbClr val="f1f5f9"/>
                </a:solidFill>
                <a:effectLst/>
                <a:uFillTx/>
                <a:latin typeface="Calibri"/>
                <a:ea typeface="Calibri"/>
              </a:rPr>
              <a:t>Programação em Pares e equipes paralelas geram conflitos de código</a:t>
            </a:r>
            <a:endParaRPr lang="pt-BR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400"/>
              </a:spcAft>
              <a:buClr>
                <a:srgbClr val="f1f5f9"/>
              </a:buClr>
              <a:buFont typeface="Symbol" charset="2"/>
              <a:buChar char=""/>
            </a:pPr>
            <a:r>
              <a:rPr lang="en-US" sz="1400" b="0" u="none" strike="noStrike">
                <a:solidFill>
                  <a:srgbClr val="f1f5f9"/>
                </a:solidFill>
                <a:effectLst/>
                <a:uFillTx/>
                <a:latin typeface="Calibri"/>
                <a:ea typeface="Calibri"/>
              </a:rPr>
              <a:t>Refatoração constante exige poder voltar a versões estáveis</a:t>
            </a:r>
            <a:endParaRPr lang="pt-BR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spcBef>
                <a:spcPts val="799"/>
              </a:spcBef>
              <a:spcAft>
                <a:spcPts val="400"/>
              </a:spcAft>
              <a:tabLst>
                <a:tab algn="l" pos="0"/>
              </a:tabLst>
            </a:pPr>
            <a:r>
              <a:rPr lang="en-US" sz="1400" b="1" u="none" strike="noStrike">
                <a:solidFill>
                  <a:srgbClr val="fcd34d"/>
                </a:solidFill>
                <a:effectLst/>
                <a:uFillTx/>
                <a:latin typeface="Calibri"/>
                <a:ea typeface="Calibri"/>
              </a:rPr>
              <a:t>Git resolve tudo isso:</a:t>
            </a:r>
            <a:endParaRPr lang="pt-BR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685800" lvl="1" indent="-343080" defTabSz="914400">
              <a:lnSpc>
                <a:spcPct val="100000"/>
              </a:lnSpc>
              <a:spcAft>
                <a:spcPts val="400"/>
              </a:spcAft>
              <a:buClr>
                <a:srgbClr val="94a3b8"/>
              </a:buClr>
              <a:buFont typeface="Wingdings 3" charset="2"/>
              <a:buChar char=""/>
              <a:tabLst>
                <a:tab algn="l" pos="0"/>
              </a:tabLst>
            </a:pPr>
            <a:r>
              <a:rPr lang="en-US" sz="1300" b="0" u="none" strike="noStrike">
                <a:solidFill>
                  <a:srgbClr val="94a3b8"/>
                </a:solidFill>
                <a:effectLst/>
                <a:uFillTx/>
                <a:latin typeface="Calibri"/>
                <a:ea typeface="Calibri"/>
              </a:rPr>
              <a:t>Histórico completo de todas as mudanças</a:t>
            </a:r>
            <a:endParaRPr lang="pt-BR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685800" lvl="1" indent="-343080" defTabSz="914400">
              <a:lnSpc>
                <a:spcPct val="100000"/>
              </a:lnSpc>
              <a:spcAft>
                <a:spcPts val="400"/>
              </a:spcAft>
              <a:buClr>
                <a:srgbClr val="94a3b8"/>
              </a:buClr>
              <a:buFont typeface="Wingdings 3" charset="2"/>
              <a:buChar char=""/>
              <a:tabLst>
                <a:tab algn="l" pos="0"/>
              </a:tabLst>
            </a:pPr>
            <a:r>
              <a:rPr lang="en-US" sz="1300" b="0" u="none" strike="noStrike">
                <a:solidFill>
                  <a:srgbClr val="94a3b8"/>
                </a:solidFill>
                <a:effectLst/>
                <a:uFillTx/>
                <a:latin typeface="Calibri"/>
                <a:ea typeface="Calibri"/>
              </a:rPr>
              <a:t>Múltiplos desenvolvedores trabalhando sem se bloquear</a:t>
            </a:r>
            <a:endParaRPr lang="pt-BR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685800" lvl="1" indent="-343080" defTabSz="914400">
              <a:lnSpc>
                <a:spcPct val="100000"/>
              </a:lnSpc>
              <a:spcAft>
                <a:spcPts val="400"/>
              </a:spcAft>
              <a:buClr>
                <a:srgbClr val="94a3b8"/>
              </a:buClr>
              <a:buFont typeface="Wingdings 3" charset="2"/>
              <a:buChar char=""/>
              <a:tabLst>
                <a:tab algn="l" pos="0"/>
              </a:tabLst>
            </a:pPr>
            <a:r>
              <a:rPr lang="en-US" sz="1300" b="0" u="none" strike="noStrike">
                <a:solidFill>
                  <a:srgbClr val="94a3b8"/>
                </a:solidFill>
                <a:effectLst/>
                <a:uFillTx/>
                <a:latin typeface="Calibri"/>
                <a:ea typeface="Calibri"/>
              </a:rPr>
              <a:t>Integração contínua: detecta conflitos cedo</a:t>
            </a:r>
            <a:endParaRPr lang="pt-BR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685800" lvl="1" indent="-343080" defTabSz="914400">
              <a:lnSpc>
                <a:spcPct val="100000"/>
              </a:lnSpc>
              <a:spcAft>
                <a:spcPts val="400"/>
              </a:spcAft>
              <a:buClr>
                <a:srgbClr val="94a3b8"/>
              </a:buClr>
              <a:buFont typeface="Wingdings 3" charset="2"/>
              <a:buChar char=""/>
              <a:tabLst>
                <a:tab algn="l" pos="0"/>
              </a:tabLst>
            </a:pPr>
            <a:r>
              <a:rPr lang="en-US" sz="1300" b="0" u="none" strike="noStrike">
                <a:solidFill>
                  <a:srgbClr val="94a3b8"/>
                </a:solidFill>
                <a:effectLst/>
                <a:uFillTx/>
                <a:latin typeface="Calibri"/>
                <a:ea typeface="Calibri"/>
              </a:rPr>
              <a:t>Rollback: desfaz alterações problemáticas com segurança</a:t>
            </a:r>
            <a:endParaRPr lang="pt-BR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400"/>
              </a:spcAft>
              <a:buClr>
                <a:srgbClr val="f1f5f9"/>
              </a:buClr>
              <a:buFont typeface="Symbol" charset="2"/>
              <a:buChar char=""/>
              <a:tabLst>
                <a:tab algn="l" pos="0"/>
              </a:tabLst>
            </a:pPr>
            <a:r>
              <a:rPr lang="en-US" sz="1400" b="0" u="none" strike="noStrike">
                <a:solidFill>
                  <a:srgbClr val="f1f5f9"/>
                </a:solidFill>
                <a:effectLst/>
                <a:uFillTx/>
                <a:latin typeface="Calibri"/>
                <a:ea typeface="Calibri"/>
              </a:rPr>
              <a:t>Git é a cola que mantém o XP funcionando em equipe</a:t>
            </a:r>
            <a:endParaRPr lang="pt-BR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f19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Shape 0"/>
          <p:cNvSpPr/>
          <p:nvPr/>
        </p:nvSpPr>
        <p:spPr>
          <a:xfrm>
            <a:off x="0" y="0"/>
            <a:ext cx="9143640" cy="72720"/>
          </a:xfrm>
          <a:prstGeom prst="rect">
            <a:avLst/>
          </a:prstGeom>
          <a:solidFill>
            <a:srgbClr val="f9731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28080" bIns="28080" anchor="t">
            <a:noAutofit/>
          </a:bodyPr>
          <a:p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8" name="Shape 1"/>
          <p:cNvSpPr/>
          <p:nvPr/>
        </p:nvSpPr>
        <p:spPr>
          <a:xfrm>
            <a:off x="0" y="73080"/>
            <a:ext cx="9143640" cy="685440"/>
          </a:xfrm>
          <a:prstGeom prst="rect">
            <a:avLst/>
          </a:prstGeom>
          <a:solidFill>
            <a:srgbClr val="152535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9" name="Text 2"/>
          <p:cNvSpPr/>
          <p:nvPr/>
        </p:nvSpPr>
        <p:spPr>
          <a:xfrm>
            <a:off x="320040" y="73080"/>
            <a:ext cx="850356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2000" b="1" u="none" strike="noStrike">
                <a:solidFill>
                  <a:srgbClr val="f97316"/>
                </a:solidFill>
                <a:effectLst/>
                <a:uFillTx/>
                <a:latin typeface="Trebuchet MS"/>
                <a:ea typeface="Trebuchet MS"/>
              </a:rPr>
              <a:t>Git — Fluxo Básico de Trabalho</a:t>
            </a:r>
            <a:endParaRPr lang="pt-BR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0" name="Shape 3"/>
          <p:cNvSpPr/>
          <p:nvPr/>
        </p:nvSpPr>
        <p:spPr>
          <a:xfrm>
            <a:off x="274320" y="1005840"/>
            <a:ext cx="1965600" cy="529920"/>
          </a:xfrm>
          <a:prstGeom prst="rect">
            <a:avLst/>
          </a:prstGeom>
          <a:solidFill>
            <a:srgbClr val="0d9488"/>
          </a:solidFill>
          <a:ln w="0">
            <a:noFill/>
          </a:ln>
          <a:effectLst>
            <a:outerShdw algn="bl" blurRad="101520" dir="8100000" dist="37674" kx="0" ky="0" rotWithShape="0" sx="100000" sy="100000">
              <a:srgbClr val="000000">
                <a:alpha val="2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1" name="Text 4"/>
          <p:cNvSpPr/>
          <p:nvPr/>
        </p:nvSpPr>
        <p:spPr>
          <a:xfrm>
            <a:off x="274320" y="1005840"/>
            <a:ext cx="1965600" cy="529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300" b="1" u="none" strike="noStrike">
                <a:solidFill>
                  <a:srgbClr val="f1f5f9"/>
                </a:solidFill>
                <a:effectLst/>
                <a:uFillTx/>
                <a:latin typeface="Courier New"/>
                <a:ea typeface="Courier New"/>
              </a:rPr>
              <a:t>git init</a:t>
            </a:r>
            <a:endParaRPr lang="pt-BR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2" name="Shape 5"/>
          <p:cNvSpPr/>
          <p:nvPr/>
        </p:nvSpPr>
        <p:spPr>
          <a:xfrm>
            <a:off x="2240280" y="1216080"/>
            <a:ext cx="200880" cy="91080"/>
          </a:xfrm>
          <a:prstGeom prst="rect">
            <a:avLst/>
          </a:prstGeom>
          <a:solidFill>
            <a:srgbClr val="94a3b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3" name="Text 6"/>
          <p:cNvSpPr/>
          <p:nvPr/>
        </p:nvSpPr>
        <p:spPr>
          <a:xfrm>
            <a:off x="274320" y="1600200"/>
            <a:ext cx="1965600" cy="91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150" b="0" u="none" strike="noStrike">
                <a:solidFill>
                  <a:srgbClr val="94a3b8"/>
                </a:solidFill>
                <a:effectLst/>
                <a:uFillTx/>
                <a:latin typeface="Calibri"/>
                <a:ea typeface="Calibri"/>
              </a:rPr>
              <a:t>Inicia o repositório local</a:t>
            </a:r>
            <a:endParaRPr lang="pt-BR" sz="11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150" b="0" u="none" strike="noStrike">
                <a:solidFill>
                  <a:srgbClr val="94a3b8"/>
                </a:solidFill>
                <a:effectLst/>
                <a:uFillTx/>
                <a:latin typeface="Calibri"/>
                <a:ea typeface="Calibri"/>
              </a:rPr>
              <a:t>Cria a pasta .git com todo o histórico</a:t>
            </a:r>
            <a:endParaRPr lang="pt-BR" sz="11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4" name="Text 7"/>
          <p:cNvSpPr/>
          <p:nvPr/>
        </p:nvSpPr>
        <p:spPr>
          <a:xfrm>
            <a:off x="2212920" y="1005840"/>
            <a:ext cx="273960" cy="529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600" b="0" u="none" strike="noStrike">
                <a:solidFill>
                  <a:srgbClr val="94a3b8"/>
                </a:solidFill>
                <a:effectLst/>
                <a:uFillTx/>
                <a:latin typeface="Calibri"/>
              </a:rPr>
              <a:t>→</a:t>
            </a:r>
            <a:endParaRPr lang="pt-BR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5" name="Shape 8"/>
          <p:cNvSpPr/>
          <p:nvPr/>
        </p:nvSpPr>
        <p:spPr>
          <a:xfrm>
            <a:off x="2450520" y="1005840"/>
            <a:ext cx="1965600" cy="529920"/>
          </a:xfrm>
          <a:prstGeom prst="rect">
            <a:avLst/>
          </a:prstGeom>
          <a:solidFill>
            <a:srgbClr val="0891b2"/>
          </a:solidFill>
          <a:ln w="0">
            <a:noFill/>
          </a:ln>
          <a:effectLst>
            <a:outerShdw algn="bl" blurRad="101520" dir="8100000" dist="37674" kx="0" ky="0" rotWithShape="0" sx="100000" sy="100000">
              <a:srgbClr val="000000">
                <a:alpha val="2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6" name="Text 9"/>
          <p:cNvSpPr/>
          <p:nvPr/>
        </p:nvSpPr>
        <p:spPr>
          <a:xfrm>
            <a:off x="2450520" y="1005840"/>
            <a:ext cx="1965600" cy="529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300" b="1" u="none" strike="noStrike">
                <a:solidFill>
                  <a:srgbClr val="f1f5f9"/>
                </a:solidFill>
                <a:effectLst/>
                <a:uFillTx/>
                <a:latin typeface="Courier New"/>
                <a:ea typeface="Courier New"/>
              </a:rPr>
              <a:t>git add .</a:t>
            </a:r>
            <a:endParaRPr lang="pt-BR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7" name="Shape 10"/>
          <p:cNvSpPr/>
          <p:nvPr/>
        </p:nvSpPr>
        <p:spPr>
          <a:xfrm>
            <a:off x="4416480" y="1216080"/>
            <a:ext cx="200880" cy="91080"/>
          </a:xfrm>
          <a:prstGeom prst="rect">
            <a:avLst/>
          </a:prstGeom>
          <a:solidFill>
            <a:srgbClr val="94a3b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8" name="Text 11"/>
          <p:cNvSpPr/>
          <p:nvPr/>
        </p:nvSpPr>
        <p:spPr>
          <a:xfrm>
            <a:off x="2450520" y="1600200"/>
            <a:ext cx="1965600" cy="91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150" b="0" u="none" strike="noStrike">
                <a:solidFill>
                  <a:srgbClr val="94a3b8"/>
                </a:solidFill>
                <a:effectLst/>
                <a:uFillTx/>
                <a:latin typeface="Calibri"/>
                <a:ea typeface="Calibri"/>
              </a:rPr>
              <a:t>Prepara os arquivos para o commit</a:t>
            </a:r>
            <a:endParaRPr lang="pt-BR" sz="11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150" b="0" u="none" strike="noStrike">
                <a:solidFill>
                  <a:srgbClr val="94a3b8"/>
                </a:solidFill>
                <a:effectLst/>
                <a:uFillTx/>
                <a:latin typeface="Calibri"/>
                <a:ea typeface="Calibri"/>
              </a:rPr>
              <a:t>(Staging Area)</a:t>
            </a:r>
            <a:endParaRPr lang="pt-BR" sz="11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9" name="Text 12"/>
          <p:cNvSpPr/>
          <p:nvPr/>
        </p:nvSpPr>
        <p:spPr>
          <a:xfrm>
            <a:off x="4389120" y="1005840"/>
            <a:ext cx="273960" cy="529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600" b="0" u="none" strike="noStrike">
                <a:solidFill>
                  <a:srgbClr val="94a3b8"/>
                </a:solidFill>
                <a:effectLst/>
                <a:uFillTx/>
                <a:latin typeface="Calibri"/>
              </a:rPr>
              <a:t>→</a:t>
            </a:r>
            <a:endParaRPr lang="pt-BR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0" name="Shape 13"/>
          <p:cNvSpPr/>
          <p:nvPr/>
        </p:nvSpPr>
        <p:spPr>
          <a:xfrm>
            <a:off x="4626720" y="1005840"/>
            <a:ext cx="1965600" cy="529920"/>
          </a:xfrm>
          <a:prstGeom prst="rect">
            <a:avLst/>
          </a:prstGeom>
          <a:solidFill>
            <a:srgbClr val="7c3aed"/>
          </a:solidFill>
          <a:ln w="0">
            <a:noFill/>
          </a:ln>
          <a:effectLst>
            <a:outerShdw algn="bl" blurRad="101520" dir="8100000" dist="37674" kx="0" ky="0" rotWithShape="0" sx="100000" sy="100000">
              <a:srgbClr val="000000">
                <a:alpha val="2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1" name="Text 14"/>
          <p:cNvSpPr/>
          <p:nvPr/>
        </p:nvSpPr>
        <p:spPr>
          <a:xfrm>
            <a:off x="4626720" y="1005840"/>
            <a:ext cx="1965600" cy="529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300" b="1" u="none" strike="noStrike">
                <a:solidFill>
                  <a:srgbClr val="f1f5f9"/>
                </a:solidFill>
                <a:effectLst/>
                <a:uFillTx/>
                <a:latin typeface="Courier New"/>
                <a:ea typeface="Courier New"/>
              </a:rPr>
              <a:t>git commit -m</a:t>
            </a:r>
            <a:endParaRPr lang="pt-BR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2" name="Shape 15"/>
          <p:cNvSpPr/>
          <p:nvPr/>
        </p:nvSpPr>
        <p:spPr>
          <a:xfrm>
            <a:off x="6592680" y="1216080"/>
            <a:ext cx="200880" cy="91080"/>
          </a:xfrm>
          <a:prstGeom prst="rect">
            <a:avLst/>
          </a:prstGeom>
          <a:solidFill>
            <a:srgbClr val="94a3b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3" name="Text 16"/>
          <p:cNvSpPr/>
          <p:nvPr/>
        </p:nvSpPr>
        <p:spPr>
          <a:xfrm>
            <a:off x="4626720" y="1600200"/>
            <a:ext cx="1965600" cy="91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150" b="0" u="none" strike="noStrike">
                <a:solidFill>
                  <a:srgbClr val="94a3b8"/>
                </a:solidFill>
                <a:effectLst/>
                <a:uFillTx/>
                <a:latin typeface="Calibri"/>
                <a:ea typeface="Calibri"/>
              </a:rPr>
              <a:t>Salva um snapshot no histórico</a:t>
            </a:r>
            <a:endParaRPr lang="pt-BR" sz="11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150" b="0" u="none" strike="noStrike">
                <a:solidFill>
                  <a:srgbClr val="94a3b8"/>
                </a:solidFill>
                <a:effectLst/>
                <a:uFillTx/>
                <a:latin typeface="Calibri"/>
                <a:ea typeface="Calibri"/>
              </a:rPr>
              <a:t>com uma mensagem descritiva</a:t>
            </a:r>
            <a:endParaRPr lang="pt-BR" sz="11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4" name="Text 17"/>
          <p:cNvSpPr/>
          <p:nvPr/>
        </p:nvSpPr>
        <p:spPr>
          <a:xfrm>
            <a:off x="6565320" y="1005840"/>
            <a:ext cx="273960" cy="529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600" b="0" u="none" strike="noStrike">
                <a:solidFill>
                  <a:srgbClr val="94a3b8"/>
                </a:solidFill>
                <a:effectLst/>
                <a:uFillTx/>
                <a:latin typeface="Calibri"/>
              </a:rPr>
              <a:t>→</a:t>
            </a:r>
            <a:endParaRPr lang="pt-BR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5" name="Shape 18"/>
          <p:cNvSpPr/>
          <p:nvPr/>
        </p:nvSpPr>
        <p:spPr>
          <a:xfrm>
            <a:off x="6803280" y="1005840"/>
            <a:ext cx="1965600" cy="529920"/>
          </a:xfrm>
          <a:prstGeom prst="rect">
            <a:avLst/>
          </a:prstGeom>
          <a:solidFill>
            <a:srgbClr val="d97706"/>
          </a:solidFill>
          <a:ln w="0">
            <a:noFill/>
          </a:ln>
          <a:effectLst>
            <a:outerShdw algn="bl" blurRad="101520" dir="8100000" dist="37674" kx="0" ky="0" rotWithShape="0" sx="100000" sy="100000">
              <a:srgbClr val="000000">
                <a:alpha val="2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6" name="Text 19"/>
          <p:cNvSpPr/>
          <p:nvPr/>
        </p:nvSpPr>
        <p:spPr>
          <a:xfrm>
            <a:off x="6803280" y="1005840"/>
            <a:ext cx="1965600" cy="529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300" b="1" u="none" strike="noStrike">
                <a:solidFill>
                  <a:srgbClr val="f1f5f9"/>
                </a:solidFill>
                <a:effectLst/>
                <a:uFillTx/>
                <a:latin typeface="Courier New"/>
                <a:ea typeface="Courier New"/>
              </a:rPr>
              <a:t>git push</a:t>
            </a:r>
            <a:endParaRPr lang="pt-BR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7" name="Shape 20"/>
          <p:cNvSpPr/>
          <p:nvPr/>
        </p:nvSpPr>
        <p:spPr>
          <a:xfrm>
            <a:off x="8769240" y="1216080"/>
            <a:ext cx="200880" cy="91080"/>
          </a:xfrm>
          <a:prstGeom prst="rect">
            <a:avLst/>
          </a:prstGeom>
          <a:solidFill>
            <a:srgbClr val="94a3b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8" name="Text 21"/>
          <p:cNvSpPr/>
          <p:nvPr/>
        </p:nvSpPr>
        <p:spPr>
          <a:xfrm>
            <a:off x="6803280" y="1600200"/>
            <a:ext cx="1965600" cy="91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150" b="0" u="none" strike="noStrike">
                <a:solidFill>
                  <a:srgbClr val="94a3b8"/>
                </a:solidFill>
                <a:effectLst/>
                <a:uFillTx/>
                <a:latin typeface="Calibri"/>
                <a:ea typeface="Calibri"/>
              </a:rPr>
              <a:t>Envia os commits para o servidor</a:t>
            </a:r>
            <a:endParaRPr lang="pt-BR" sz="11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150" b="0" u="none" strike="noStrike">
                <a:solidFill>
                  <a:srgbClr val="94a3b8"/>
                </a:solidFill>
                <a:effectLst/>
                <a:uFillTx/>
                <a:latin typeface="Calibri"/>
                <a:ea typeface="Calibri"/>
              </a:rPr>
              <a:t>remoto (GitHub, GitLab...)</a:t>
            </a:r>
            <a:endParaRPr lang="pt-BR" sz="11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9" name="Shape 22"/>
          <p:cNvSpPr/>
          <p:nvPr/>
        </p:nvSpPr>
        <p:spPr>
          <a:xfrm>
            <a:off x="365760" y="2697480"/>
            <a:ext cx="8412120" cy="2148480"/>
          </a:xfrm>
          <a:prstGeom prst="rect">
            <a:avLst/>
          </a:prstGeom>
          <a:solidFill>
            <a:srgbClr val="0a0f14"/>
          </a:solidFill>
          <a:ln w="12700">
            <a:solidFill>
              <a:srgbClr val="f9731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0" name="Text 23"/>
          <p:cNvSpPr/>
          <p:nvPr/>
        </p:nvSpPr>
        <p:spPr>
          <a:xfrm>
            <a:off x="548640" y="2788920"/>
            <a:ext cx="8046360" cy="1919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r>
              <a:rPr lang="en-US" sz="1200" b="0" u="none" strike="noStrike">
                <a:solidFill>
                  <a:srgbClr val="94a3b8"/>
                </a:solidFill>
                <a:effectLst/>
                <a:uFillTx/>
                <a:latin typeface="Courier New"/>
                <a:ea typeface="Courier New"/>
              </a:rPr>
              <a:t># Exemplo de fluxo completo</a:t>
            </a:r>
            <a:endParaRPr lang="pt-BR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lang="pt-BR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200" b="1" u="none" strike="noStrike">
                <a:solidFill>
                  <a:srgbClr val="14b8a6"/>
                </a:solidFill>
                <a:effectLst/>
                <a:uFillTx/>
                <a:latin typeface="Courier New"/>
                <a:ea typeface="Courier New"/>
              </a:rPr>
              <a:t>git init</a:t>
            </a:r>
            <a:r>
              <a:rPr lang="en-US" sz="1200" b="0" u="none" strike="noStrike">
                <a:solidFill>
                  <a:srgbClr val="94a3b8"/>
                </a:solidFill>
                <a:effectLst/>
                <a:uFillTx/>
                <a:latin typeface="Courier New"/>
                <a:ea typeface="Courier New"/>
              </a:rPr>
              <a:t>                    # 1. Inicializa o projeto</a:t>
            </a:r>
            <a:endParaRPr lang="pt-BR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lang="pt-BR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200" b="1" u="none" strike="noStrike">
                <a:solidFill>
                  <a:srgbClr val="14b8a6"/>
                </a:solidFill>
                <a:effectLst/>
                <a:uFillTx/>
                <a:latin typeface="Courier New"/>
                <a:ea typeface="Courier New"/>
              </a:rPr>
              <a:t>git add Produto.java</a:t>
            </a:r>
            <a:r>
              <a:rPr lang="en-US" sz="1200" b="0" u="none" strike="noStrike">
                <a:solidFill>
                  <a:srgbClr val="94a3b8"/>
                </a:solidFill>
                <a:effectLst/>
                <a:uFillTx/>
                <a:latin typeface="Courier New"/>
                <a:ea typeface="Courier New"/>
              </a:rPr>
              <a:t>      # 2. Adiciona o arquivo</a:t>
            </a:r>
            <a:endParaRPr lang="pt-BR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lang="pt-BR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200" b="1" u="none" strike="noStrike">
                <a:solidFill>
                  <a:srgbClr val="14b8a6"/>
                </a:solidFill>
                <a:effectLst/>
                <a:uFillTx/>
                <a:latin typeface="Courier New"/>
                <a:ea typeface="Courier New"/>
              </a:rPr>
              <a:t>git commit -m </a:t>
            </a:r>
            <a:r>
              <a:rPr lang="en-US" sz="1200" b="0" u="none" strike="noStrike">
                <a:solidFill>
                  <a:srgbClr val="fcd34d"/>
                </a:solidFill>
                <a:effectLst/>
                <a:uFillTx/>
                <a:latin typeface="Courier New"/>
                <a:ea typeface="Courier New"/>
              </a:rPr>
              <a:t>"feat: adiciona classe Produto"</a:t>
            </a:r>
            <a:endParaRPr lang="pt-BR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200" b="1" u="none" strike="noStrike">
                <a:solidFill>
                  <a:srgbClr val="14b8a6"/>
                </a:solidFill>
                <a:effectLst/>
                <a:uFillTx/>
                <a:latin typeface="Courier New"/>
                <a:ea typeface="Courier New"/>
              </a:rPr>
              <a:t>git push origin main</a:t>
            </a:r>
            <a:endParaRPr lang="pt-BR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200" b="0" u="none" strike="noStrike">
                <a:solidFill>
                  <a:srgbClr val="94a3b8"/>
                </a:solidFill>
                <a:effectLst/>
                <a:uFillTx/>
                <a:latin typeface="Courier New"/>
                <a:ea typeface="Courier New"/>
              </a:rPr>
              <a:t>    # 4. Envia para o servidor</a:t>
            </a:r>
            <a:endParaRPr lang="pt-BR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f19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Shape 0"/>
          <p:cNvSpPr/>
          <p:nvPr/>
        </p:nvSpPr>
        <p:spPr>
          <a:xfrm>
            <a:off x="0" y="0"/>
            <a:ext cx="9143640" cy="72720"/>
          </a:xfrm>
          <a:prstGeom prst="rect">
            <a:avLst/>
          </a:prstGeom>
          <a:solidFill>
            <a:srgbClr val="0d948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28080" bIns="28080" anchor="t">
            <a:noAutofit/>
          </a:bodyPr>
          <a:p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2" name="Shape 1"/>
          <p:cNvSpPr/>
          <p:nvPr/>
        </p:nvSpPr>
        <p:spPr>
          <a:xfrm>
            <a:off x="0" y="73080"/>
            <a:ext cx="9143640" cy="685440"/>
          </a:xfrm>
          <a:prstGeom prst="rect">
            <a:avLst/>
          </a:prstGeom>
          <a:solidFill>
            <a:srgbClr val="152535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3" name="Text 2"/>
          <p:cNvSpPr/>
          <p:nvPr/>
        </p:nvSpPr>
        <p:spPr>
          <a:xfrm>
            <a:off x="320040" y="73080"/>
            <a:ext cx="850356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2000" b="1" u="none" strike="noStrike">
                <a:solidFill>
                  <a:srgbClr val="14b8a6"/>
                </a:solidFill>
                <a:effectLst/>
                <a:uFillTx/>
                <a:latin typeface="Trebuchet MS"/>
                <a:ea typeface="Trebuchet MS"/>
              </a:rPr>
              <a:t>Git na Prática com XP — Boas Práticas</a:t>
            </a:r>
            <a:endParaRPr lang="pt-BR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4" name="Text 3"/>
          <p:cNvSpPr/>
          <p:nvPr/>
        </p:nvSpPr>
        <p:spPr>
          <a:xfrm>
            <a:off x="365760" y="914400"/>
            <a:ext cx="8412120" cy="3931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  <a:spcBef>
                <a:spcPts val="799"/>
              </a:spcBef>
              <a:spcAft>
                <a:spcPts val="400"/>
              </a:spcAft>
              <a:tabLst>
                <a:tab algn="l" pos="0"/>
              </a:tabLst>
            </a:pPr>
            <a:r>
              <a:rPr lang="en-US" sz="1400" b="1" u="none" strike="noStrike">
                <a:solidFill>
                  <a:srgbClr val="fcd34d"/>
                </a:solidFill>
                <a:effectLst/>
                <a:uFillTx/>
                <a:latin typeface="Calibri"/>
                <a:ea typeface="Calibri"/>
              </a:rPr>
              <a:t>Mensagens de commit descritivas:</a:t>
            </a:r>
            <a:endParaRPr lang="pt-BR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685800" lvl="1" indent="-343080" defTabSz="914400">
              <a:lnSpc>
                <a:spcPct val="100000"/>
              </a:lnSpc>
              <a:spcAft>
                <a:spcPts val="400"/>
              </a:spcAft>
              <a:buClr>
                <a:srgbClr val="94a3b8"/>
              </a:buClr>
              <a:buFont typeface="Wingdings 3" charset="2"/>
              <a:buChar char=""/>
              <a:tabLst>
                <a:tab algn="l" pos="0"/>
              </a:tabLst>
            </a:pPr>
            <a:r>
              <a:rPr lang="en-US" sz="1300" b="0" u="none" strike="noStrike">
                <a:solidFill>
                  <a:srgbClr val="94a3b8"/>
                </a:solidFill>
                <a:effectLst/>
                <a:uFillTx/>
                <a:latin typeface="Calibri"/>
                <a:ea typeface="Calibri"/>
              </a:rPr>
              <a:t>feat: adiciona tela de cadastro de produto</a:t>
            </a:r>
            <a:endParaRPr lang="pt-BR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685800" lvl="1" indent="-343080" defTabSz="914400">
              <a:lnSpc>
                <a:spcPct val="100000"/>
              </a:lnSpc>
              <a:spcAft>
                <a:spcPts val="400"/>
              </a:spcAft>
              <a:buClr>
                <a:srgbClr val="94a3b8"/>
              </a:buClr>
              <a:buFont typeface="Wingdings 3" charset="2"/>
              <a:buChar char=""/>
              <a:tabLst>
                <a:tab algn="l" pos="0"/>
              </a:tabLst>
            </a:pPr>
            <a:r>
              <a:rPr lang="en-US" sz="1300" b="0" u="none" strike="noStrike">
                <a:solidFill>
                  <a:srgbClr val="94a3b8"/>
                </a:solidFill>
                <a:effectLst/>
                <a:uFillTx/>
                <a:latin typeface="Calibri"/>
                <a:ea typeface="Calibri"/>
              </a:rPr>
              <a:t>fix: corrige cálculo de desconto no carrinho</a:t>
            </a:r>
            <a:endParaRPr lang="pt-BR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685800" lvl="1" indent="-343080" defTabSz="914400">
              <a:lnSpc>
                <a:spcPct val="100000"/>
              </a:lnSpc>
              <a:spcAft>
                <a:spcPts val="400"/>
              </a:spcAft>
              <a:buClr>
                <a:srgbClr val="94a3b8"/>
              </a:buClr>
              <a:buFont typeface="Wingdings 3" charset="2"/>
              <a:buChar char=""/>
              <a:tabLst>
                <a:tab algn="l" pos="0"/>
              </a:tabLst>
            </a:pPr>
            <a:r>
              <a:rPr lang="en-US" sz="1300" b="0" u="none" strike="noStrike">
                <a:solidFill>
                  <a:srgbClr val="94a3b8"/>
                </a:solidFill>
                <a:effectLst/>
                <a:uFillTx/>
                <a:latin typeface="Calibri"/>
                <a:ea typeface="Calibri"/>
              </a:rPr>
              <a:t>test: adiciona testes de unidade para Pagamento</a:t>
            </a:r>
            <a:endParaRPr lang="pt-BR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spcBef>
                <a:spcPts val="799"/>
              </a:spcBef>
              <a:spcAft>
                <a:spcPts val="400"/>
              </a:spcAft>
              <a:tabLst>
                <a:tab algn="l" pos="0"/>
              </a:tabLst>
            </a:pPr>
            <a:r>
              <a:rPr lang="en-US" sz="1400" b="1" u="none" strike="noStrike">
                <a:solidFill>
                  <a:srgbClr val="fcd34d"/>
                </a:solidFill>
                <a:effectLst/>
                <a:uFillTx/>
                <a:latin typeface="Calibri"/>
                <a:ea typeface="Calibri"/>
              </a:rPr>
              <a:t>Integração Contínua no XP:</a:t>
            </a:r>
            <a:endParaRPr lang="pt-BR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685800" lvl="1" indent="-343080" defTabSz="914400">
              <a:lnSpc>
                <a:spcPct val="100000"/>
              </a:lnSpc>
              <a:spcAft>
                <a:spcPts val="400"/>
              </a:spcAft>
              <a:buClr>
                <a:srgbClr val="94a3b8"/>
              </a:buClr>
              <a:buFont typeface="Wingdings 3" charset="2"/>
              <a:buChar char=""/>
              <a:tabLst>
                <a:tab algn="l" pos="0"/>
              </a:tabLst>
            </a:pPr>
            <a:r>
              <a:rPr lang="en-US" sz="1300" b="0" u="none" strike="noStrike">
                <a:solidFill>
                  <a:srgbClr val="94a3b8"/>
                </a:solidFill>
                <a:effectLst/>
                <a:uFillTx/>
                <a:latin typeface="Calibri"/>
                <a:ea typeface="Calibri"/>
              </a:rPr>
              <a:t>Cada par integra seu código ao menos uma vez por dia</a:t>
            </a:r>
            <a:endParaRPr lang="pt-BR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685800" lvl="1" indent="-343080" defTabSz="914400">
              <a:lnSpc>
                <a:spcPct val="100000"/>
              </a:lnSpc>
              <a:spcAft>
                <a:spcPts val="400"/>
              </a:spcAft>
              <a:buClr>
                <a:srgbClr val="94a3b8"/>
              </a:buClr>
              <a:buFont typeface="Wingdings 3" charset="2"/>
              <a:buChar char=""/>
              <a:tabLst>
                <a:tab algn="l" pos="0"/>
              </a:tabLst>
            </a:pPr>
            <a:r>
              <a:rPr lang="en-US" sz="1300" b="0" u="none" strike="noStrike">
                <a:solidFill>
                  <a:srgbClr val="94a3b8"/>
                </a:solidFill>
                <a:effectLst/>
                <a:uFillTx/>
                <a:latin typeface="Calibri"/>
                <a:ea typeface="Calibri"/>
              </a:rPr>
              <a:t>Rodar todos os testes antes de cada commit</a:t>
            </a:r>
            <a:endParaRPr lang="pt-BR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685800" lvl="1" indent="-343080" defTabSz="914400">
              <a:lnSpc>
                <a:spcPct val="100000"/>
              </a:lnSpc>
              <a:spcAft>
                <a:spcPts val="400"/>
              </a:spcAft>
              <a:buClr>
                <a:srgbClr val="94a3b8"/>
              </a:buClr>
              <a:buFont typeface="Wingdings 3" charset="2"/>
              <a:buChar char=""/>
              <a:tabLst>
                <a:tab algn="l" pos="0"/>
              </a:tabLst>
            </a:pPr>
            <a:r>
              <a:rPr lang="en-US" sz="1300" b="0" u="none" strike="noStrike">
                <a:solidFill>
                  <a:srgbClr val="94a3b8"/>
                </a:solidFill>
                <a:effectLst/>
                <a:uFillTx/>
                <a:latin typeface="Calibri"/>
                <a:ea typeface="Calibri"/>
              </a:rPr>
              <a:t>Se os testes falharem → NÃO commitar</a:t>
            </a:r>
            <a:endParaRPr lang="pt-BR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spcBef>
                <a:spcPts val="799"/>
              </a:spcBef>
              <a:spcAft>
                <a:spcPts val="400"/>
              </a:spcAft>
              <a:tabLst>
                <a:tab algn="l" pos="0"/>
              </a:tabLst>
            </a:pPr>
            <a:r>
              <a:rPr lang="en-US" sz="1400" b="1" u="none" strike="noStrike">
                <a:solidFill>
                  <a:srgbClr val="fcd34d"/>
                </a:solidFill>
                <a:effectLst/>
                <a:uFillTx/>
                <a:latin typeface="Calibri"/>
                <a:ea typeface="Calibri"/>
              </a:rPr>
              <a:t>Branches sugeridos:</a:t>
            </a:r>
            <a:endParaRPr lang="pt-BR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685800" lvl="1" indent="-343080" defTabSz="914400">
              <a:lnSpc>
                <a:spcPct val="100000"/>
              </a:lnSpc>
              <a:spcAft>
                <a:spcPts val="400"/>
              </a:spcAft>
              <a:buClr>
                <a:srgbClr val="94a3b8"/>
              </a:buClr>
              <a:buFont typeface="Wingdings 3" charset="2"/>
              <a:buChar char=""/>
              <a:tabLst>
                <a:tab algn="l" pos="0"/>
              </a:tabLst>
            </a:pPr>
            <a:r>
              <a:rPr lang="en-US" sz="1300" b="0" u="none" strike="noStrike">
                <a:solidFill>
                  <a:srgbClr val="94a3b8"/>
                </a:solidFill>
                <a:effectLst/>
                <a:uFillTx/>
                <a:latin typeface="Calibri"/>
                <a:ea typeface="Calibri"/>
              </a:rPr>
              <a:t>main → versão estável (entregável)</a:t>
            </a:r>
            <a:endParaRPr lang="pt-BR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685800" lvl="1" indent="-343080" defTabSz="914400">
              <a:lnSpc>
                <a:spcPct val="100000"/>
              </a:lnSpc>
              <a:spcAft>
                <a:spcPts val="400"/>
              </a:spcAft>
              <a:buClr>
                <a:srgbClr val="94a3b8"/>
              </a:buClr>
              <a:buFont typeface="Wingdings 3" charset="2"/>
              <a:buChar char=""/>
              <a:tabLst>
                <a:tab algn="l" pos="0"/>
              </a:tabLst>
            </a:pPr>
            <a:r>
              <a:rPr lang="en-US" sz="1300" b="0" u="none" strike="noStrike">
                <a:solidFill>
                  <a:srgbClr val="94a3b8"/>
                </a:solidFill>
                <a:effectLst/>
                <a:uFillTx/>
                <a:latin typeface="Calibri"/>
                <a:ea typeface="Calibri"/>
              </a:rPr>
              <a:t>develop → integração do trabalho dos pares</a:t>
            </a:r>
            <a:endParaRPr lang="pt-BR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685800" lvl="1" indent="-343080" defTabSz="914400">
              <a:lnSpc>
                <a:spcPct val="100000"/>
              </a:lnSpc>
              <a:spcAft>
                <a:spcPts val="400"/>
              </a:spcAft>
              <a:buClr>
                <a:srgbClr val="94a3b8"/>
              </a:buClr>
              <a:buFont typeface="Wingdings 3" charset="2"/>
              <a:buChar char=""/>
              <a:tabLst>
                <a:tab algn="l" pos="0"/>
              </a:tabLst>
            </a:pPr>
            <a:r>
              <a:rPr lang="en-US" sz="1300" b="0" u="none" strike="noStrike">
                <a:solidFill>
                  <a:srgbClr val="94a3b8"/>
                </a:solidFill>
                <a:effectLst/>
                <a:uFillTx/>
                <a:latin typeface="Calibri"/>
                <a:ea typeface="Calibri"/>
              </a:rPr>
              <a:t>feature/xxx → cada história de usuário</a:t>
            </a:r>
            <a:endParaRPr lang="pt-BR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5" name="Shape 4"/>
          <p:cNvSpPr/>
          <p:nvPr/>
        </p:nvSpPr>
        <p:spPr>
          <a:xfrm>
            <a:off x="365760" y="4160520"/>
            <a:ext cx="8412120" cy="776880"/>
          </a:xfrm>
          <a:prstGeom prst="rect">
            <a:avLst/>
          </a:prstGeom>
          <a:solidFill>
            <a:srgbClr val="1c2d1f"/>
          </a:solidFill>
          <a:ln w="19050">
            <a:solidFill>
              <a:srgbClr val="f97316"/>
            </a:solidFill>
            <a:round/>
          </a:ln>
          <a:effectLst>
            <a:outerShdw algn="bl" blurRad="101520" dir="8100000" dist="37674" kx="0" ky="0" rotWithShape="0" sx="100000" sy="100000">
              <a:srgbClr val="000000">
                <a:alpha val="2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6" name="Text 5"/>
          <p:cNvSpPr/>
          <p:nvPr/>
        </p:nvSpPr>
        <p:spPr>
          <a:xfrm>
            <a:off x="502920" y="4187880"/>
            <a:ext cx="8137800" cy="712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250" b="1" u="none" strike="noStrike">
                <a:solidFill>
                  <a:srgbClr val="f97316"/>
                </a:solidFill>
                <a:effectLst/>
                <a:uFillTx/>
                <a:latin typeface="Calibri"/>
                <a:ea typeface="Calibri"/>
              </a:rPr>
              <a:t>💬 Discussão: </a:t>
            </a:r>
            <a:r>
              <a:rPr lang="en-US" sz="1250" b="0" u="none" strike="noStrike">
                <a:solidFill>
                  <a:srgbClr val="f1f5f9"/>
                </a:solidFill>
                <a:effectLst/>
                <a:uFillTx/>
                <a:latin typeface="Calibri"/>
                <a:ea typeface="Calibri"/>
              </a:rPr>
              <a:t>Já perderam código por não usar versionamento? O que aconteceria se dois pares XP editassem o mesmo arquivo ao mesmo tempo sem Git?</a:t>
            </a:r>
            <a:endParaRPr lang="pt-BR" sz="12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f19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Shape 0"/>
          <p:cNvSpPr/>
          <p:nvPr/>
        </p:nvSpPr>
        <p:spPr>
          <a:xfrm>
            <a:off x="0" y="0"/>
            <a:ext cx="9143640" cy="72720"/>
          </a:xfrm>
          <a:prstGeom prst="rect">
            <a:avLst/>
          </a:prstGeom>
          <a:solidFill>
            <a:srgbClr val="0d948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28080" bIns="28080" anchor="t">
            <a:noAutofit/>
          </a:bodyPr>
          <a:p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8" name="Shape 1"/>
          <p:cNvSpPr/>
          <p:nvPr/>
        </p:nvSpPr>
        <p:spPr>
          <a:xfrm>
            <a:off x="0" y="73080"/>
            <a:ext cx="9143640" cy="685440"/>
          </a:xfrm>
          <a:prstGeom prst="rect">
            <a:avLst/>
          </a:prstGeom>
          <a:solidFill>
            <a:srgbClr val="152535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9" name="Text 2"/>
          <p:cNvSpPr/>
          <p:nvPr/>
        </p:nvSpPr>
        <p:spPr>
          <a:xfrm>
            <a:off x="320040" y="73080"/>
            <a:ext cx="850356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2000" b="1" u="none" strike="noStrike">
                <a:solidFill>
                  <a:srgbClr val="14b8a6"/>
                </a:solidFill>
                <a:effectLst/>
                <a:uFillTx/>
                <a:latin typeface="Trebuchet MS"/>
                <a:ea typeface="Trebuchet MS"/>
              </a:rPr>
              <a:t>Engenharia de Requisitos — Fundamentos</a:t>
            </a:r>
            <a:endParaRPr lang="pt-BR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0" name="Shape 3"/>
          <p:cNvSpPr/>
          <p:nvPr/>
        </p:nvSpPr>
        <p:spPr>
          <a:xfrm>
            <a:off x="4526280" y="914400"/>
            <a:ext cx="54360" cy="3931560"/>
          </a:xfrm>
          <a:prstGeom prst="rect">
            <a:avLst/>
          </a:prstGeom>
          <a:solidFill>
            <a:srgbClr val="0d948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1" name="Text 4"/>
          <p:cNvSpPr/>
          <p:nvPr/>
        </p:nvSpPr>
        <p:spPr>
          <a:xfrm>
            <a:off x="320040" y="914400"/>
            <a:ext cx="402300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400" b="1" u="none" strike="noStrike">
                <a:solidFill>
                  <a:srgbClr val="0d9488"/>
                </a:solidFill>
                <a:effectLst/>
                <a:uFillTx/>
                <a:latin typeface="Trebuchet MS"/>
                <a:ea typeface="Trebuchet MS"/>
              </a:rPr>
              <a:t>Conceitos Básicos</a:t>
            </a:r>
            <a:endParaRPr lang="pt-BR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2" name="Text 5"/>
          <p:cNvSpPr/>
          <p:nvPr/>
        </p:nvSpPr>
        <p:spPr>
          <a:xfrm>
            <a:off x="4754880" y="914400"/>
            <a:ext cx="402300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400" b="1" u="none" strike="noStrike">
                <a:solidFill>
                  <a:srgbClr val="0d9488"/>
                </a:solidFill>
                <a:effectLst/>
                <a:uFillTx/>
                <a:latin typeface="Trebuchet MS"/>
                <a:ea typeface="Trebuchet MS"/>
              </a:rPr>
              <a:t>Processo</a:t>
            </a:r>
            <a:endParaRPr lang="pt-BR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3" name="Text 6"/>
          <p:cNvSpPr/>
          <p:nvPr/>
        </p:nvSpPr>
        <p:spPr>
          <a:xfrm>
            <a:off x="320040" y="1298520"/>
            <a:ext cx="4023000" cy="3661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  <a:spcBef>
                <a:spcPts val="601"/>
              </a:spcBef>
              <a:spcAft>
                <a:spcPts val="400"/>
              </a:spcAft>
              <a:tabLst>
                <a:tab algn="l" pos="0"/>
              </a:tabLst>
            </a:pPr>
            <a:r>
              <a:rPr lang="en-US" sz="1300" b="1" u="none" strike="noStrike">
                <a:solidFill>
                  <a:srgbClr val="fcd34d"/>
                </a:solidFill>
                <a:effectLst/>
                <a:uFillTx/>
                <a:latin typeface="Calibri"/>
                <a:ea typeface="Calibri"/>
              </a:rPr>
              <a:t>O que são Requisitos?</a:t>
            </a:r>
            <a:endParaRPr lang="pt-BR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400"/>
              </a:spcAft>
              <a:buClr>
                <a:srgbClr val="f1f5f9"/>
              </a:buClr>
              <a:buFont typeface="Symbol" charset="2"/>
              <a:buChar char=""/>
              <a:tabLst>
                <a:tab algn="l" pos="0"/>
              </a:tabLst>
            </a:pPr>
            <a:r>
              <a:rPr lang="en-US" sz="1300" b="0" u="none" strike="noStrike">
                <a:solidFill>
                  <a:srgbClr val="f1f5f9"/>
                </a:solidFill>
                <a:effectLst/>
                <a:uFillTx/>
                <a:latin typeface="Calibri"/>
                <a:ea typeface="Calibri"/>
              </a:rPr>
              <a:t>Descrições do que o sistema deve fazer</a:t>
            </a:r>
            <a:endParaRPr lang="pt-BR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400"/>
              </a:spcAft>
              <a:buClr>
                <a:srgbClr val="f1f5f9"/>
              </a:buClr>
              <a:buFont typeface="Symbol" charset="2"/>
              <a:buChar char=""/>
              <a:tabLst>
                <a:tab algn="l" pos="0"/>
              </a:tabLst>
            </a:pPr>
            <a:r>
              <a:rPr lang="en-US" sz="1300" b="0" u="none" strike="noStrike">
                <a:solidFill>
                  <a:srgbClr val="f1f5f9"/>
                </a:solidFill>
                <a:effectLst/>
                <a:uFillTx/>
                <a:latin typeface="Calibri"/>
                <a:ea typeface="Calibri"/>
              </a:rPr>
              <a:t>Definem as condições que o software deve atender</a:t>
            </a:r>
            <a:endParaRPr lang="pt-BR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spcBef>
                <a:spcPts val="601"/>
              </a:spcBef>
              <a:spcAft>
                <a:spcPts val="400"/>
              </a:spcAft>
              <a:tabLst>
                <a:tab algn="l" pos="0"/>
              </a:tabLst>
            </a:pPr>
            <a:r>
              <a:rPr lang="en-US" sz="1300" b="1" u="none" strike="noStrike">
                <a:solidFill>
                  <a:srgbClr val="fcd34d"/>
                </a:solidFill>
                <a:effectLst/>
                <a:uFillTx/>
                <a:latin typeface="Calibri"/>
                <a:ea typeface="Calibri"/>
              </a:rPr>
              <a:t>Tipos:</a:t>
            </a:r>
            <a:endParaRPr lang="pt-BR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400"/>
              </a:spcAft>
              <a:buClr>
                <a:srgbClr val="f1f5f9"/>
              </a:buClr>
              <a:buFont typeface="Symbol" charset="2"/>
              <a:buChar char=""/>
              <a:tabLst>
                <a:tab algn="l" pos="0"/>
              </a:tabLst>
            </a:pPr>
            <a:r>
              <a:rPr lang="en-US" sz="1300" b="0" u="none" strike="noStrike">
                <a:solidFill>
                  <a:srgbClr val="f1f5f9"/>
                </a:solidFill>
                <a:effectLst/>
                <a:uFillTx/>
                <a:latin typeface="Calibri"/>
                <a:ea typeface="Calibri"/>
              </a:rPr>
              <a:t>Funcionais → O que o sistema faz</a:t>
            </a:r>
            <a:endParaRPr lang="pt-BR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400"/>
              </a:spcAft>
              <a:buClr>
                <a:srgbClr val="f1f5f9"/>
              </a:buClr>
              <a:buFont typeface="Symbol" charset="2"/>
              <a:buChar char=""/>
              <a:tabLst>
                <a:tab algn="l" pos="0"/>
              </a:tabLst>
            </a:pPr>
            <a:r>
              <a:rPr lang="en-US" sz="1300" b="0" u="none" strike="noStrike">
                <a:solidFill>
                  <a:srgbClr val="f1f5f9"/>
                </a:solidFill>
                <a:effectLst/>
                <a:uFillTx/>
                <a:latin typeface="Calibri"/>
                <a:ea typeface="Calibri"/>
              </a:rPr>
              <a:t>  Ex.: O sistema deve calcular o frete</a:t>
            </a:r>
            <a:endParaRPr lang="pt-BR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400"/>
              </a:spcAft>
              <a:buClr>
                <a:srgbClr val="f1f5f9"/>
              </a:buClr>
              <a:buFont typeface="Symbol" charset="2"/>
              <a:buChar char=""/>
              <a:tabLst>
                <a:tab algn="l" pos="0"/>
              </a:tabLst>
            </a:pPr>
            <a:r>
              <a:rPr lang="en-US" sz="1300" b="0" u="none" strike="noStrike">
                <a:solidFill>
                  <a:srgbClr val="f1f5f9"/>
                </a:solidFill>
                <a:effectLst/>
                <a:uFillTx/>
                <a:latin typeface="Calibri"/>
                <a:ea typeface="Calibri"/>
              </a:rPr>
              <a:t>Não-funcionais → Como ele se comporta</a:t>
            </a:r>
            <a:endParaRPr lang="pt-BR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400"/>
              </a:spcAft>
              <a:buClr>
                <a:srgbClr val="f1f5f9"/>
              </a:buClr>
              <a:buFont typeface="Symbol" charset="2"/>
              <a:buChar char=""/>
              <a:tabLst>
                <a:tab algn="l" pos="0"/>
              </a:tabLst>
            </a:pPr>
            <a:r>
              <a:rPr lang="en-US" sz="1300" b="0" u="none" strike="noStrike">
                <a:solidFill>
                  <a:srgbClr val="f1f5f9"/>
                </a:solidFill>
                <a:effectLst/>
                <a:uFillTx/>
                <a:latin typeface="Calibri"/>
                <a:ea typeface="Calibri"/>
              </a:rPr>
              <a:t>  Ex.: O tempo de resposta deve ser &lt; 2s</a:t>
            </a:r>
            <a:endParaRPr lang="pt-BR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400"/>
              </a:spcAft>
              <a:buClr>
                <a:srgbClr val="f1f5f9"/>
              </a:buClr>
              <a:buFont typeface="Symbol" charset="2"/>
              <a:buChar char=""/>
              <a:tabLst>
                <a:tab algn="l" pos="0"/>
              </a:tabLst>
            </a:pPr>
            <a:r>
              <a:rPr lang="en-US" sz="1300" b="0" u="none" strike="noStrike">
                <a:solidFill>
                  <a:srgbClr val="f1f5f9"/>
                </a:solidFill>
                <a:effectLst/>
                <a:uFillTx/>
                <a:latin typeface="Calibri"/>
                <a:ea typeface="Calibri"/>
              </a:rPr>
              <a:t>De domínio → Regras do negócio</a:t>
            </a:r>
            <a:endParaRPr lang="pt-BR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400"/>
              </a:spcAft>
              <a:buClr>
                <a:srgbClr val="f1f5f9"/>
              </a:buClr>
              <a:buFont typeface="Symbol" charset="2"/>
              <a:buChar char=""/>
              <a:tabLst>
                <a:tab algn="l" pos="0"/>
              </a:tabLst>
            </a:pPr>
            <a:r>
              <a:rPr lang="en-US" sz="1300" b="0" u="none" strike="noStrike">
                <a:solidFill>
                  <a:srgbClr val="f1f5f9"/>
                </a:solidFill>
                <a:effectLst/>
                <a:uFillTx/>
                <a:latin typeface="Calibri"/>
                <a:ea typeface="Calibri"/>
              </a:rPr>
              <a:t>  Ex.: Desconto máximo de 30%</a:t>
            </a:r>
            <a:endParaRPr lang="pt-BR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4" name="Text 7"/>
          <p:cNvSpPr/>
          <p:nvPr/>
        </p:nvSpPr>
        <p:spPr>
          <a:xfrm>
            <a:off x="4754880" y="1298520"/>
            <a:ext cx="4114440" cy="3661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  <a:spcBef>
                <a:spcPts val="601"/>
              </a:spcBef>
              <a:spcAft>
                <a:spcPts val="400"/>
              </a:spcAft>
              <a:tabLst>
                <a:tab algn="l" pos="0"/>
              </a:tabLst>
            </a:pPr>
            <a:r>
              <a:rPr lang="en-US" sz="1300" b="1" u="none" strike="noStrike">
                <a:solidFill>
                  <a:srgbClr val="fcd34d"/>
                </a:solidFill>
                <a:effectLst/>
                <a:uFillTx/>
                <a:latin typeface="Calibri"/>
                <a:ea typeface="Calibri"/>
              </a:rPr>
              <a:t>Por que Engenharia?</a:t>
            </a:r>
            <a:endParaRPr lang="pt-BR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400"/>
              </a:spcAft>
              <a:buClr>
                <a:srgbClr val="f1f5f9"/>
              </a:buClr>
              <a:buFont typeface="Symbol" charset="2"/>
              <a:buChar char=""/>
              <a:tabLst>
                <a:tab algn="l" pos="0"/>
              </a:tabLst>
            </a:pPr>
            <a:r>
              <a:rPr lang="en-US" sz="1300" b="0" u="none" strike="noStrike">
                <a:solidFill>
                  <a:srgbClr val="f1f5f9"/>
                </a:solidFill>
                <a:effectLst/>
                <a:uFillTx/>
                <a:latin typeface="Calibri"/>
                <a:ea typeface="Calibri"/>
              </a:rPr>
              <a:t>Requisitos mal definidos são a principal causa de fracasso em projetos de software</a:t>
            </a:r>
            <a:endParaRPr lang="pt-BR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400"/>
              </a:spcAft>
              <a:buClr>
                <a:srgbClr val="f1f5f9"/>
              </a:buClr>
              <a:buFont typeface="Symbol" charset="2"/>
              <a:buChar char=""/>
              <a:tabLst>
                <a:tab algn="l" pos="0"/>
              </a:tabLst>
            </a:pPr>
            <a:r>
              <a:rPr lang="en-US" sz="1300" b="0" u="none" strike="noStrike">
                <a:solidFill>
                  <a:srgbClr val="f1f5f9"/>
                </a:solidFill>
                <a:effectLst/>
                <a:uFillTx/>
                <a:latin typeface="Calibri"/>
                <a:ea typeface="Calibri"/>
              </a:rPr>
              <a:t>Atividades principais:</a:t>
            </a:r>
            <a:endParaRPr lang="pt-BR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400"/>
              </a:spcAft>
              <a:buClr>
                <a:srgbClr val="f1f5f9"/>
              </a:buClr>
              <a:buFont typeface="Symbol" charset="2"/>
              <a:buChar char=""/>
              <a:tabLst>
                <a:tab algn="l" pos="0"/>
              </a:tabLst>
            </a:pPr>
            <a:r>
              <a:rPr lang="en-US" sz="1300" b="0" u="none" strike="noStrike">
                <a:solidFill>
                  <a:srgbClr val="f1f5f9"/>
                </a:solidFill>
                <a:effectLst/>
                <a:uFillTx/>
                <a:latin typeface="Calibri"/>
                <a:ea typeface="Calibri"/>
              </a:rPr>
              <a:t>  Elicitação → levantar junto ao cliente</a:t>
            </a:r>
            <a:endParaRPr lang="pt-BR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400"/>
              </a:spcAft>
              <a:buClr>
                <a:srgbClr val="f1f5f9"/>
              </a:buClr>
              <a:buFont typeface="Symbol" charset="2"/>
              <a:buChar char=""/>
              <a:tabLst>
                <a:tab algn="l" pos="0"/>
              </a:tabLst>
            </a:pPr>
            <a:r>
              <a:rPr lang="en-US" sz="1300" b="0" u="none" strike="noStrike">
                <a:solidFill>
                  <a:srgbClr val="f1f5f9"/>
                </a:solidFill>
                <a:effectLst/>
                <a:uFillTx/>
                <a:latin typeface="Calibri"/>
                <a:ea typeface="Calibri"/>
              </a:rPr>
              <a:t>  Análise → identificar conflitos e lacunas</a:t>
            </a:r>
            <a:endParaRPr lang="pt-BR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400"/>
              </a:spcAft>
              <a:buClr>
                <a:srgbClr val="f1f5f9"/>
              </a:buClr>
              <a:buFont typeface="Symbol" charset="2"/>
              <a:buChar char=""/>
              <a:tabLst>
                <a:tab algn="l" pos="0"/>
              </a:tabLst>
            </a:pPr>
            <a:r>
              <a:rPr lang="en-US" sz="1300" b="0" u="none" strike="noStrike">
                <a:solidFill>
                  <a:srgbClr val="f1f5f9"/>
                </a:solidFill>
                <a:effectLst/>
                <a:uFillTx/>
                <a:latin typeface="Calibri"/>
                <a:ea typeface="Calibri"/>
              </a:rPr>
              <a:t>  Especificação → documentar formalmente</a:t>
            </a:r>
            <a:endParaRPr lang="pt-BR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400"/>
              </a:spcAft>
              <a:buClr>
                <a:srgbClr val="f1f5f9"/>
              </a:buClr>
              <a:buFont typeface="Symbol" charset="2"/>
              <a:buChar char=""/>
              <a:tabLst>
                <a:tab algn="l" pos="0"/>
              </a:tabLst>
            </a:pPr>
            <a:r>
              <a:rPr lang="en-US" sz="1300" b="0" u="none" strike="noStrike">
                <a:solidFill>
                  <a:srgbClr val="f1f5f9"/>
                </a:solidFill>
                <a:effectLst/>
                <a:uFillTx/>
                <a:latin typeface="Calibri"/>
                <a:ea typeface="Calibri"/>
              </a:rPr>
              <a:t>  Validação → confirmar com o cliente</a:t>
            </a:r>
            <a:endParaRPr lang="pt-BR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400"/>
              </a:spcAft>
              <a:buClr>
                <a:srgbClr val="f1f5f9"/>
              </a:buClr>
              <a:buFont typeface="Symbol" charset="2"/>
              <a:buChar char=""/>
              <a:tabLst>
                <a:tab algn="l" pos="0"/>
              </a:tabLst>
            </a:pPr>
            <a:r>
              <a:rPr lang="en-US" sz="1300" b="0" u="none" strike="noStrike">
                <a:solidFill>
                  <a:srgbClr val="f1f5f9"/>
                </a:solidFill>
                <a:effectLst/>
                <a:uFillTx/>
                <a:latin typeface="Calibri"/>
                <a:ea typeface="Calibri"/>
              </a:rPr>
              <a:t>  Gerenciamento → controlar mudanças</a:t>
            </a:r>
            <a:endParaRPr lang="pt-BR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f19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Shape 0"/>
          <p:cNvSpPr/>
          <p:nvPr/>
        </p:nvSpPr>
        <p:spPr>
          <a:xfrm>
            <a:off x="0" y="0"/>
            <a:ext cx="9143640" cy="72720"/>
          </a:xfrm>
          <a:prstGeom prst="rect">
            <a:avLst/>
          </a:prstGeom>
          <a:solidFill>
            <a:srgbClr val="0d948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28080" bIns="28080" anchor="t">
            <a:noAutofit/>
          </a:bodyPr>
          <a:p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6" name="Shape 1"/>
          <p:cNvSpPr/>
          <p:nvPr/>
        </p:nvSpPr>
        <p:spPr>
          <a:xfrm>
            <a:off x="0" y="73080"/>
            <a:ext cx="9143640" cy="685440"/>
          </a:xfrm>
          <a:prstGeom prst="rect">
            <a:avLst/>
          </a:prstGeom>
          <a:solidFill>
            <a:srgbClr val="152535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7" name="Text 2"/>
          <p:cNvSpPr/>
          <p:nvPr/>
        </p:nvSpPr>
        <p:spPr>
          <a:xfrm>
            <a:off x="320040" y="73080"/>
            <a:ext cx="850356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2000" b="1" u="none" strike="noStrike">
                <a:solidFill>
                  <a:srgbClr val="14b8a6"/>
                </a:solidFill>
                <a:effectLst/>
                <a:uFillTx/>
                <a:latin typeface="Trebuchet MS"/>
                <a:ea typeface="Trebuchet MS"/>
              </a:rPr>
              <a:t>Histórias de Usuário — Requisitos no XP</a:t>
            </a:r>
            <a:endParaRPr lang="pt-BR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8" name="Shape 3"/>
          <p:cNvSpPr/>
          <p:nvPr/>
        </p:nvSpPr>
        <p:spPr>
          <a:xfrm>
            <a:off x="365760" y="896040"/>
            <a:ext cx="8412120" cy="776880"/>
          </a:xfrm>
          <a:prstGeom prst="rect">
            <a:avLst/>
          </a:prstGeom>
          <a:solidFill>
            <a:srgbClr val="152535"/>
          </a:solidFill>
          <a:ln w="19050">
            <a:solidFill>
              <a:srgbClr val="0d948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9" name="Text 4"/>
          <p:cNvSpPr/>
          <p:nvPr/>
        </p:nvSpPr>
        <p:spPr>
          <a:xfrm>
            <a:off x="548640" y="914400"/>
            <a:ext cx="804636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400" b="1" u="none" strike="noStrike">
                <a:solidFill>
                  <a:srgbClr val="fcd34d"/>
                </a:solidFill>
                <a:effectLst/>
                <a:uFillTx/>
                <a:latin typeface="Calibri"/>
                <a:ea typeface="Calibri"/>
              </a:rPr>
              <a:t>Formato padrão: </a:t>
            </a:r>
            <a:r>
              <a:rPr lang="en-US" sz="1400" b="0" u="none" strike="noStrike">
                <a:solidFill>
                  <a:srgbClr val="f1f5f9"/>
                </a:solidFill>
                <a:effectLst/>
                <a:uFillTx/>
                <a:latin typeface="Calibri"/>
                <a:ea typeface="Calibri"/>
              </a:rPr>
              <a:t>"Como [tipo de usuário], eu quero [objetivo], para que [benefício]."</a:t>
            </a:r>
            <a:endParaRPr lang="pt-BR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0" name="Shape 5"/>
          <p:cNvSpPr/>
          <p:nvPr/>
        </p:nvSpPr>
        <p:spPr>
          <a:xfrm>
            <a:off x="365760" y="1828800"/>
            <a:ext cx="2697120" cy="3062880"/>
          </a:xfrm>
          <a:prstGeom prst="rect">
            <a:avLst/>
          </a:prstGeom>
          <a:solidFill>
            <a:srgbClr val="152535"/>
          </a:solidFill>
          <a:ln w="12700">
            <a:solidFill>
              <a:srgbClr val="0d9488"/>
            </a:solidFill>
            <a:round/>
          </a:ln>
          <a:effectLst>
            <a:outerShdw algn="bl" blurRad="101520" dir="8100000" dist="37674" kx="0" ky="0" rotWithShape="0" sx="100000" sy="100000">
              <a:srgbClr val="000000">
                <a:alpha val="2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1" name="Shape 6"/>
          <p:cNvSpPr/>
          <p:nvPr/>
        </p:nvSpPr>
        <p:spPr>
          <a:xfrm>
            <a:off x="365760" y="1828800"/>
            <a:ext cx="2697120" cy="365400"/>
          </a:xfrm>
          <a:prstGeom prst="rect">
            <a:avLst/>
          </a:prstGeom>
          <a:solidFill>
            <a:srgbClr val="0d948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2" name="Text 7"/>
          <p:cNvSpPr/>
          <p:nvPr/>
        </p:nvSpPr>
        <p:spPr>
          <a:xfrm>
            <a:off x="365760" y="1828800"/>
            <a:ext cx="269712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400" b="1" u="none" strike="noStrike">
                <a:solidFill>
                  <a:srgbClr val="f1f5f9"/>
                </a:solidFill>
                <a:effectLst/>
                <a:uFillTx/>
                <a:latin typeface="Trebuchet MS"/>
                <a:ea typeface="Trebuchet MS"/>
              </a:rPr>
              <a:t>H1</a:t>
            </a:r>
            <a:endParaRPr lang="pt-BR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3" name="Text 8"/>
          <p:cNvSpPr/>
          <p:nvPr/>
        </p:nvSpPr>
        <p:spPr>
          <a:xfrm>
            <a:off x="457200" y="2240280"/>
            <a:ext cx="2514240" cy="1828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r>
              <a:rPr lang="en-US" sz="1200" b="1" u="none" strike="noStrike">
                <a:solidFill>
                  <a:srgbClr val="14b8a6"/>
                </a:solidFill>
                <a:effectLst/>
                <a:uFillTx/>
                <a:latin typeface="Calibri"/>
                <a:ea typeface="Calibri"/>
              </a:rPr>
              <a:t>Como cliente,</a:t>
            </a:r>
            <a:endParaRPr lang="pt-BR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lang="pt-BR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200" b="0" u="none" strike="noStrike">
                <a:solidFill>
                  <a:srgbClr val="f1f5f9"/>
                </a:solidFill>
                <a:effectLst/>
                <a:uFillTx/>
                <a:latin typeface="Calibri"/>
                <a:ea typeface="Calibri"/>
              </a:rPr>
              <a:t>eu quero filtrar lojas por categoria,</a:t>
            </a:r>
            <a:endParaRPr lang="pt-BR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lang="pt-BR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200" b="0" u="none" strike="noStrike">
                <a:solidFill>
                  <a:srgbClr val="f1f5f9"/>
                </a:solidFill>
                <a:effectLst/>
                <a:uFillTx/>
                <a:latin typeface="Calibri"/>
                <a:ea typeface="Calibri"/>
              </a:rPr>
              <a:t>para que encontrar rapidamente o que preciso.</a:t>
            </a:r>
            <a:endParaRPr lang="pt-BR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4" name="Shape 9"/>
          <p:cNvSpPr/>
          <p:nvPr/>
        </p:nvSpPr>
        <p:spPr>
          <a:xfrm>
            <a:off x="365760" y="4316040"/>
            <a:ext cx="2697120" cy="484200"/>
          </a:xfrm>
          <a:prstGeom prst="rect">
            <a:avLst/>
          </a:prstGeom>
          <a:solidFill>
            <a:srgbClr val="0d1a2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5" name="Text 10"/>
          <p:cNvSpPr/>
          <p:nvPr/>
        </p:nvSpPr>
        <p:spPr>
          <a:xfrm>
            <a:off x="438840" y="4334400"/>
            <a:ext cx="2559960" cy="43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050" b="0" u="none" strike="noStrike">
                <a:solidFill>
                  <a:srgbClr val="94a3b8"/>
                </a:solidFill>
                <a:effectLst/>
                <a:uFillTx/>
                <a:latin typeface="Calibri"/>
                <a:ea typeface="Calibri"/>
              </a:rPr>
              <a:t>Prioridade: Alta   |   Custo: 2 sem</a:t>
            </a:r>
            <a:endParaRPr lang="pt-BR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6" name="Shape 11"/>
          <p:cNvSpPr/>
          <p:nvPr/>
        </p:nvSpPr>
        <p:spPr>
          <a:xfrm>
            <a:off x="3218760" y="1828800"/>
            <a:ext cx="2697120" cy="3062880"/>
          </a:xfrm>
          <a:prstGeom prst="rect">
            <a:avLst/>
          </a:prstGeom>
          <a:solidFill>
            <a:srgbClr val="152535"/>
          </a:solidFill>
          <a:ln w="12700">
            <a:solidFill>
              <a:srgbClr val="0d9488"/>
            </a:solidFill>
            <a:round/>
          </a:ln>
          <a:effectLst>
            <a:outerShdw algn="bl" blurRad="101520" dir="8100000" dist="37674" kx="0" ky="0" rotWithShape="0" sx="100000" sy="100000">
              <a:srgbClr val="000000">
                <a:alpha val="2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7" name="Shape 12"/>
          <p:cNvSpPr/>
          <p:nvPr/>
        </p:nvSpPr>
        <p:spPr>
          <a:xfrm>
            <a:off x="3218760" y="1828800"/>
            <a:ext cx="2697120" cy="365400"/>
          </a:xfrm>
          <a:prstGeom prst="rect">
            <a:avLst/>
          </a:prstGeom>
          <a:solidFill>
            <a:srgbClr val="0d948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8" name="Text 13"/>
          <p:cNvSpPr/>
          <p:nvPr/>
        </p:nvSpPr>
        <p:spPr>
          <a:xfrm>
            <a:off x="3218760" y="1828800"/>
            <a:ext cx="269712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400" b="1" u="none" strike="noStrike">
                <a:solidFill>
                  <a:srgbClr val="f1f5f9"/>
                </a:solidFill>
                <a:effectLst/>
                <a:uFillTx/>
                <a:latin typeface="Trebuchet MS"/>
                <a:ea typeface="Trebuchet MS"/>
              </a:rPr>
              <a:t>H2</a:t>
            </a:r>
            <a:endParaRPr lang="pt-BR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9" name="Text 14"/>
          <p:cNvSpPr/>
          <p:nvPr/>
        </p:nvSpPr>
        <p:spPr>
          <a:xfrm>
            <a:off x="3310200" y="2240280"/>
            <a:ext cx="2514240" cy="1828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r>
              <a:rPr lang="en-US" sz="1200" b="1" u="none" strike="noStrike">
                <a:solidFill>
                  <a:srgbClr val="14b8a6"/>
                </a:solidFill>
                <a:effectLst/>
                <a:uFillTx/>
                <a:latin typeface="Calibri"/>
                <a:ea typeface="Calibri"/>
              </a:rPr>
              <a:t>Como lojista,</a:t>
            </a:r>
            <a:endParaRPr lang="pt-BR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lang="pt-BR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200" b="0" u="none" strike="noStrike">
                <a:solidFill>
                  <a:srgbClr val="f1f5f9"/>
                </a:solidFill>
                <a:effectLst/>
                <a:uFillTx/>
                <a:latin typeface="Calibri"/>
                <a:ea typeface="Calibri"/>
              </a:rPr>
              <a:t>eu quero cadastrar meus produtos com foto,</a:t>
            </a:r>
            <a:endParaRPr lang="pt-BR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lang="pt-BR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200" b="0" u="none" strike="noStrike">
                <a:solidFill>
                  <a:srgbClr val="f1f5f9"/>
                </a:solidFill>
                <a:effectLst/>
                <a:uFillTx/>
                <a:latin typeface="Calibri"/>
                <a:ea typeface="Calibri"/>
              </a:rPr>
              <a:t>para que minha loja fique visível no catálogo.</a:t>
            </a:r>
            <a:endParaRPr lang="pt-BR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0" name="Shape 15"/>
          <p:cNvSpPr/>
          <p:nvPr/>
        </p:nvSpPr>
        <p:spPr>
          <a:xfrm>
            <a:off x="3218760" y="4316040"/>
            <a:ext cx="2697120" cy="484200"/>
          </a:xfrm>
          <a:prstGeom prst="rect">
            <a:avLst/>
          </a:prstGeom>
          <a:solidFill>
            <a:srgbClr val="0d1a2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1" name="Text 16"/>
          <p:cNvSpPr/>
          <p:nvPr/>
        </p:nvSpPr>
        <p:spPr>
          <a:xfrm>
            <a:off x="3291840" y="4334400"/>
            <a:ext cx="2559960" cy="43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050" b="0" u="none" strike="noStrike">
                <a:solidFill>
                  <a:srgbClr val="94a3b8"/>
                </a:solidFill>
                <a:effectLst/>
                <a:uFillTx/>
                <a:latin typeface="Calibri"/>
                <a:ea typeface="Calibri"/>
              </a:rPr>
              <a:t>Prioridade: Alta   |   Custo: 3 sem</a:t>
            </a:r>
            <a:endParaRPr lang="pt-BR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2" name="Shape 17"/>
          <p:cNvSpPr/>
          <p:nvPr/>
        </p:nvSpPr>
        <p:spPr>
          <a:xfrm>
            <a:off x="6071760" y="1828800"/>
            <a:ext cx="2697120" cy="3062880"/>
          </a:xfrm>
          <a:prstGeom prst="rect">
            <a:avLst/>
          </a:prstGeom>
          <a:solidFill>
            <a:srgbClr val="152535"/>
          </a:solidFill>
          <a:ln w="12700">
            <a:solidFill>
              <a:srgbClr val="0d9488"/>
            </a:solidFill>
            <a:round/>
          </a:ln>
          <a:effectLst>
            <a:outerShdw algn="bl" blurRad="101520" dir="8100000" dist="37674" kx="0" ky="0" rotWithShape="0" sx="100000" sy="100000">
              <a:srgbClr val="000000">
                <a:alpha val="2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3" name="Shape 18"/>
          <p:cNvSpPr/>
          <p:nvPr/>
        </p:nvSpPr>
        <p:spPr>
          <a:xfrm>
            <a:off x="6071760" y="1828800"/>
            <a:ext cx="2697120" cy="365400"/>
          </a:xfrm>
          <a:prstGeom prst="rect">
            <a:avLst/>
          </a:prstGeom>
          <a:solidFill>
            <a:srgbClr val="0d948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4" name="Text 19"/>
          <p:cNvSpPr/>
          <p:nvPr/>
        </p:nvSpPr>
        <p:spPr>
          <a:xfrm>
            <a:off x="6071760" y="1828800"/>
            <a:ext cx="269712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400" b="1" u="none" strike="noStrike">
                <a:solidFill>
                  <a:srgbClr val="f1f5f9"/>
                </a:solidFill>
                <a:effectLst/>
                <a:uFillTx/>
                <a:latin typeface="Trebuchet MS"/>
                <a:ea typeface="Trebuchet MS"/>
              </a:rPr>
              <a:t>H3</a:t>
            </a:r>
            <a:endParaRPr lang="pt-BR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5" name="Text 20"/>
          <p:cNvSpPr/>
          <p:nvPr/>
        </p:nvSpPr>
        <p:spPr>
          <a:xfrm>
            <a:off x="6163200" y="2240280"/>
            <a:ext cx="2514240" cy="1828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r>
              <a:rPr lang="en-US" sz="1200" b="1" u="none" strike="noStrike">
                <a:solidFill>
                  <a:srgbClr val="14b8a6"/>
                </a:solidFill>
                <a:effectLst/>
                <a:uFillTx/>
                <a:latin typeface="Calibri"/>
                <a:ea typeface="Calibri"/>
              </a:rPr>
              <a:t>Como visitante,</a:t>
            </a:r>
            <a:endParaRPr lang="pt-BR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lang="pt-BR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200" b="0" u="none" strike="noStrike">
                <a:solidFill>
                  <a:srgbClr val="f1f5f9"/>
                </a:solidFill>
                <a:effectLst/>
                <a:uFillTx/>
                <a:latin typeface="Calibri"/>
                <a:ea typeface="Calibri"/>
              </a:rPr>
              <a:t>eu quero ver o horário de funcionamento,</a:t>
            </a:r>
            <a:endParaRPr lang="pt-BR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lang="pt-BR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200" b="0" u="none" strike="noStrike">
                <a:solidFill>
                  <a:srgbClr val="f1f5f9"/>
                </a:solidFill>
                <a:effectLst/>
                <a:uFillTx/>
                <a:latin typeface="Calibri"/>
                <a:ea typeface="Calibri"/>
              </a:rPr>
              <a:t>para que saber se a loja está aberta antes de ir.</a:t>
            </a:r>
            <a:endParaRPr lang="pt-BR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6" name="Shape 21"/>
          <p:cNvSpPr/>
          <p:nvPr/>
        </p:nvSpPr>
        <p:spPr>
          <a:xfrm>
            <a:off x="6071760" y="4316040"/>
            <a:ext cx="2697120" cy="484200"/>
          </a:xfrm>
          <a:prstGeom prst="rect">
            <a:avLst/>
          </a:prstGeom>
          <a:solidFill>
            <a:srgbClr val="0d1a2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7" name="Text 22"/>
          <p:cNvSpPr/>
          <p:nvPr/>
        </p:nvSpPr>
        <p:spPr>
          <a:xfrm>
            <a:off x="6144840" y="4334400"/>
            <a:ext cx="2559960" cy="43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050" b="0" u="none" strike="noStrike">
                <a:solidFill>
                  <a:srgbClr val="94a3b8"/>
                </a:solidFill>
                <a:effectLst/>
                <a:uFillTx/>
                <a:latin typeface="Calibri"/>
                <a:ea typeface="Calibri"/>
              </a:rPr>
              <a:t>Prioridade: Média   |   Custo: 1 sem</a:t>
            </a:r>
            <a:endParaRPr lang="pt-BR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f19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Shape 0"/>
          <p:cNvSpPr/>
          <p:nvPr/>
        </p:nvSpPr>
        <p:spPr>
          <a:xfrm>
            <a:off x="0" y="0"/>
            <a:ext cx="9143640" cy="72720"/>
          </a:xfrm>
          <a:prstGeom prst="rect">
            <a:avLst/>
          </a:prstGeom>
          <a:solidFill>
            <a:srgbClr val="0d948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28080" bIns="28080" anchor="t">
            <a:noAutofit/>
          </a:bodyPr>
          <a:p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9" name="Shape 1"/>
          <p:cNvSpPr/>
          <p:nvPr/>
        </p:nvSpPr>
        <p:spPr>
          <a:xfrm>
            <a:off x="0" y="73080"/>
            <a:ext cx="9143640" cy="685440"/>
          </a:xfrm>
          <a:prstGeom prst="rect">
            <a:avLst/>
          </a:prstGeom>
          <a:solidFill>
            <a:srgbClr val="152535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0" name="Text 2"/>
          <p:cNvSpPr/>
          <p:nvPr/>
        </p:nvSpPr>
        <p:spPr>
          <a:xfrm>
            <a:off x="320040" y="73080"/>
            <a:ext cx="850356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2000" b="1" u="none" strike="noStrike">
                <a:solidFill>
                  <a:srgbClr val="14b8a6"/>
                </a:solidFill>
                <a:effectLst/>
                <a:uFillTx/>
                <a:latin typeface="Trebuchet MS"/>
                <a:ea typeface="Trebuchet MS"/>
              </a:rPr>
              <a:t>Requisitos Formais vs. Histórias de Usuário</a:t>
            </a:r>
            <a:endParaRPr lang="pt-BR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1" name="Text 3"/>
          <p:cNvSpPr/>
          <p:nvPr/>
        </p:nvSpPr>
        <p:spPr>
          <a:xfrm>
            <a:off x="365760" y="914400"/>
            <a:ext cx="8412120" cy="3931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  <a:spcBef>
                <a:spcPts val="799"/>
              </a:spcBef>
              <a:spcAft>
                <a:spcPts val="400"/>
              </a:spcAft>
              <a:tabLst>
                <a:tab algn="l" pos="0"/>
              </a:tabLst>
            </a:pPr>
            <a:r>
              <a:rPr lang="en-US" sz="1400" b="1" u="none" strike="noStrike">
                <a:solidFill>
                  <a:srgbClr val="fcd34d"/>
                </a:solidFill>
                <a:effectLst/>
                <a:uFillTx/>
                <a:latin typeface="Calibri"/>
                <a:ea typeface="Calibri"/>
              </a:rPr>
              <a:t>Requisito Formal (Engenharia de Requisitos tradicional):</a:t>
            </a:r>
            <a:endParaRPr lang="pt-BR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685800" lvl="1" indent="-343080" defTabSz="914400">
              <a:lnSpc>
                <a:spcPct val="100000"/>
              </a:lnSpc>
              <a:spcAft>
                <a:spcPts val="400"/>
              </a:spcAft>
              <a:buClr>
                <a:srgbClr val="94a3b8"/>
              </a:buClr>
              <a:buFont typeface="Wingdings 3" charset="2"/>
              <a:buChar char=""/>
              <a:tabLst>
                <a:tab algn="l" pos="0"/>
              </a:tabLst>
            </a:pPr>
            <a:r>
              <a:rPr lang="en-US" sz="1300" b="0" u="none" strike="noStrike">
                <a:solidFill>
                  <a:srgbClr val="94a3b8"/>
                </a:solidFill>
                <a:effectLst/>
                <a:uFillTx/>
                <a:latin typeface="Calibri"/>
                <a:ea typeface="Calibri"/>
              </a:rPr>
              <a:t>RF-03: O sistema deve permitir que usuários autenticados filtrem</a:t>
            </a:r>
            <a:endParaRPr lang="pt-BR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685800" lvl="1" indent="-343080" defTabSz="914400">
              <a:lnSpc>
                <a:spcPct val="100000"/>
              </a:lnSpc>
              <a:spcAft>
                <a:spcPts val="400"/>
              </a:spcAft>
              <a:buClr>
                <a:srgbClr val="94a3b8"/>
              </a:buClr>
              <a:buFont typeface="Wingdings 3" charset="2"/>
              <a:buChar char=""/>
              <a:tabLst>
                <a:tab algn="l" pos="0"/>
              </a:tabLst>
            </a:pPr>
            <a:r>
              <a:rPr lang="en-US" sz="1300" b="0" u="none" strike="noStrike">
                <a:solidFill>
                  <a:srgbClr val="94a3b8"/>
                </a:solidFill>
                <a:effectLst/>
                <a:uFillTx/>
                <a:latin typeface="Calibri"/>
                <a:ea typeface="Calibri"/>
              </a:rPr>
              <a:t>estabelecimentos por categoria, subcategoria e localização,</a:t>
            </a:r>
            <a:endParaRPr lang="pt-BR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685800" lvl="1" indent="-343080" defTabSz="914400">
              <a:lnSpc>
                <a:spcPct val="100000"/>
              </a:lnSpc>
              <a:spcAft>
                <a:spcPts val="400"/>
              </a:spcAft>
              <a:buClr>
                <a:srgbClr val="94a3b8"/>
              </a:buClr>
              <a:buFont typeface="Wingdings 3" charset="2"/>
              <a:buChar char=""/>
              <a:tabLst>
                <a:tab algn="l" pos="0"/>
              </a:tabLst>
            </a:pPr>
            <a:r>
              <a:rPr lang="en-US" sz="1300" b="0" u="none" strike="noStrike">
                <a:solidFill>
                  <a:srgbClr val="94a3b8"/>
                </a:solidFill>
                <a:effectLst/>
                <a:uFillTx/>
                <a:latin typeface="Calibri"/>
                <a:ea typeface="Calibri"/>
              </a:rPr>
              <a:t>retornando resultados em até 2 segundos.</a:t>
            </a:r>
            <a:endParaRPr lang="pt-BR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spcBef>
                <a:spcPts val="799"/>
              </a:spcBef>
              <a:spcAft>
                <a:spcPts val="400"/>
              </a:spcAft>
              <a:tabLst>
                <a:tab algn="l" pos="0"/>
              </a:tabLst>
            </a:pPr>
            <a:r>
              <a:rPr lang="en-US" sz="1400" b="1" u="none" strike="noStrike">
                <a:solidFill>
                  <a:srgbClr val="fcd34d"/>
                </a:solidFill>
                <a:effectLst/>
                <a:uFillTx/>
                <a:latin typeface="Calibri"/>
                <a:ea typeface="Calibri"/>
              </a:rPr>
              <a:t>História de Usuário (XP / Ágil):</a:t>
            </a:r>
            <a:endParaRPr lang="pt-BR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685800" lvl="1" indent="-343080" defTabSz="914400">
              <a:lnSpc>
                <a:spcPct val="100000"/>
              </a:lnSpc>
              <a:spcAft>
                <a:spcPts val="400"/>
              </a:spcAft>
              <a:buClr>
                <a:srgbClr val="94a3b8"/>
              </a:buClr>
              <a:buFont typeface="Wingdings 3" charset="2"/>
              <a:buChar char=""/>
              <a:tabLst>
                <a:tab algn="l" pos="0"/>
              </a:tabLst>
            </a:pPr>
            <a:r>
              <a:rPr lang="en-US" sz="1300" b="0" u="none" strike="noStrike">
                <a:solidFill>
                  <a:srgbClr val="94a3b8"/>
                </a:solidFill>
                <a:effectLst/>
                <a:uFillTx/>
                <a:latin typeface="Calibri"/>
                <a:ea typeface="Calibri"/>
              </a:rPr>
              <a:t>"Como cliente, eu quero filtrar lojas por categoria,</a:t>
            </a:r>
            <a:endParaRPr lang="pt-BR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685800" lvl="1" indent="-343080" defTabSz="914400">
              <a:lnSpc>
                <a:spcPct val="100000"/>
              </a:lnSpc>
              <a:spcAft>
                <a:spcPts val="400"/>
              </a:spcAft>
              <a:buClr>
                <a:srgbClr val="94a3b8"/>
              </a:buClr>
              <a:buFont typeface="Wingdings 3" charset="2"/>
              <a:buChar char=""/>
              <a:tabLst>
                <a:tab algn="l" pos="0"/>
              </a:tabLst>
            </a:pPr>
            <a:r>
              <a:rPr lang="en-US" sz="1300" b="0" u="none" strike="noStrike">
                <a:solidFill>
                  <a:srgbClr val="94a3b8"/>
                </a:solidFill>
                <a:effectLst/>
                <a:uFillTx/>
                <a:latin typeface="Calibri"/>
                <a:ea typeface="Calibri"/>
              </a:rPr>
              <a:t>para encontrar rapidamente o que preciso."</a:t>
            </a:r>
            <a:endParaRPr lang="pt-BR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spcBef>
                <a:spcPts val="799"/>
              </a:spcBef>
              <a:spcAft>
                <a:spcPts val="400"/>
              </a:spcAft>
              <a:tabLst>
                <a:tab algn="l" pos="0"/>
              </a:tabLst>
            </a:pPr>
            <a:r>
              <a:rPr lang="en-US" sz="1400" b="1" u="none" strike="noStrike">
                <a:solidFill>
                  <a:srgbClr val="fcd34d"/>
                </a:solidFill>
                <a:effectLst/>
                <a:uFillTx/>
                <a:latin typeface="Calibri"/>
                <a:ea typeface="Calibri"/>
              </a:rPr>
              <a:t>Diferenças principais:</a:t>
            </a:r>
            <a:endParaRPr lang="pt-BR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685800" lvl="1" indent="-343080" defTabSz="914400">
              <a:lnSpc>
                <a:spcPct val="100000"/>
              </a:lnSpc>
              <a:spcAft>
                <a:spcPts val="400"/>
              </a:spcAft>
              <a:buClr>
                <a:srgbClr val="94a3b8"/>
              </a:buClr>
              <a:buFont typeface="Wingdings 3" charset="2"/>
              <a:buChar char=""/>
              <a:tabLst>
                <a:tab algn="l" pos="0"/>
              </a:tabLst>
            </a:pPr>
            <a:r>
              <a:rPr lang="en-US" sz="1300" b="0" u="none" strike="noStrike">
                <a:solidFill>
                  <a:srgbClr val="94a3b8"/>
                </a:solidFill>
                <a:effectLst/>
                <a:uFillTx/>
                <a:latin typeface="Calibri"/>
                <a:ea typeface="Calibri"/>
              </a:rPr>
              <a:t>Requisito formal → completo, preciso, técnico</a:t>
            </a:r>
            <a:endParaRPr lang="pt-BR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685800" lvl="1" indent="-343080" defTabSz="914400">
              <a:lnSpc>
                <a:spcPct val="100000"/>
              </a:lnSpc>
              <a:spcAft>
                <a:spcPts val="400"/>
              </a:spcAft>
              <a:buClr>
                <a:srgbClr val="94a3b8"/>
              </a:buClr>
              <a:buFont typeface="Wingdings 3" charset="2"/>
              <a:buChar char=""/>
              <a:tabLst>
                <a:tab algn="l" pos="0"/>
              </a:tabLst>
            </a:pPr>
            <a:r>
              <a:rPr lang="en-US" sz="1300" b="0" u="none" strike="noStrike">
                <a:solidFill>
                  <a:srgbClr val="94a3b8"/>
                </a:solidFill>
                <a:effectLst/>
                <a:uFillTx/>
                <a:latin typeface="Calibri"/>
                <a:ea typeface="Calibri"/>
              </a:rPr>
              <a:t>História de usuário → foco no valor, simples, conversacional</a:t>
            </a:r>
            <a:endParaRPr lang="pt-BR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400"/>
              </a:spcAft>
              <a:buClr>
                <a:srgbClr val="f1f5f9"/>
              </a:buClr>
              <a:buFont typeface="Symbol" charset="2"/>
              <a:buChar char=""/>
              <a:tabLst>
                <a:tab algn="l" pos="0"/>
              </a:tabLst>
            </a:pPr>
            <a:r>
              <a:rPr lang="en-US" sz="1400" b="0" u="none" strike="noStrike">
                <a:solidFill>
                  <a:srgbClr val="f1f5f9"/>
                </a:solidFill>
                <a:effectLst/>
                <a:uFillTx/>
                <a:latin typeface="Calibri"/>
                <a:ea typeface="Calibri"/>
              </a:rPr>
              <a:t>No XP, os requisitos vivem nas histórias — mas a Eng. de Requisitos</a:t>
            </a:r>
            <a:endParaRPr lang="pt-BR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685800" lvl="1" indent="-343080" defTabSz="914400">
              <a:lnSpc>
                <a:spcPct val="100000"/>
              </a:lnSpc>
              <a:spcAft>
                <a:spcPts val="400"/>
              </a:spcAft>
              <a:buClr>
                <a:srgbClr val="94a3b8"/>
              </a:buClr>
              <a:buFont typeface="Wingdings 3" charset="2"/>
              <a:buChar char=""/>
              <a:tabLst>
                <a:tab algn="l" pos="0"/>
              </a:tabLst>
            </a:pPr>
            <a:r>
              <a:rPr lang="en-US" sz="1300" b="0" u="none" strike="noStrike">
                <a:solidFill>
                  <a:srgbClr val="94a3b8"/>
                </a:solidFill>
                <a:effectLst/>
                <a:uFillTx/>
                <a:latin typeface="Calibri"/>
                <a:ea typeface="Calibri"/>
              </a:rPr>
              <a:t>ajuda a torná-las mais completas e sem ambiguidades</a:t>
            </a:r>
            <a:endParaRPr lang="pt-BR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2" name="Shape 4"/>
          <p:cNvSpPr/>
          <p:nvPr/>
        </p:nvSpPr>
        <p:spPr>
          <a:xfrm>
            <a:off x="365760" y="4160520"/>
            <a:ext cx="8412120" cy="776880"/>
          </a:xfrm>
          <a:prstGeom prst="rect">
            <a:avLst/>
          </a:prstGeom>
          <a:solidFill>
            <a:srgbClr val="1c2d1f"/>
          </a:solidFill>
          <a:ln w="19050">
            <a:solidFill>
              <a:srgbClr val="f97316"/>
            </a:solidFill>
            <a:round/>
          </a:ln>
          <a:effectLst>
            <a:outerShdw algn="bl" blurRad="101520" dir="8100000" dist="37674" kx="0" ky="0" rotWithShape="0" sx="100000" sy="100000">
              <a:srgbClr val="000000">
                <a:alpha val="2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3" name="Text 5"/>
          <p:cNvSpPr/>
          <p:nvPr/>
        </p:nvSpPr>
        <p:spPr>
          <a:xfrm>
            <a:off x="502920" y="4187880"/>
            <a:ext cx="8137800" cy="712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250" b="1" u="none" strike="noStrike">
                <a:solidFill>
                  <a:srgbClr val="f97316"/>
                </a:solidFill>
                <a:effectLst/>
                <a:uFillTx/>
                <a:latin typeface="Calibri"/>
                <a:ea typeface="Calibri"/>
              </a:rPr>
              <a:t>💬 Discussão: </a:t>
            </a:r>
            <a:r>
              <a:rPr lang="en-US" sz="1250" b="0" u="none" strike="noStrike">
                <a:solidFill>
                  <a:srgbClr val="f1f5f9"/>
                </a:solidFill>
                <a:effectLst/>
                <a:uFillTx/>
                <a:latin typeface="Calibri"/>
                <a:ea typeface="Calibri"/>
              </a:rPr>
              <a:t>Uma história de usuário pode ter requisitos não-funcionais? Como você expressaria "deve ser rápido" de forma mensurável?</a:t>
            </a:r>
            <a:endParaRPr lang="pt-BR" sz="12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f19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Shape 0"/>
          <p:cNvSpPr/>
          <p:nvPr/>
        </p:nvSpPr>
        <p:spPr>
          <a:xfrm>
            <a:off x="0" y="0"/>
            <a:ext cx="9143640" cy="5143320"/>
          </a:xfrm>
          <a:prstGeom prst="rect">
            <a:avLst/>
          </a:prstGeom>
          <a:solidFill>
            <a:srgbClr val="152535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5" name="Shape 1"/>
          <p:cNvSpPr/>
          <p:nvPr/>
        </p:nvSpPr>
        <p:spPr>
          <a:xfrm>
            <a:off x="0" y="0"/>
            <a:ext cx="9143640" cy="109440"/>
          </a:xfrm>
          <a:prstGeom prst="rect">
            <a:avLst/>
          </a:prstGeom>
          <a:solidFill>
            <a:srgbClr val="fcd34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6" name="Shape 2"/>
          <p:cNvSpPr/>
          <p:nvPr/>
        </p:nvSpPr>
        <p:spPr>
          <a:xfrm>
            <a:off x="0" y="5029200"/>
            <a:ext cx="9143640" cy="109440"/>
          </a:xfrm>
          <a:prstGeom prst="rect">
            <a:avLst/>
          </a:prstGeom>
          <a:solidFill>
            <a:srgbClr val="fcd34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7" name="Text 3"/>
          <p:cNvSpPr/>
          <p:nvPr/>
        </p:nvSpPr>
        <p:spPr>
          <a:xfrm>
            <a:off x="457200" y="1645920"/>
            <a:ext cx="8229240" cy="1828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4000" b="1" u="none" strike="noStrike">
                <a:solidFill>
                  <a:srgbClr val="f1f5f9"/>
                </a:solidFill>
                <a:effectLst/>
                <a:uFillTx/>
                <a:latin typeface="Trebuchet MS"/>
                <a:ea typeface="Trebuchet MS"/>
              </a:rPr>
              <a:t>08  Projeto Prático</a:t>
            </a:r>
            <a:endParaRPr lang="pt-BR" sz="4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f19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Shape 0"/>
          <p:cNvSpPr/>
          <p:nvPr/>
        </p:nvSpPr>
        <p:spPr>
          <a:xfrm>
            <a:off x="0" y="0"/>
            <a:ext cx="9143640" cy="72720"/>
          </a:xfrm>
          <a:prstGeom prst="rect">
            <a:avLst/>
          </a:prstGeom>
          <a:solidFill>
            <a:srgbClr val="fcd34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28080" bIns="28080" anchor="t">
            <a:noAutofit/>
          </a:bodyPr>
          <a:p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9" name="Shape 1"/>
          <p:cNvSpPr/>
          <p:nvPr/>
        </p:nvSpPr>
        <p:spPr>
          <a:xfrm>
            <a:off x="0" y="73080"/>
            <a:ext cx="9143640" cy="685440"/>
          </a:xfrm>
          <a:prstGeom prst="rect">
            <a:avLst/>
          </a:prstGeom>
          <a:solidFill>
            <a:srgbClr val="152535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0" name="Text 2"/>
          <p:cNvSpPr/>
          <p:nvPr/>
        </p:nvSpPr>
        <p:spPr>
          <a:xfrm>
            <a:off x="320040" y="73080"/>
            <a:ext cx="850356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2000" b="1" u="none" strike="noStrike">
                <a:solidFill>
                  <a:srgbClr val="fcd34d"/>
                </a:solidFill>
                <a:effectLst/>
                <a:uFillTx/>
                <a:latin typeface="Trebuchet MS"/>
                <a:ea typeface="Trebuchet MS"/>
              </a:rPr>
              <a:t>Template — Cartão de História de Usuário</a:t>
            </a:r>
            <a:endParaRPr lang="pt-BR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1" name="Shape 3"/>
          <p:cNvSpPr/>
          <p:nvPr/>
        </p:nvSpPr>
        <p:spPr>
          <a:xfrm>
            <a:off x="457200" y="914400"/>
            <a:ext cx="5028840" cy="3931560"/>
          </a:xfrm>
          <a:prstGeom prst="rect">
            <a:avLst/>
          </a:prstGeom>
          <a:solidFill>
            <a:srgbClr val="fffde7"/>
          </a:solidFill>
          <a:ln w="19050">
            <a:solidFill>
              <a:srgbClr val="ccc084"/>
            </a:solidFill>
            <a:round/>
          </a:ln>
          <a:effectLst>
            <a:outerShdw algn="bl" blurRad="101520" dir="8100000" dist="37674" kx="0" ky="0" rotWithShape="0" sx="100000" sy="100000">
              <a:srgbClr val="000000">
                <a:alpha val="2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2" name="Shape 4"/>
          <p:cNvSpPr/>
          <p:nvPr/>
        </p:nvSpPr>
        <p:spPr>
          <a:xfrm>
            <a:off x="457200" y="914400"/>
            <a:ext cx="5028840" cy="502560"/>
          </a:xfrm>
          <a:prstGeom prst="rect">
            <a:avLst/>
          </a:prstGeom>
          <a:solidFill>
            <a:srgbClr val="0d948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3" name="Text 5"/>
          <p:cNvSpPr/>
          <p:nvPr/>
        </p:nvSpPr>
        <p:spPr>
          <a:xfrm>
            <a:off x="548640" y="914400"/>
            <a:ext cx="484596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400" b="1" u="none" strike="noStrike">
                <a:solidFill>
                  <a:srgbClr val="f1f5f9"/>
                </a:solidFill>
                <a:effectLst/>
                <a:uFillTx/>
                <a:latin typeface="Trebuchet MS"/>
                <a:ea typeface="Trebuchet MS"/>
              </a:rPr>
              <a:t>História de Usuário  #___</a:t>
            </a:r>
            <a:endParaRPr lang="pt-BR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4" name="Text 6"/>
          <p:cNvSpPr/>
          <p:nvPr/>
        </p:nvSpPr>
        <p:spPr>
          <a:xfrm>
            <a:off x="594360" y="1508760"/>
            <a:ext cx="4754520" cy="3245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150" b="0" u="none" strike="noStrike">
                <a:solidFill>
                  <a:srgbClr val="444400"/>
                </a:solidFill>
                <a:effectLst/>
                <a:uFillTx/>
                <a:latin typeface="Calibri"/>
                <a:ea typeface="Calibri"/>
              </a:rPr>
              <a:t>Como ________________________________,</a:t>
            </a:r>
            <a:endParaRPr lang="pt-BR" sz="11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lang="pt-BR" sz="11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150" b="0" u="none" strike="noStrike">
                <a:solidFill>
                  <a:srgbClr val="444400"/>
                </a:solidFill>
                <a:effectLst/>
                <a:uFillTx/>
                <a:latin typeface="Calibri"/>
                <a:ea typeface="Calibri"/>
              </a:rPr>
              <a:t>eu quero ____________________________</a:t>
            </a:r>
            <a:endParaRPr lang="pt-BR" sz="11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150" b="0" u="none" strike="noStrike">
                <a:solidFill>
                  <a:srgbClr val="444400"/>
                </a:solidFill>
                <a:effectLst/>
                <a:uFillTx/>
                <a:latin typeface="Calibri"/>
                <a:ea typeface="Calibri"/>
              </a:rPr>
              <a:t>____________________________________,</a:t>
            </a:r>
            <a:endParaRPr lang="pt-BR" sz="11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lang="pt-BR" sz="11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150" b="0" u="none" strike="noStrike">
                <a:solidFill>
                  <a:srgbClr val="444400"/>
                </a:solidFill>
                <a:effectLst/>
                <a:uFillTx/>
                <a:latin typeface="Calibri"/>
                <a:ea typeface="Calibri"/>
              </a:rPr>
              <a:t>para que ____________________________</a:t>
            </a:r>
            <a:endParaRPr lang="pt-BR" sz="11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150" b="0" u="none" strike="noStrike">
                <a:solidFill>
                  <a:srgbClr val="444400"/>
                </a:solidFill>
                <a:effectLst/>
                <a:uFillTx/>
                <a:latin typeface="Calibri"/>
                <a:ea typeface="Calibri"/>
              </a:rPr>
              <a:t>____________________________________.</a:t>
            </a:r>
            <a:endParaRPr lang="pt-BR" sz="11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lang="pt-BR" sz="11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150" b="0" u="none" strike="noStrike">
                <a:solidFill>
                  <a:srgbClr val="444400"/>
                </a:solidFill>
                <a:effectLst/>
                <a:uFillTx/>
                <a:latin typeface="Calibri"/>
                <a:ea typeface="Calibri"/>
              </a:rPr>
              <a:t>──────────────────────────────</a:t>
            </a:r>
            <a:endParaRPr lang="pt-BR" sz="11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150" b="0" u="none" strike="noStrike">
                <a:solidFill>
                  <a:srgbClr val="444400"/>
                </a:solidFill>
                <a:effectLst/>
                <a:uFillTx/>
                <a:latin typeface="Calibri"/>
                <a:ea typeface="Calibri"/>
              </a:rPr>
              <a:t>Prioridade:  [  ] Alta  [  ] Média  [  ] Baixa</a:t>
            </a:r>
            <a:endParaRPr lang="pt-BR" sz="11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150" b="0" u="none" strike="noStrike">
                <a:solidFill>
                  <a:srgbClr val="444400"/>
                </a:solidFill>
                <a:effectLst/>
                <a:uFillTx/>
                <a:latin typeface="Calibri"/>
                <a:ea typeface="Calibri"/>
              </a:rPr>
              <a:t>Custo: _____ semanas</a:t>
            </a:r>
            <a:endParaRPr lang="pt-BR" sz="11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lang="pt-BR" sz="11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150" b="0" u="none" strike="noStrike">
                <a:solidFill>
                  <a:srgbClr val="444400"/>
                </a:solidFill>
                <a:effectLst/>
                <a:uFillTx/>
                <a:latin typeface="Calibri"/>
                <a:ea typeface="Calibri"/>
              </a:rPr>
              <a:t>Critérios de Aceitação:</a:t>
            </a:r>
            <a:endParaRPr lang="pt-BR" sz="11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150" b="0" u="none" strike="noStrike">
                <a:solidFill>
                  <a:srgbClr val="444400"/>
                </a:solidFill>
                <a:effectLst/>
                <a:uFillTx/>
                <a:latin typeface="Calibri"/>
                <a:ea typeface="Calibri"/>
              </a:rPr>
              <a:t>1. _________________________________</a:t>
            </a:r>
            <a:endParaRPr lang="pt-BR" sz="11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150" b="0" u="none" strike="noStrike">
                <a:solidFill>
                  <a:srgbClr val="444400"/>
                </a:solidFill>
                <a:effectLst/>
                <a:uFillTx/>
                <a:latin typeface="Calibri"/>
                <a:ea typeface="Calibri"/>
              </a:rPr>
              <a:t>2. _________________________________</a:t>
            </a:r>
            <a:endParaRPr lang="pt-BR" sz="11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5" name="Text 7"/>
          <p:cNvSpPr/>
          <p:nvPr/>
        </p:nvSpPr>
        <p:spPr>
          <a:xfrm>
            <a:off x="5760720" y="960120"/>
            <a:ext cx="3108600" cy="3931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r>
              <a:rPr lang="en-US" sz="1400" b="1" u="none" strike="noStrike">
                <a:solidFill>
                  <a:srgbClr val="14b8a6"/>
                </a:solidFill>
                <a:effectLst/>
                <a:uFillTx/>
                <a:latin typeface="Calibri"/>
                <a:ea typeface="Calibri"/>
              </a:rPr>
              <a:t>Dicas:</a:t>
            </a:r>
            <a:endParaRPr lang="pt-BR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endParaRPr lang="pt-BR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lang="pt-BR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300" b="1" u="none" strike="noStrike">
                <a:solidFill>
                  <a:srgbClr val="0d9488"/>
                </a:solidFill>
                <a:effectLst/>
                <a:uFillTx/>
                <a:latin typeface="Calibri"/>
                <a:ea typeface="Calibri"/>
              </a:rPr>
              <a:t>• </a:t>
            </a:r>
            <a:r>
              <a:rPr lang="en-US" sz="1300" b="0" u="none" strike="noStrike">
                <a:solidFill>
                  <a:srgbClr val="f1f5f9"/>
                </a:solidFill>
                <a:effectLst/>
                <a:uFillTx/>
                <a:latin typeface="Calibri"/>
                <a:ea typeface="Calibri"/>
              </a:rPr>
              <a:t>Tipo de usuário</a:t>
            </a:r>
            <a:endParaRPr lang="pt-BR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lang="pt-BR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200" b="0" u="none" strike="noStrike">
                <a:solidFill>
                  <a:srgbClr val="94a3b8"/>
                </a:solidFill>
                <a:effectLst/>
                <a:uFillTx/>
                <a:latin typeface="Calibri"/>
                <a:ea typeface="Calibri"/>
              </a:rPr>
              <a:t>  ex: cliente, lojista, administrador</a:t>
            </a:r>
            <a:endParaRPr lang="pt-BR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lang="pt-BR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lang="pt-BR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300" b="1" u="none" strike="noStrike">
                <a:solidFill>
                  <a:srgbClr val="0d9488"/>
                </a:solidFill>
                <a:effectLst/>
                <a:uFillTx/>
                <a:latin typeface="Calibri"/>
                <a:ea typeface="Calibri"/>
              </a:rPr>
              <a:t>• </a:t>
            </a:r>
            <a:r>
              <a:rPr lang="en-US" sz="1300" b="0" u="none" strike="noStrike">
                <a:solidFill>
                  <a:srgbClr val="f1f5f9"/>
                </a:solidFill>
                <a:effectLst/>
                <a:uFillTx/>
                <a:latin typeface="Calibri"/>
                <a:ea typeface="Calibri"/>
              </a:rPr>
              <a:t>Objetivo claro e específico</a:t>
            </a:r>
            <a:endParaRPr lang="pt-BR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lang="pt-BR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200" b="0" u="none" strike="noStrike">
                <a:solidFill>
                  <a:srgbClr val="94a3b8"/>
                </a:solidFill>
                <a:effectLst/>
                <a:uFillTx/>
                <a:latin typeface="Calibri"/>
                <a:ea typeface="Calibri"/>
              </a:rPr>
              <a:t>  evite "eu quero usar o sistema"</a:t>
            </a:r>
            <a:endParaRPr lang="pt-BR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lang="pt-BR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lang="pt-BR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300" b="1" u="none" strike="noStrike">
                <a:solidFill>
                  <a:srgbClr val="0d9488"/>
                </a:solidFill>
                <a:effectLst/>
                <a:uFillTx/>
                <a:latin typeface="Calibri"/>
                <a:ea typeface="Calibri"/>
              </a:rPr>
              <a:t>• </a:t>
            </a:r>
            <a:r>
              <a:rPr lang="en-US" sz="1300" b="0" u="none" strike="noStrike">
                <a:solidFill>
                  <a:srgbClr val="f1f5f9"/>
                </a:solidFill>
                <a:effectLst/>
                <a:uFillTx/>
                <a:latin typeface="Calibri"/>
                <a:ea typeface="Calibri"/>
              </a:rPr>
              <a:t>Benefício mensurável</a:t>
            </a:r>
            <a:endParaRPr lang="pt-BR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lang="pt-BR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200" b="0" u="none" strike="noStrike">
                <a:solidFill>
                  <a:srgbClr val="94a3b8"/>
                </a:solidFill>
                <a:effectLst/>
                <a:uFillTx/>
                <a:latin typeface="Calibri"/>
                <a:ea typeface="Calibri"/>
              </a:rPr>
              <a:t>  "para que eu economize tempo"</a:t>
            </a:r>
            <a:endParaRPr lang="pt-BR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lang="pt-BR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lang="pt-BR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300" b="1" u="none" strike="noStrike">
                <a:solidFill>
                  <a:srgbClr val="f97316"/>
                </a:solidFill>
                <a:effectLst/>
                <a:uFillTx/>
                <a:latin typeface="Calibri"/>
                <a:ea typeface="Calibri"/>
              </a:rPr>
              <a:t>• </a:t>
            </a:r>
            <a:r>
              <a:rPr lang="en-US" sz="1300" b="0" u="none" strike="noStrike">
                <a:solidFill>
                  <a:srgbClr val="f1f5f9"/>
                </a:solidFill>
                <a:effectLst/>
                <a:uFillTx/>
                <a:latin typeface="Calibri"/>
                <a:ea typeface="Calibri"/>
              </a:rPr>
              <a:t>Critério de aceitação</a:t>
            </a:r>
            <a:endParaRPr lang="pt-BR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lang="pt-BR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200" b="0" u="none" strike="noStrike">
                <a:solidFill>
                  <a:srgbClr val="94a3b8"/>
                </a:solidFill>
                <a:effectLst/>
                <a:uFillTx/>
                <a:latin typeface="Calibri"/>
                <a:ea typeface="Calibri"/>
              </a:rPr>
              <a:t>  é o "teste do cliente" — deve ser verificável!</a:t>
            </a:r>
            <a:endParaRPr lang="pt-BR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</TotalTime>
  <Application>LibreOffice/25.8.5.2$Windows_X86_64 LibreOffice_project/9c8b85f387cc00a89945a79c9e6239f32e450ac2</Application>
  <AppVersion>15.0000</AppVersion>
  <Words>0</Words>
  <Paragraphs>0</Paragraphs>
  <Company>PptxGenJS</Company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2026-03-27T05:02:10Z</dcterms:created>
  <dc:creator>Prof. Emanoel</dc:creator>
  <dc:description/>
  <dc:language>pt-BR</dc:language>
  <cp:lastModifiedBy/>
  <dcterms:modified xsi:type="dcterms:W3CDTF">2026-04-09T08:53:16Z</dcterms:modified>
  <cp:revision>2</cp:revision>
  <dc:subject>PptxGenJS Presentation</dc:subject>
  <dc:title>Extreme Programming, Git e Engenharia de Requisitos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i4>30</vt:i4>
  </property>
  <property fmtid="{D5CDD505-2E9C-101B-9397-08002B2CF9AE}" pid="3" name="PresentationFormat">
    <vt:lpwstr>On-screen Show (16:9)</vt:lpwstr>
  </property>
  <property fmtid="{D5CDD505-2E9C-101B-9397-08002B2CF9AE}" pid="4" name="Slides">
    <vt:i4>30</vt:i4>
  </property>
</Properties>
</file>